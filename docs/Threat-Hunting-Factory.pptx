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The platform turns a hunting hypothesis and a bag of logs into an evidence backed report. Every figure on this slide is produced by the repository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the platform, the architecture, the two agents, then a full walkthrough on real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opener. The platform. What it does, and why a hunt starts from a hypothesis rather than from an alert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contrast the product is built around: a hunt is a question you can state, test against evidence and reproduce.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is one loop. The analyst supplies the question and the evidence, the platform supplies the analysis and the write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is produced by the repository: the rule count, the technique count and the test count are all read from the code rather than quoted from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catalogue is not a fixed list any more. Collected hypotheses from public reporting join the built in ones once an analyst accepts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opener. Architecture. A dependency free detection engine, a thin API in front of it and an interface with no build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line is the last one. The deterministic engine never depends on the model layer, so an audit can be reproduced with the AI switched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pass, not one pass per rule. That choice is what makes a large archive analysable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15 of 27 figure is the honest part of this slide. The corpus was written to find gaps and it found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four times faster, and the soundness of the shortcut is itself under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a signature based tool cannot do. Thirteen statistical detections, all implemented in app/engine/stats_math.py with no numerical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Known limits are stated rather than hidden: the login limiter keeps state in process, there is no built in transport security, and uploaded evidence is stored unencrypted on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opener. The agents. Two agents running on open source models served locally, so no evidence ever leaves the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It is the answer to the question every security buyer asks about a model in a report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collector is the only component that touches the internet, and only to fetch public articles. It never sends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strip is the run record: 31 sources read, 116 articles read, 88 worth reading, 19 proposed, 274 model calls. The queue below is what an analyst actually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A lives in the engine package, not the AI package, and a test fails the build if the engine ever imports app.ai. Stage A is always available. Stage B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regular beacon to a hosting provider address on port 8443, found without a signature for it. This is the case that justifies the whole behavioural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layer never blocks the hunt. The deterministic report is complete and viewable first, then the model observations arrive and the report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opener. End to end. One complete hunt on real evidence, captured from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screenshot that follows was captured from the application running against a generated evidence archive. Nothing is a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 in page also states what the platform does and the three figures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hunts had been run against the same evidence archive at this point, producing 66 observations over 20,388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hypothesis is the unit of work. It defines the question, the telemetry and the detections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collection guidance is the difference between a hunt that concludes and a hunt that reports nothing because the right log was never exported.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archive holds Windows Security events, Sysmon XML, Active Directory events, Linux auth, macOS telemetry, web logs, Zeek DNS, firewall flows, CloudTrail, a Microsoft 365 audit export, a Kubernetes audit log and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verdict line is deliberately a sentence rather than a number alone. A score on its own is not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OBS-001: a Security log clear event, 1102, on SRV-APP-02 by the account svc_backup. Critical, because anti forensic activity usually follows hands on keyboard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PDF is rendered by the platform in the same visual language as the interface, and the same hostile payloads render as literal text there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clean summary of the walkthrough, and the argument for the two layers working together: known technique coverage plus population deviation.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claims in security products are usually unverifiable. Here the library is a page in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what is designed but not built keeps the rest of the deck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limitation first, then the four things the product is actually built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58368" y="2121408"/>
            <a:ext cx="9509760" cy="914400"/>
          </a:xfrm>
          <a:prstGeom prst="rect">
            <a:avLst/>
          </a:prstGeom>
          <a:noFill/>
          <a:ln/>
        </p:spPr>
        <p:txBody>
          <a:bodyPr wrap="square" lIns="0" tIns="0" rIns="0" bIns="0" rtlCol="0" anchor="ctr"/>
          <a:lstStyle/>
          <a:p>
            <a:pPr indent="0" marL="0">
              <a:buNone/>
            </a:pPr>
            <a:r>
              <a:rPr lang="en-US" sz="5000" b="1" dirty="0">
                <a:solidFill>
                  <a:srgbClr val="FFFFFF"/>
                </a:solidFill>
                <a:latin typeface="Arial" pitchFamily="34" charset="0"/>
                <a:ea typeface="Arial" pitchFamily="34" charset="-122"/>
                <a:cs typeface="Arial" pitchFamily="34" charset="-120"/>
              </a:rPr>
              <a:t>Threat Hunting Factory</a:t>
            </a:r>
            <a:endParaRPr lang="en-US" sz="5000" dirty="0"/>
          </a:p>
        </p:txBody>
      </p:sp>
      <p:sp>
        <p:nvSpPr>
          <p:cNvPr id="3" name="Shape 1"/>
          <p:cNvSpPr/>
          <p:nvPr/>
        </p:nvSpPr>
        <p:spPr>
          <a:xfrm>
            <a:off x="676656" y="3145536"/>
            <a:ext cx="146304" cy="146304"/>
          </a:xfrm>
          <a:prstGeom prst="rect">
            <a:avLst/>
          </a:prstGeom>
          <a:solidFill>
            <a:srgbClr val="86BC25"/>
          </a:solidFill>
          <a:ln/>
        </p:spPr>
      </p:sp>
      <p:sp>
        <p:nvSpPr>
          <p:cNvPr id="4" name="Text 2"/>
          <p:cNvSpPr txBox="1"/>
          <p:nvPr/>
        </p:nvSpPr>
        <p:spPr>
          <a:xfrm>
            <a:off x="658368" y="3456432"/>
            <a:ext cx="8412480" cy="402336"/>
          </a:xfrm>
          <a:prstGeom prst="rect">
            <a:avLst/>
          </a:prstGeom>
          <a:noFill/>
          <a:ln/>
        </p:spPr>
        <p:txBody>
          <a:bodyPr wrap="square" lIns="0" tIns="0" rIns="0" bIns="0" rtlCol="0" anchor="ctr"/>
          <a:lstStyle/>
          <a:p>
            <a:pPr indent="0" marL="0">
              <a:buNone/>
            </a:pPr>
            <a:r>
              <a:rPr lang="en-US" sz="1900" dirty="0">
                <a:solidFill>
                  <a:srgbClr val="86BC25"/>
                </a:solidFill>
                <a:latin typeface="Arial" pitchFamily="34" charset="0"/>
                <a:ea typeface="Arial" pitchFamily="34" charset="-122"/>
                <a:cs typeface="Arial" pitchFamily="34" charset="-120"/>
              </a:rPr>
              <a:t>Hypothesis driven threat hunting, from the question to the report</a:t>
            </a:r>
            <a:endParaRPr lang="en-US" sz="1900" dirty="0"/>
          </a:p>
        </p:txBody>
      </p:sp>
      <p:sp>
        <p:nvSpPr>
          <p:cNvPr id="5" name="Text 3"/>
          <p:cNvSpPr txBox="1"/>
          <p:nvPr/>
        </p:nvSpPr>
        <p:spPr>
          <a:xfrm>
            <a:off x="658368" y="3986784"/>
            <a:ext cx="8778240" cy="822960"/>
          </a:xfrm>
          <a:prstGeom prst="rect">
            <a:avLst/>
          </a:prstGeom>
          <a:noFill/>
          <a:ln/>
        </p:spPr>
        <p:txBody>
          <a:bodyPr wrap="square" lIns="0" tIns="0" rIns="0" bIns="0" rtlCol="0" anchor="t"/>
          <a:lstStyle/>
          <a:p>
            <a:pPr indent="0" marL="0">
              <a:lnSpc>
                <a:spcPct val="135000"/>
              </a:lnSpc>
              <a:buNone/>
            </a:pPr>
            <a:r>
              <a:rPr lang="en-US" sz="1350" dirty="0">
                <a:solidFill>
                  <a:srgbClr val="B8B8B6"/>
                </a:solidFill>
                <a:latin typeface="Arial" pitchFamily="34" charset="0"/>
                <a:ea typeface="Arial" pitchFamily="34" charset="-122"/>
                <a:cs typeface="Arial" pitchFamily="34" charset="-120"/>
              </a:rPr>
              <a:t>An end to end platform: choose the hypothesis, upload the evidence, and receive a report</a:t>
            </a:r>
            <a:endParaRPr lang="en-US" sz="1350" dirty="0"/>
          </a:p>
          <a:p>
            <a:pPr indent="0" marL="0">
              <a:lnSpc>
                <a:spcPct val="135000"/>
              </a:lnSpc>
              <a:buNone/>
            </a:pPr>
            <a:r>
              <a:rPr lang="en-US" sz="1350" dirty="0">
                <a:solidFill>
                  <a:srgbClr val="B8B8B6"/>
                </a:solidFill>
                <a:latin typeface="Arial" pitchFamily="34" charset="0"/>
                <a:ea typeface="Arial" pitchFamily="34" charset="-122"/>
                <a:cs typeface="Arial" pitchFamily="34" charset="-120"/>
              </a:rPr>
              <a:t>carrying the observations, the original log extracts, the cyber risk, the impact and the remediation.</a:t>
            </a:r>
            <a:endParaRPr lang="en-US" sz="1350" dirty="0"/>
          </a:p>
        </p:txBody>
      </p:sp>
      <p:sp>
        <p:nvSpPr>
          <p:cNvPr id="6" name="Text 4"/>
          <p:cNvSpPr txBox="1"/>
          <p:nvPr/>
        </p:nvSpPr>
        <p:spPr>
          <a:xfrm>
            <a:off x="658368" y="5175504"/>
            <a:ext cx="2194560" cy="457200"/>
          </a:xfrm>
          <a:prstGeom prst="rect">
            <a:avLst/>
          </a:prstGeom>
          <a:noFill/>
          <a:ln/>
        </p:spPr>
        <p:txBody>
          <a:bodyPr wrap="square" lIns="0" tIns="0" rIns="0" bIns="0" rtlCol="0" anchor="ctr"/>
          <a:lstStyle/>
          <a:p>
            <a:pPr indent="0" marL="0">
              <a:buNone/>
            </a:pPr>
            <a:r>
              <a:rPr lang="en-US" sz="2600" b="1" dirty="0">
                <a:solidFill>
                  <a:srgbClr val="86BC25"/>
                </a:solidFill>
                <a:latin typeface="Arial" pitchFamily="34" charset="0"/>
                <a:ea typeface="Arial" pitchFamily="34" charset="-122"/>
                <a:cs typeface="Arial" pitchFamily="34" charset="-120"/>
              </a:rPr>
              <a:t>136</a:t>
            </a:r>
            <a:endParaRPr lang="en-US" sz="2600" dirty="0"/>
          </a:p>
        </p:txBody>
      </p:sp>
      <p:sp>
        <p:nvSpPr>
          <p:cNvPr id="7" name="Text 5"/>
          <p:cNvSpPr txBox="1"/>
          <p:nvPr/>
        </p:nvSpPr>
        <p:spPr>
          <a:xfrm>
            <a:off x="658368" y="5632704"/>
            <a:ext cx="2194560" cy="237744"/>
          </a:xfrm>
          <a:prstGeom prst="rect">
            <a:avLst/>
          </a:prstGeom>
          <a:noFill/>
          <a:ln/>
        </p:spPr>
        <p:txBody>
          <a:bodyPr wrap="square" lIns="0" tIns="0" rIns="0" bIns="0" rtlCol="0" anchor="ctr"/>
          <a:lstStyle/>
          <a:p>
            <a:pPr indent="0" marL="0">
              <a:buNone/>
            </a:pPr>
            <a:r>
              <a:rPr lang="en-US" sz="900" b="1" spc="140" kern="0" dirty="0">
                <a:solidFill>
                  <a:srgbClr val="75787B"/>
                </a:solidFill>
                <a:latin typeface="Arial" pitchFamily="34" charset="0"/>
                <a:ea typeface="Arial" pitchFamily="34" charset="-122"/>
                <a:cs typeface="Arial" pitchFamily="34" charset="-120"/>
              </a:rPr>
              <a:t>DETECTIONS</a:t>
            </a:r>
            <a:endParaRPr lang="en-US" sz="900" dirty="0"/>
          </a:p>
        </p:txBody>
      </p:sp>
      <p:sp>
        <p:nvSpPr>
          <p:cNvPr id="8" name="Text 6"/>
          <p:cNvSpPr txBox="1"/>
          <p:nvPr/>
        </p:nvSpPr>
        <p:spPr>
          <a:xfrm>
            <a:off x="3054096" y="5175504"/>
            <a:ext cx="2194560" cy="457200"/>
          </a:xfrm>
          <a:prstGeom prst="rect">
            <a:avLst/>
          </a:prstGeom>
          <a:noFill/>
          <a:ln/>
        </p:spPr>
        <p:txBody>
          <a:bodyPr wrap="square" lIns="0" tIns="0" rIns="0" bIns="0" rtlCol="0" anchor="ctr"/>
          <a:lstStyle/>
          <a:p>
            <a:pPr indent="0" marL="0">
              <a:buNone/>
            </a:pPr>
            <a:r>
              <a:rPr lang="en-US" sz="2600" b="1" dirty="0">
                <a:solidFill>
                  <a:srgbClr val="86BC25"/>
                </a:solidFill>
                <a:latin typeface="Arial" pitchFamily="34" charset="0"/>
                <a:ea typeface="Arial" pitchFamily="34" charset="-122"/>
                <a:cs typeface="Arial" pitchFamily="34" charset="-120"/>
              </a:rPr>
              <a:t>96</a:t>
            </a:r>
            <a:endParaRPr lang="en-US" sz="2600" dirty="0"/>
          </a:p>
        </p:txBody>
      </p:sp>
      <p:sp>
        <p:nvSpPr>
          <p:cNvPr id="9" name="Text 7"/>
          <p:cNvSpPr txBox="1"/>
          <p:nvPr/>
        </p:nvSpPr>
        <p:spPr>
          <a:xfrm>
            <a:off x="3054096" y="5632704"/>
            <a:ext cx="2194560" cy="237744"/>
          </a:xfrm>
          <a:prstGeom prst="rect">
            <a:avLst/>
          </a:prstGeom>
          <a:noFill/>
          <a:ln/>
        </p:spPr>
        <p:txBody>
          <a:bodyPr wrap="square" lIns="0" tIns="0" rIns="0" bIns="0" rtlCol="0" anchor="ctr"/>
          <a:lstStyle/>
          <a:p>
            <a:pPr indent="0" marL="0">
              <a:buNone/>
            </a:pPr>
            <a:r>
              <a:rPr lang="en-US" sz="900" b="1" spc="140" kern="0" dirty="0">
                <a:solidFill>
                  <a:srgbClr val="75787B"/>
                </a:solidFill>
                <a:latin typeface="Arial" pitchFamily="34" charset="0"/>
                <a:ea typeface="Arial" pitchFamily="34" charset="-122"/>
                <a:cs typeface="Arial" pitchFamily="34" charset="-120"/>
              </a:rPr>
              <a:t>ATT&amp;CK TECHNIQUES</a:t>
            </a:r>
            <a:endParaRPr lang="en-US" sz="900" dirty="0"/>
          </a:p>
        </p:txBody>
      </p:sp>
      <p:sp>
        <p:nvSpPr>
          <p:cNvPr id="10" name="Text 8"/>
          <p:cNvSpPr txBox="1"/>
          <p:nvPr/>
        </p:nvSpPr>
        <p:spPr>
          <a:xfrm>
            <a:off x="5449824" y="5175504"/>
            <a:ext cx="2194560" cy="457200"/>
          </a:xfrm>
          <a:prstGeom prst="rect">
            <a:avLst/>
          </a:prstGeom>
          <a:noFill/>
          <a:ln/>
        </p:spPr>
        <p:txBody>
          <a:bodyPr wrap="square" lIns="0" tIns="0" rIns="0" bIns="0" rtlCol="0" anchor="ctr"/>
          <a:lstStyle/>
          <a:p>
            <a:pPr indent="0" marL="0">
              <a:buNone/>
            </a:pPr>
            <a:r>
              <a:rPr lang="en-US" sz="2600" b="1" dirty="0">
                <a:solidFill>
                  <a:srgbClr val="86BC25"/>
                </a:solidFill>
                <a:latin typeface="Arial" pitchFamily="34" charset="0"/>
                <a:ea typeface="Arial" pitchFamily="34" charset="-122"/>
                <a:cs typeface="Arial" pitchFamily="34" charset="-120"/>
              </a:rPr>
              <a:t>33</a:t>
            </a:r>
            <a:endParaRPr lang="en-US" sz="2600" dirty="0"/>
          </a:p>
        </p:txBody>
      </p:sp>
      <p:sp>
        <p:nvSpPr>
          <p:cNvPr id="11" name="Text 9"/>
          <p:cNvSpPr txBox="1"/>
          <p:nvPr/>
        </p:nvSpPr>
        <p:spPr>
          <a:xfrm>
            <a:off x="5449824" y="5632704"/>
            <a:ext cx="2194560" cy="237744"/>
          </a:xfrm>
          <a:prstGeom prst="rect">
            <a:avLst/>
          </a:prstGeom>
          <a:noFill/>
          <a:ln/>
        </p:spPr>
        <p:txBody>
          <a:bodyPr wrap="square" lIns="0" tIns="0" rIns="0" bIns="0" rtlCol="0" anchor="ctr"/>
          <a:lstStyle/>
          <a:p>
            <a:pPr indent="0" marL="0">
              <a:buNone/>
            </a:pPr>
            <a:r>
              <a:rPr lang="en-US" sz="900" b="1" spc="140" kern="0" dirty="0">
                <a:solidFill>
                  <a:srgbClr val="75787B"/>
                </a:solidFill>
                <a:latin typeface="Arial" pitchFamily="34" charset="0"/>
                <a:ea typeface="Arial" pitchFamily="34" charset="-122"/>
                <a:cs typeface="Arial" pitchFamily="34" charset="-120"/>
              </a:rPr>
              <a:t>HYPOTHESES</a:t>
            </a:r>
            <a:endParaRPr lang="en-US" sz="900" dirty="0"/>
          </a:p>
        </p:txBody>
      </p:sp>
      <p:sp>
        <p:nvSpPr>
          <p:cNvPr id="12" name="Text 10"/>
          <p:cNvSpPr txBox="1"/>
          <p:nvPr/>
        </p:nvSpPr>
        <p:spPr>
          <a:xfrm>
            <a:off x="7845552" y="5175504"/>
            <a:ext cx="2194560" cy="457200"/>
          </a:xfrm>
          <a:prstGeom prst="rect">
            <a:avLst/>
          </a:prstGeom>
          <a:noFill/>
          <a:ln/>
        </p:spPr>
        <p:txBody>
          <a:bodyPr wrap="square" lIns="0" tIns="0" rIns="0" bIns="0" rtlCol="0" anchor="ctr"/>
          <a:lstStyle/>
          <a:p>
            <a:pPr indent="0" marL="0">
              <a:buNone/>
            </a:pPr>
            <a:r>
              <a:rPr lang="en-US" sz="2600" b="1" dirty="0">
                <a:solidFill>
                  <a:srgbClr val="86BC25"/>
                </a:solidFill>
                <a:latin typeface="Arial" pitchFamily="34" charset="0"/>
                <a:ea typeface="Arial" pitchFamily="34" charset="-122"/>
                <a:cs typeface="Arial" pitchFamily="34" charset="-120"/>
              </a:rPr>
              <a:t>1,860</a:t>
            </a:r>
            <a:endParaRPr lang="en-US" sz="2600" dirty="0"/>
          </a:p>
        </p:txBody>
      </p:sp>
      <p:sp>
        <p:nvSpPr>
          <p:cNvPr id="13" name="Text 11"/>
          <p:cNvSpPr txBox="1"/>
          <p:nvPr/>
        </p:nvSpPr>
        <p:spPr>
          <a:xfrm>
            <a:off x="7845552" y="5632704"/>
            <a:ext cx="2194560" cy="237744"/>
          </a:xfrm>
          <a:prstGeom prst="rect">
            <a:avLst/>
          </a:prstGeom>
          <a:noFill/>
          <a:ln/>
        </p:spPr>
        <p:txBody>
          <a:bodyPr wrap="square" lIns="0" tIns="0" rIns="0" bIns="0" rtlCol="0" anchor="ctr"/>
          <a:lstStyle/>
          <a:p>
            <a:pPr indent="0" marL="0">
              <a:buNone/>
            </a:pPr>
            <a:r>
              <a:rPr lang="en-US" sz="900" b="1" spc="140" kern="0" dirty="0">
                <a:solidFill>
                  <a:srgbClr val="75787B"/>
                </a:solidFill>
                <a:latin typeface="Arial" pitchFamily="34" charset="0"/>
                <a:ea typeface="Arial" pitchFamily="34" charset="-122"/>
                <a:cs typeface="Arial" pitchFamily="34" charset="-120"/>
              </a:rPr>
              <a:t>TESTS PASSING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CONTENTS</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What we will cover</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Text 3"/>
          <p:cNvSpPr txBox="1"/>
          <p:nvPr/>
        </p:nvSpPr>
        <p:spPr>
          <a:xfrm>
            <a:off x="658368" y="1938528"/>
            <a:ext cx="822960" cy="457200"/>
          </a:xfrm>
          <a:prstGeom prst="rect">
            <a:avLst/>
          </a:prstGeom>
          <a:noFill/>
          <a:ln/>
        </p:spPr>
        <p:txBody>
          <a:bodyPr wrap="square" lIns="0" tIns="0" rIns="0" bIns="0" rtlCol="0" anchor="ctr"/>
          <a:lstStyle/>
          <a:p>
            <a:pPr indent="0" marL="0">
              <a:buNone/>
            </a:pPr>
            <a:r>
              <a:rPr lang="en-US" sz="2400" b="1" dirty="0">
                <a:solidFill>
                  <a:srgbClr val="86BC25"/>
                </a:solidFill>
                <a:latin typeface="Arial" pitchFamily="34" charset="0"/>
                <a:ea typeface="Arial" pitchFamily="34" charset="-122"/>
                <a:cs typeface="Arial" pitchFamily="34" charset="-120"/>
              </a:rPr>
              <a:t>01</a:t>
            </a:r>
            <a:endParaRPr lang="en-US" sz="2400" dirty="0"/>
          </a:p>
        </p:txBody>
      </p:sp>
      <p:sp>
        <p:nvSpPr>
          <p:cNvPr id="6" name="Text 4"/>
          <p:cNvSpPr txBox="1"/>
          <p:nvPr/>
        </p:nvSpPr>
        <p:spPr>
          <a:xfrm>
            <a:off x="1618488" y="1938528"/>
            <a:ext cx="4023360" cy="457200"/>
          </a:xfrm>
          <a:prstGeom prst="rect">
            <a:avLst/>
          </a:prstGeom>
          <a:noFill/>
          <a:ln/>
        </p:spPr>
        <p:txBody>
          <a:bodyPr wrap="square" lIns="0" tIns="0" rIns="0" bIns="0" rtlCol="0" anchor="ctr"/>
          <a:lstStyle/>
          <a:p>
            <a:pPr indent="0" marL="0">
              <a:buNone/>
            </a:pPr>
            <a:r>
              <a:rPr lang="en-US" sz="1900" b="1" dirty="0">
                <a:solidFill>
                  <a:srgbClr val="0F0F0F"/>
                </a:solidFill>
                <a:latin typeface="Arial" pitchFamily="34" charset="0"/>
                <a:ea typeface="Arial" pitchFamily="34" charset="-122"/>
                <a:cs typeface="Arial" pitchFamily="34" charset="-120"/>
              </a:rPr>
              <a:t>The platform</a:t>
            </a:r>
            <a:endParaRPr lang="en-US" sz="1900" dirty="0"/>
          </a:p>
        </p:txBody>
      </p:sp>
      <p:sp>
        <p:nvSpPr>
          <p:cNvPr id="7" name="Text 5"/>
          <p:cNvSpPr txBox="1"/>
          <p:nvPr/>
        </p:nvSpPr>
        <p:spPr>
          <a:xfrm>
            <a:off x="5779008" y="1938528"/>
            <a:ext cx="5760720" cy="457200"/>
          </a:xfrm>
          <a:prstGeom prst="rect">
            <a:avLst/>
          </a:prstGeom>
          <a:noFill/>
          <a:ln/>
        </p:spPr>
        <p:txBody>
          <a:bodyPr wrap="square" lIns="0" tIns="0" rIns="0" bIns="0" rtlCol="0" anchor="ctr"/>
          <a:lstStyle/>
          <a:p>
            <a:pPr indent="0" marL="0">
              <a:buNone/>
            </a:pPr>
            <a:r>
              <a:rPr lang="en-US" sz="1250" dirty="0">
                <a:solidFill>
                  <a:srgbClr val="53565A"/>
                </a:solidFill>
                <a:latin typeface="Arial" pitchFamily="34" charset="0"/>
                <a:ea typeface="Arial" pitchFamily="34" charset="-122"/>
                <a:cs typeface="Arial" pitchFamily="34" charset="-120"/>
              </a:rPr>
              <a:t>What it does, who it is for and how a hunt is framed</a:t>
            </a:r>
            <a:endParaRPr lang="en-US" sz="1250" dirty="0"/>
          </a:p>
        </p:txBody>
      </p:sp>
      <p:sp>
        <p:nvSpPr>
          <p:cNvPr id="8" name="Shape 6"/>
          <p:cNvSpPr/>
          <p:nvPr/>
        </p:nvSpPr>
        <p:spPr>
          <a:xfrm>
            <a:off x="658368" y="2596896"/>
            <a:ext cx="10874959" cy="0"/>
          </a:xfrm>
          <a:prstGeom prst="line">
            <a:avLst/>
          </a:prstGeom>
          <a:noFill/>
          <a:ln w="9525">
            <a:solidFill>
              <a:srgbClr val="E6E6E4"/>
            </a:solidFill>
            <a:prstDash val="solid"/>
          </a:ln>
        </p:spPr>
      </p:sp>
      <p:sp>
        <p:nvSpPr>
          <p:cNvPr id="9" name="Text 7"/>
          <p:cNvSpPr txBox="1"/>
          <p:nvPr/>
        </p:nvSpPr>
        <p:spPr>
          <a:xfrm>
            <a:off x="658368" y="2962656"/>
            <a:ext cx="822960" cy="457200"/>
          </a:xfrm>
          <a:prstGeom prst="rect">
            <a:avLst/>
          </a:prstGeom>
          <a:noFill/>
          <a:ln/>
        </p:spPr>
        <p:txBody>
          <a:bodyPr wrap="square" lIns="0" tIns="0" rIns="0" bIns="0" rtlCol="0" anchor="ctr"/>
          <a:lstStyle/>
          <a:p>
            <a:pPr indent="0" marL="0">
              <a:buNone/>
            </a:pPr>
            <a:r>
              <a:rPr lang="en-US" sz="2400" b="1" dirty="0">
                <a:solidFill>
                  <a:srgbClr val="86BC25"/>
                </a:solidFill>
                <a:latin typeface="Arial" pitchFamily="34" charset="0"/>
                <a:ea typeface="Arial" pitchFamily="34" charset="-122"/>
                <a:cs typeface="Arial" pitchFamily="34" charset="-120"/>
              </a:rPr>
              <a:t>02</a:t>
            </a:r>
            <a:endParaRPr lang="en-US" sz="2400" dirty="0"/>
          </a:p>
        </p:txBody>
      </p:sp>
      <p:sp>
        <p:nvSpPr>
          <p:cNvPr id="10" name="Text 8"/>
          <p:cNvSpPr txBox="1"/>
          <p:nvPr/>
        </p:nvSpPr>
        <p:spPr>
          <a:xfrm>
            <a:off x="1618488" y="2962656"/>
            <a:ext cx="4023360" cy="457200"/>
          </a:xfrm>
          <a:prstGeom prst="rect">
            <a:avLst/>
          </a:prstGeom>
          <a:noFill/>
          <a:ln/>
        </p:spPr>
        <p:txBody>
          <a:bodyPr wrap="square" lIns="0" tIns="0" rIns="0" bIns="0" rtlCol="0" anchor="ctr"/>
          <a:lstStyle/>
          <a:p>
            <a:pPr indent="0" marL="0">
              <a:buNone/>
            </a:pPr>
            <a:r>
              <a:rPr lang="en-US" sz="1900" b="1" dirty="0">
                <a:solidFill>
                  <a:srgbClr val="0F0F0F"/>
                </a:solidFill>
                <a:latin typeface="Arial" pitchFamily="34" charset="0"/>
                <a:ea typeface="Arial" pitchFamily="34" charset="-122"/>
                <a:cs typeface="Arial" pitchFamily="34" charset="-120"/>
              </a:rPr>
              <a:t>Architecture</a:t>
            </a:r>
            <a:endParaRPr lang="en-US" sz="1900" dirty="0"/>
          </a:p>
        </p:txBody>
      </p:sp>
      <p:sp>
        <p:nvSpPr>
          <p:cNvPr id="11" name="Text 9"/>
          <p:cNvSpPr txBox="1"/>
          <p:nvPr/>
        </p:nvSpPr>
        <p:spPr>
          <a:xfrm>
            <a:off x="5779008" y="2962656"/>
            <a:ext cx="5760720" cy="457200"/>
          </a:xfrm>
          <a:prstGeom prst="rect">
            <a:avLst/>
          </a:prstGeom>
          <a:noFill/>
          <a:ln/>
        </p:spPr>
        <p:txBody>
          <a:bodyPr wrap="square" lIns="0" tIns="0" rIns="0" bIns="0" rtlCol="0" anchor="ctr"/>
          <a:lstStyle/>
          <a:p>
            <a:pPr indent="0" marL="0">
              <a:buNone/>
            </a:pPr>
            <a:r>
              <a:rPr lang="en-US" sz="1250" dirty="0">
                <a:solidFill>
                  <a:srgbClr val="53565A"/>
                </a:solidFill>
                <a:latin typeface="Arial" pitchFamily="34" charset="0"/>
                <a:ea typeface="Arial" pitchFamily="34" charset="-122"/>
                <a:cs typeface="Arial" pitchFamily="34" charset="-120"/>
              </a:rPr>
              <a:t>The detection engine, the parsers, the mathematics and the security posture</a:t>
            </a:r>
            <a:endParaRPr lang="en-US" sz="1250" dirty="0"/>
          </a:p>
        </p:txBody>
      </p:sp>
      <p:sp>
        <p:nvSpPr>
          <p:cNvPr id="12" name="Shape 10"/>
          <p:cNvSpPr/>
          <p:nvPr/>
        </p:nvSpPr>
        <p:spPr>
          <a:xfrm>
            <a:off x="658368" y="3621024"/>
            <a:ext cx="10874959" cy="0"/>
          </a:xfrm>
          <a:prstGeom prst="line">
            <a:avLst/>
          </a:prstGeom>
          <a:noFill/>
          <a:ln w="9525">
            <a:solidFill>
              <a:srgbClr val="E6E6E4"/>
            </a:solidFill>
            <a:prstDash val="solid"/>
          </a:ln>
        </p:spPr>
      </p:sp>
      <p:sp>
        <p:nvSpPr>
          <p:cNvPr id="13" name="Text 11"/>
          <p:cNvSpPr txBox="1"/>
          <p:nvPr/>
        </p:nvSpPr>
        <p:spPr>
          <a:xfrm>
            <a:off x="658368" y="3986784"/>
            <a:ext cx="822960" cy="457200"/>
          </a:xfrm>
          <a:prstGeom prst="rect">
            <a:avLst/>
          </a:prstGeom>
          <a:noFill/>
          <a:ln/>
        </p:spPr>
        <p:txBody>
          <a:bodyPr wrap="square" lIns="0" tIns="0" rIns="0" bIns="0" rtlCol="0" anchor="ctr"/>
          <a:lstStyle/>
          <a:p>
            <a:pPr indent="0" marL="0">
              <a:buNone/>
            </a:pPr>
            <a:r>
              <a:rPr lang="en-US" sz="2400" b="1" dirty="0">
                <a:solidFill>
                  <a:srgbClr val="86BC25"/>
                </a:solidFill>
                <a:latin typeface="Arial" pitchFamily="34" charset="0"/>
                <a:ea typeface="Arial" pitchFamily="34" charset="-122"/>
                <a:cs typeface="Arial" pitchFamily="34" charset="-120"/>
              </a:rPr>
              <a:t>03</a:t>
            </a:r>
            <a:endParaRPr lang="en-US" sz="2400" dirty="0"/>
          </a:p>
        </p:txBody>
      </p:sp>
      <p:sp>
        <p:nvSpPr>
          <p:cNvPr id="14" name="Text 12"/>
          <p:cNvSpPr txBox="1"/>
          <p:nvPr/>
        </p:nvSpPr>
        <p:spPr>
          <a:xfrm>
            <a:off x="1618488" y="3986784"/>
            <a:ext cx="4023360" cy="457200"/>
          </a:xfrm>
          <a:prstGeom prst="rect">
            <a:avLst/>
          </a:prstGeom>
          <a:noFill/>
          <a:ln/>
        </p:spPr>
        <p:txBody>
          <a:bodyPr wrap="square" lIns="0" tIns="0" rIns="0" bIns="0" rtlCol="0" anchor="ctr"/>
          <a:lstStyle/>
          <a:p>
            <a:pPr indent="0" marL="0">
              <a:buNone/>
            </a:pPr>
            <a:r>
              <a:rPr lang="en-US" sz="1900" b="1" dirty="0">
                <a:solidFill>
                  <a:srgbClr val="0F0F0F"/>
                </a:solidFill>
                <a:latin typeface="Arial" pitchFamily="34" charset="0"/>
                <a:ea typeface="Arial" pitchFamily="34" charset="-122"/>
                <a:cs typeface="Arial" pitchFamily="34" charset="-120"/>
              </a:rPr>
              <a:t>The agents</a:t>
            </a:r>
            <a:endParaRPr lang="en-US" sz="1900" dirty="0"/>
          </a:p>
        </p:txBody>
      </p:sp>
      <p:sp>
        <p:nvSpPr>
          <p:cNvPr id="15" name="Text 13"/>
          <p:cNvSpPr txBox="1"/>
          <p:nvPr/>
        </p:nvSpPr>
        <p:spPr>
          <a:xfrm>
            <a:off x="5779008" y="3986784"/>
            <a:ext cx="5760720" cy="457200"/>
          </a:xfrm>
          <a:prstGeom prst="rect">
            <a:avLst/>
          </a:prstGeom>
          <a:noFill/>
          <a:ln/>
        </p:spPr>
        <p:txBody>
          <a:bodyPr wrap="square" lIns="0" tIns="0" rIns="0" bIns="0" rtlCol="0" anchor="ctr"/>
          <a:lstStyle/>
          <a:p>
            <a:pPr indent="0" marL="0">
              <a:buNone/>
            </a:pPr>
            <a:r>
              <a:rPr lang="en-US" sz="1250" dirty="0">
                <a:solidFill>
                  <a:srgbClr val="53565A"/>
                </a:solidFill>
                <a:latin typeface="Arial" pitchFamily="34" charset="0"/>
                <a:ea typeface="Arial" pitchFamily="34" charset="-122"/>
                <a:cs typeface="Arial" pitchFamily="34" charset="-120"/>
              </a:rPr>
              <a:t>The hypothesis collector and the behavioural analyst, both running locally</a:t>
            </a:r>
            <a:endParaRPr lang="en-US" sz="1250" dirty="0"/>
          </a:p>
        </p:txBody>
      </p:sp>
      <p:sp>
        <p:nvSpPr>
          <p:cNvPr id="16" name="Shape 14"/>
          <p:cNvSpPr/>
          <p:nvPr/>
        </p:nvSpPr>
        <p:spPr>
          <a:xfrm>
            <a:off x="658368" y="4645152"/>
            <a:ext cx="10874959" cy="0"/>
          </a:xfrm>
          <a:prstGeom prst="line">
            <a:avLst/>
          </a:prstGeom>
          <a:noFill/>
          <a:ln w="9525">
            <a:solidFill>
              <a:srgbClr val="E6E6E4"/>
            </a:solidFill>
            <a:prstDash val="solid"/>
          </a:ln>
        </p:spPr>
      </p:sp>
      <p:sp>
        <p:nvSpPr>
          <p:cNvPr id="17" name="Text 15"/>
          <p:cNvSpPr txBox="1"/>
          <p:nvPr/>
        </p:nvSpPr>
        <p:spPr>
          <a:xfrm>
            <a:off x="658368" y="5010912"/>
            <a:ext cx="822960" cy="457200"/>
          </a:xfrm>
          <a:prstGeom prst="rect">
            <a:avLst/>
          </a:prstGeom>
          <a:noFill/>
          <a:ln/>
        </p:spPr>
        <p:txBody>
          <a:bodyPr wrap="square" lIns="0" tIns="0" rIns="0" bIns="0" rtlCol="0" anchor="ctr"/>
          <a:lstStyle/>
          <a:p>
            <a:pPr indent="0" marL="0">
              <a:buNone/>
            </a:pPr>
            <a:r>
              <a:rPr lang="en-US" sz="2400" b="1" dirty="0">
                <a:solidFill>
                  <a:srgbClr val="86BC25"/>
                </a:solidFill>
                <a:latin typeface="Arial" pitchFamily="34" charset="0"/>
                <a:ea typeface="Arial" pitchFamily="34" charset="-122"/>
                <a:cs typeface="Arial" pitchFamily="34" charset="-120"/>
              </a:rPr>
              <a:t>04</a:t>
            </a:r>
            <a:endParaRPr lang="en-US" sz="2400" dirty="0"/>
          </a:p>
        </p:txBody>
      </p:sp>
      <p:sp>
        <p:nvSpPr>
          <p:cNvPr id="18" name="Text 16"/>
          <p:cNvSpPr txBox="1"/>
          <p:nvPr/>
        </p:nvSpPr>
        <p:spPr>
          <a:xfrm>
            <a:off x="1618488" y="5010912"/>
            <a:ext cx="4023360" cy="457200"/>
          </a:xfrm>
          <a:prstGeom prst="rect">
            <a:avLst/>
          </a:prstGeom>
          <a:noFill/>
          <a:ln/>
        </p:spPr>
        <p:txBody>
          <a:bodyPr wrap="square" lIns="0" tIns="0" rIns="0" bIns="0" rtlCol="0" anchor="ctr"/>
          <a:lstStyle/>
          <a:p>
            <a:pPr indent="0" marL="0">
              <a:buNone/>
            </a:pPr>
            <a:r>
              <a:rPr lang="en-US" sz="1900" b="1" dirty="0">
                <a:solidFill>
                  <a:srgbClr val="0F0F0F"/>
                </a:solidFill>
                <a:latin typeface="Arial" pitchFamily="34" charset="0"/>
                <a:ea typeface="Arial" pitchFamily="34" charset="-122"/>
                <a:cs typeface="Arial" pitchFamily="34" charset="-120"/>
              </a:rPr>
              <a:t>End to end</a:t>
            </a:r>
            <a:endParaRPr lang="en-US" sz="1900" dirty="0"/>
          </a:p>
        </p:txBody>
      </p:sp>
      <p:sp>
        <p:nvSpPr>
          <p:cNvPr id="19" name="Text 17"/>
          <p:cNvSpPr txBox="1"/>
          <p:nvPr/>
        </p:nvSpPr>
        <p:spPr>
          <a:xfrm>
            <a:off x="5779008" y="5010912"/>
            <a:ext cx="5760720" cy="457200"/>
          </a:xfrm>
          <a:prstGeom prst="rect">
            <a:avLst/>
          </a:prstGeom>
          <a:noFill/>
          <a:ln/>
        </p:spPr>
        <p:txBody>
          <a:bodyPr wrap="square" lIns="0" tIns="0" rIns="0" bIns="0" rtlCol="0" anchor="ctr"/>
          <a:lstStyle/>
          <a:p>
            <a:pPr indent="0" marL="0">
              <a:buNone/>
            </a:pPr>
            <a:r>
              <a:rPr lang="en-US" sz="1250" dirty="0">
                <a:solidFill>
                  <a:srgbClr val="53565A"/>
                </a:solidFill>
                <a:latin typeface="Arial" pitchFamily="34" charset="0"/>
                <a:ea typeface="Arial" pitchFamily="34" charset="-122"/>
                <a:cs typeface="Arial" pitchFamily="34" charset="-120"/>
              </a:rPr>
              <a:t>A complete hunt, from sign in to the exported report, with the real interface</a:t>
            </a:r>
            <a:endParaRPr lang="en-US" sz="1250" dirty="0"/>
          </a:p>
        </p:txBody>
      </p:sp>
      <p:sp>
        <p:nvSpPr>
          <p:cNvPr id="20" name="Shape 18"/>
          <p:cNvSpPr/>
          <p:nvPr/>
        </p:nvSpPr>
        <p:spPr>
          <a:xfrm>
            <a:off x="658368" y="5669280"/>
            <a:ext cx="10874959" cy="0"/>
          </a:xfrm>
          <a:prstGeom prst="line">
            <a:avLst/>
          </a:prstGeom>
          <a:noFill/>
          <a:ln w="9525">
            <a:solidFill>
              <a:srgbClr val="E6E6E4"/>
            </a:solidFill>
            <a:prstDash val="solid"/>
          </a:ln>
        </p:spPr>
      </p:sp>
      <p:sp>
        <p:nvSpPr>
          <p:cNvPr id="21" name="Text 19"/>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22" name="Text 20"/>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58368" y="1920240"/>
            <a:ext cx="1828800" cy="822960"/>
          </a:xfrm>
          <a:prstGeom prst="rect">
            <a:avLst/>
          </a:prstGeom>
          <a:noFill/>
          <a:ln/>
        </p:spPr>
        <p:txBody>
          <a:bodyPr wrap="square" lIns="0" tIns="0" rIns="0" bIns="0" rtlCol="0" anchor="ctr"/>
          <a:lstStyle/>
          <a:p>
            <a:pPr indent="0" marL="0">
              <a:buNone/>
            </a:pPr>
            <a:r>
              <a:rPr lang="en-US" sz="6400" b="1" dirty="0">
                <a:solidFill>
                  <a:srgbClr val="86BC25"/>
                </a:solidFill>
                <a:latin typeface="Arial" pitchFamily="34" charset="0"/>
                <a:ea typeface="Arial" pitchFamily="34" charset="-122"/>
                <a:cs typeface="Arial" pitchFamily="34" charset="-120"/>
              </a:rPr>
              <a:t>01</a:t>
            </a:r>
            <a:endParaRPr lang="en-US" sz="6400" dirty="0"/>
          </a:p>
        </p:txBody>
      </p:sp>
      <p:sp>
        <p:nvSpPr>
          <p:cNvPr id="3" name="Text 1"/>
          <p:cNvSpPr txBox="1"/>
          <p:nvPr/>
        </p:nvSpPr>
        <p:spPr>
          <a:xfrm>
            <a:off x="658368" y="2788920"/>
            <a:ext cx="5486400" cy="237744"/>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PART ONE</a:t>
            </a:r>
            <a:endParaRPr lang="en-US" sz="1050" dirty="0"/>
          </a:p>
        </p:txBody>
      </p:sp>
      <p:sp>
        <p:nvSpPr>
          <p:cNvPr id="4" name="Text 2"/>
          <p:cNvSpPr txBox="1"/>
          <p:nvPr/>
        </p:nvSpPr>
        <p:spPr>
          <a:xfrm>
            <a:off x="658368" y="3127248"/>
            <a:ext cx="7498080" cy="8229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The platform</a:t>
            </a:r>
            <a:endParaRPr lang="en-US" sz="4000" dirty="0"/>
          </a:p>
        </p:txBody>
      </p:sp>
      <p:sp>
        <p:nvSpPr>
          <p:cNvPr id="5" name="Text 3"/>
          <p:cNvSpPr txBox="1"/>
          <p:nvPr/>
        </p:nvSpPr>
        <p:spPr>
          <a:xfrm>
            <a:off x="658368" y="4059936"/>
            <a:ext cx="6766560" cy="731520"/>
          </a:xfrm>
          <a:prstGeom prst="rect">
            <a:avLst/>
          </a:prstGeom>
          <a:noFill/>
          <a:ln/>
        </p:spPr>
        <p:txBody>
          <a:bodyPr wrap="square" lIns="0" tIns="0" rIns="0" bIns="0" rtlCol="0" anchor="t"/>
          <a:lstStyle/>
          <a:p>
            <a:pPr indent="0" marL="0">
              <a:lnSpc>
                <a:spcPct val="130000"/>
              </a:lnSpc>
              <a:buNone/>
            </a:pPr>
            <a:r>
              <a:rPr lang="en-US" sz="1400" dirty="0">
                <a:solidFill>
                  <a:srgbClr val="B8B8B6"/>
                </a:solidFill>
                <a:latin typeface="Arial" pitchFamily="34" charset="0"/>
                <a:ea typeface="Arial" pitchFamily="34" charset="-122"/>
                <a:cs typeface="Arial" pitchFamily="34" charset="-120"/>
              </a:rPr>
              <a:t>What it does, and why a hunt starts from a hypothesis rather than from an alert queue.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THE APPROACH</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Hunting starts with a question, not an alert</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58368" y="1975104"/>
            <a:ext cx="5230368" cy="2907792"/>
          </a:xfrm>
          <a:prstGeom prst="rect">
            <a:avLst/>
          </a:prstGeom>
          <a:solidFill>
            <a:srgbClr val="F4F4F2"/>
          </a:solidFill>
          <a:ln w="9525">
            <a:solidFill>
              <a:srgbClr val="D0D0CE"/>
            </a:solidFill>
            <a:prstDash val="solid"/>
          </a:ln>
        </p:spPr>
      </p:sp>
      <p:sp>
        <p:nvSpPr>
          <p:cNvPr id="6" name="Text 4"/>
          <p:cNvSpPr txBox="1"/>
          <p:nvPr/>
        </p:nvSpPr>
        <p:spPr>
          <a:xfrm>
            <a:off x="1042416" y="2286000"/>
            <a:ext cx="4480560" cy="365760"/>
          </a:xfrm>
          <a:prstGeom prst="rect">
            <a:avLst/>
          </a:prstGeom>
          <a:noFill/>
          <a:ln/>
        </p:spPr>
        <p:txBody>
          <a:bodyPr wrap="square" lIns="0" tIns="0" rIns="0" bIns="0" rtlCol="0" anchor="ctr"/>
          <a:lstStyle/>
          <a:p>
            <a:pPr indent="0" marL="0">
              <a:buNone/>
            </a:pPr>
            <a:r>
              <a:rPr lang="en-US" sz="1700" b="1" dirty="0">
                <a:solidFill>
                  <a:srgbClr val="0F0F0F"/>
                </a:solidFill>
                <a:latin typeface="Arial" pitchFamily="34" charset="0"/>
                <a:ea typeface="Arial" pitchFamily="34" charset="-122"/>
                <a:cs typeface="Arial" pitchFamily="34" charset="-120"/>
              </a:rPr>
              <a:t>The problem</a:t>
            </a:r>
            <a:endParaRPr lang="en-US" sz="1700" dirty="0"/>
          </a:p>
        </p:txBody>
      </p:sp>
      <p:sp>
        <p:nvSpPr>
          <p:cNvPr id="7" name="Text 5"/>
          <p:cNvSpPr txBox="1"/>
          <p:nvPr/>
        </p:nvSpPr>
        <p:spPr>
          <a:xfrm>
            <a:off x="1042416" y="2761488"/>
            <a:ext cx="4480560" cy="237744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250" dirty="0">
                <a:solidFill>
                  <a:srgbClr val="53565A"/>
                </a:solidFill>
                <a:latin typeface="Arial" pitchFamily="34" charset="0"/>
                <a:ea typeface="Arial" pitchFamily="34" charset="-122"/>
                <a:cs typeface="Arial" pitchFamily="34" charset="-120"/>
              </a:rPr>
              <a:t>Alert queues only show what a tool already knows how to name.</a:t>
            </a:r>
            <a:endParaRPr lang="en-US" sz="1250" dirty="0"/>
          </a:p>
          <a:p>
            <a:pPr marL="342900" indent="-342900">
              <a:lnSpc>
                <a:spcPct val="125000"/>
              </a:lnSpc>
              <a:spcAft>
                <a:spcPts val="1000"/>
              </a:spcAft>
              <a:buSzPct val="100000"/>
              <a:buChar char="•"/>
            </a:pPr>
            <a:r>
              <a:rPr lang="en-US" sz="1250" dirty="0">
                <a:solidFill>
                  <a:srgbClr val="53565A"/>
                </a:solidFill>
                <a:latin typeface="Arial" pitchFamily="34" charset="0"/>
                <a:ea typeface="Arial" pitchFamily="34" charset="-122"/>
                <a:cs typeface="Arial" pitchFamily="34" charset="-120"/>
              </a:rPr>
              <a:t>Hunting is done by hand, so the quality depends on who is on shift.</a:t>
            </a:r>
            <a:endParaRPr lang="en-US" sz="1250" dirty="0"/>
          </a:p>
          <a:p>
            <a:pPr marL="342900" indent="-342900">
              <a:lnSpc>
                <a:spcPct val="125000"/>
              </a:lnSpc>
              <a:spcAft>
                <a:spcPts val="1000"/>
              </a:spcAft>
              <a:buSzPct val="100000"/>
              <a:buChar char="•"/>
            </a:pPr>
            <a:r>
              <a:rPr lang="en-US" sz="1250" dirty="0">
                <a:solidFill>
                  <a:srgbClr val="53565A"/>
                </a:solidFill>
                <a:latin typeface="Arial" pitchFamily="34" charset="0"/>
                <a:ea typeface="Arial" pitchFamily="34" charset="-122"/>
                <a:cs typeface="Arial" pitchFamily="34" charset="-120"/>
              </a:rPr>
              <a:t>Evidence arrives in a different format from every vendor.</a:t>
            </a:r>
            <a:endParaRPr lang="en-US" sz="1250" dirty="0"/>
          </a:p>
          <a:p>
            <a:pPr marL="342900" indent="-342900">
              <a:lnSpc>
                <a:spcPct val="125000"/>
              </a:lnSpc>
              <a:spcAft>
                <a:spcPts val="1000"/>
              </a:spcAft>
              <a:buSzPct val="100000"/>
              <a:buChar char="•"/>
            </a:pPr>
            <a:r>
              <a:rPr lang="en-US" sz="1250" dirty="0">
                <a:solidFill>
                  <a:srgbClr val="53565A"/>
                </a:solidFill>
                <a:latin typeface="Arial" pitchFamily="34" charset="0"/>
                <a:ea typeface="Arial" pitchFamily="34" charset="-122"/>
                <a:cs typeface="Arial" pitchFamily="34" charset="-120"/>
              </a:rPr>
              <a:t>The write up takes longer than the analysis and is rarely reproducible.</a:t>
            </a:r>
            <a:endParaRPr lang="en-US" sz="1250" dirty="0"/>
          </a:p>
        </p:txBody>
      </p:sp>
      <p:sp>
        <p:nvSpPr>
          <p:cNvPr id="8" name="Shape 6"/>
          <p:cNvSpPr/>
          <p:nvPr/>
        </p:nvSpPr>
        <p:spPr>
          <a:xfrm>
            <a:off x="6199632" y="1975104"/>
            <a:ext cx="5230368" cy="2907792"/>
          </a:xfrm>
          <a:prstGeom prst="rect">
            <a:avLst/>
          </a:prstGeom>
          <a:solidFill>
            <a:srgbClr val="FFFFFF"/>
          </a:solidFill>
          <a:ln w="9525">
            <a:solidFill>
              <a:srgbClr val="D0D0CE"/>
            </a:solidFill>
            <a:prstDash val="solid"/>
          </a:ln>
        </p:spPr>
      </p:sp>
      <p:sp>
        <p:nvSpPr>
          <p:cNvPr id="9" name="Text 7"/>
          <p:cNvSpPr txBox="1"/>
          <p:nvPr/>
        </p:nvSpPr>
        <p:spPr>
          <a:xfrm>
            <a:off x="6583680" y="2286000"/>
            <a:ext cx="4480560" cy="365760"/>
          </a:xfrm>
          <a:prstGeom prst="rect">
            <a:avLst/>
          </a:prstGeom>
          <a:noFill/>
          <a:ln/>
        </p:spPr>
        <p:txBody>
          <a:bodyPr wrap="square" lIns="0" tIns="0" rIns="0" bIns="0" rtlCol="0" anchor="ctr"/>
          <a:lstStyle/>
          <a:p>
            <a:pPr indent="0" marL="0">
              <a:buNone/>
            </a:pPr>
            <a:r>
              <a:rPr lang="en-US" sz="1700" b="1" dirty="0">
                <a:solidFill>
                  <a:srgbClr val="0F0F0F"/>
                </a:solidFill>
                <a:latin typeface="Arial" pitchFamily="34" charset="0"/>
                <a:ea typeface="Arial" pitchFamily="34" charset="-122"/>
                <a:cs typeface="Arial" pitchFamily="34" charset="-120"/>
              </a:rPr>
              <a:t>What the platform does about it</a:t>
            </a:r>
            <a:endParaRPr lang="en-US" sz="1700" dirty="0"/>
          </a:p>
        </p:txBody>
      </p:sp>
      <p:sp>
        <p:nvSpPr>
          <p:cNvPr id="10" name="Text 8"/>
          <p:cNvSpPr txBox="1"/>
          <p:nvPr/>
        </p:nvSpPr>
        <p:spPr>
          <a:xfrm>
            <a:off x="6583680" y="2761488"/>
            <a:ext cx="4480560" cy="237744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250" dirty="0">
                <a:solidFill>
                  <a:srgbClr val="53565A"/>
                </a:solidFill>
                <a:latin typeface="Arial" pitchFamily="34" charset="0"/>
                <a:ea typeface="Arial" pitchFamily="34" charset="-122"/>
                <a:cs typeface="Arial" pitchFamily="34" charset="-120"/>
              </a:rPr>
              <a:t>A hypothesis states the question and declares the telemetry it needs.</a:t>
            </a:r>
            <a:endParaRPr lang="en-US" sz="1250" dirty="0"/>
          </a:p>
          <a:p>
            <a:pPr marL="342900" indent="-342900">
              <a:lnSpc>
                <a:spcPct val="125000"/>
              </a:lnSpc>
              <a:spcAft>
                <a:spcPts val="1000"/>
              </a:spcAft>
              <a:buSzPct val="100000"/>
              <a:buChar char="•"/>
            </a:pPr>
            <a:r>
              <a:rPr lang="en-US" sz="1250" dirty="0">
                <a:solidFill>
                  <a:srgbClr val="53565A"/>
                </a:solidFill>
                <a:latin typeface="Arial" pitchFamily="34" charset="0"/>
                <a:ea typeface="Arial" pitchFamily="34" charset="-122"/>
                <a:cs typeface="Arial" pitchFamily="34" charset="-120"/>
              </a:rPr>
              <a:t>The engine reads every common log format and normalises it into one schema.</a:t>
            </a:r>
            <a:endParaRPr lang="en-US" sz="1250" dirty="0"/>
          </a:p>
          <a:p>
            <a:pPr marL="342900" indent="-342900">
              <a:lnSpc>
                <a:spcPct val="125000"/>
              </a:lnSpc>
              <a:spcAft>
                <a:spcPts val="1000"/>
              </a:spcAft>
              <a:buSzPct val="100000"/>
              <a:buChar char="•"/>
            </a:pPr>
            <a:r>
              <a:rPr lang="en-US" sz="1250" dirty="0">
                <a:solidFill>
                  <a:srgbClr val="53565A"/>
                </a:solidFill>
                <a:latin typeface="Arial" pitchFamily="34" charset="0"/>
                <a:ea typeface="Arial" pitchFamily="34" charset="-122"/>
                <a:cs typeface="Arial" pitchFamily="34" charset="-120"/>
              </a:rPr>
              <a:t>136 detections and 13 statistical models run in a single pass over the evidence.</a:t>
            </a:r>
            <a:endParaRPr lang="en-US" sz="1250" dirty="0"/>
          </a:p>
          <a:p>
            <a:pPr marL="342900" indent="-342900">
              <a:lnSpc>
                <a:spcPct val="125000"/>
              </a:lnSpc>
              <a:spcAft>
                <a:spcPts val="1000"/>
              </a:spcAft>
              <a:buSzPct val="100000"/>
              <a:buChar char="•"/>
            </a:pPr>
            <a:r>
              <a:rPr lang="en-US" sz="1250" dirty="0">
                <a:solidFill>
                  <a:srgbClr val="53565A"/>
                </a:solidFill>
                <a:latin typeface="Arial" pitchFamily="34" charset="0"/>
                <a:ea typeface="Arial" pitchFamily="34" charset="-122"/>
                <a:cs typeface="Arial" pitchFamily="34" charset="-120"/>
              </a:rPr>
              <a:t>Each observation carries its own log line, risk, impact and recommendation.</a:t>
            </a:r>
            <a:endParaRPr lang="en-US" sz="1250" dirty="0"/>
          </a:p>
        </p:txBody>
      </p:sp>
      <p:sp>
        <p:nvSpPr>
          <p:cNvPr id="11" name="Text 9"/>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2" name="Text 10"/>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THE WORKFLOW</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Six steps from hypothesis to report</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58368" y="2048256"/>
            <a:ext cx="384048" cy="384048"/>
          </a:xfrm>
          <a:prstGeom prst="rect">
            <a:avLst/>
          </a:prstGeom>
          <a:solidFill>
            <a:srgbClr val="000000"/>
          </a:solidFill>
          <a:ln/>
        </p:spPr>
      </p:sp>
      <p:sp>
        <p:nvSpPr>
          <p:cNvPr id="6" name="Text 4"/>
          <p:cNvSpPr txBox="1"/>
          <p:nvPr/>
        </p:nvSpPr>
        <p:spPr>
          <a:xfrm>
            <a:off x="658368" y="2048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207008" y="2048256"/>
            <a:ext cx="2907792" cy="384048"/>
          </a:xfrm>
          <a:prstGeom prst="rect">
            <a:avLst/>
          </a:prstGeom>
          <a:noFill/>
          <a:ln/>
        </p:spPr>
        <p:txBody>
          <a:bodyPr wrap="square" lIns="0" tIns="0" rIns="0" bIns="0" rtlCol="0" anchor="ctr"/>
          <a:lstStyle/>
          <a:p>
            <a:pPr indent="0" marL="0">
              <a:buNone/>
            </a:pPr>
            <a:r>
              <a:rPr lang="en-US" sz="1450" b="1" dirty="0">
                <a:solidFill>
                  <a:srgbClr val="0F0F0F"/>
                </a:solidFill>
                <a:latin typeface="Arial" pitchFamily="34" charset="0"/>
                <a:ea typeface="Arial" pitchFamily="34" charset="-122"/>
                <a:cs typeface="Arial" pitchFamily="34" charset="-120"/>
              </a:rPr>
              <a:t>Choose a hypothesis</a:t>
            </a:r>
            <a:endParaRPr lang="en-US" sz="1450" dirty="0"/>
          </a:p>
        </p:txBody>
      </p:sp>
      <p:sp>
        <p:nvSpPr>
          <p:cNvPr id="8" name="Text 6"/>
          <p:cNvSpPr txBox="1"/>
          <p:nvPr/>
        </p:nvSpPr>
        <p:spPr>
          <a:xfrm>
            <a:off x="1207008" y="2468880"/>
            <a:ext cx="2907792" cy="822960"/>
          </a:xfrm>
          <a:prstGeom prst="rect">
            <a:avLst/>
          </a:prstGeom>
          <a:noFill/>
          <a:ln/>
        </p:spPr>
        <p:txBody>
          <a:bodyPr wrap="square" lIns="0" tIns="0" rIns="0" bIns="0" rtlCol="0" anchor="t"/>
          <a:lstStyle/>
          <a:p>
            <a:pPr indent="0" marL="0">
              <a:lnSpc>
                <a:spcPct val="120000"/>
              </a:lnSpc>
              <a:buNone/>
            </a:pPr>
            <a:r>
              <a:rPr lang="en-US" sz="1150" dirty="0">
                <a:solidFill>
                  <a:srgbClr val="53565A"/>
                </a:solidFill>
                <a:latin typeface="Arial" pitchFamily="34" charset="0"/>
                <a:ea typeface="Arial" pitchFamily="34" charset="-122"/>
                <a:cs typeface="Arial" pitchFamily="34" charset="-120"/>
              </a:rPr>
              <a:t>33 hypotheses across threat intelligence scenarios, techniques and mathematical models.</a:t>
            </a:r>
            <a:endParaRPr lang="en-US" sz="1150" dirty="0"/>
          </a:p>
        </p:txBody>
      </p:sp>
      <p:sp>
        <p:nvSpPr>
          <p:cNvPr id="9" name="Shape 7"/>
          <p:cNvSpPr/>
          <p:nvPr/>
        </p:nvSpPr>
        <p:spPr>
          <a:xfrm>
            <a:off x="4352544" y="2048256"/>
            <a:ext cx="384048" cy="384048"/>
          </a:xfrm>
          <a:prstGeom prst="rect">
            <a:avLst/>
          </a:prstGeom>
          <a:solidFill>
            <a:srgbClr val="000000"/>
          </a:solidFill>
          <a:ln/>
        </p:spPr>
      </p:sp>
      <p:sp>
        <p:nvSpPr>
          <p:cNvPr id="10" name="Text 8"/>
          <p:cNvSpPr txBox="1"/>
          <p:nvPr/>
        </p:nvSpPr>
        <p:spPr>
          <a:xfrm>
            <a:off x="4352544" y="2048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01184" y="2048256"/>
            <a:ext cx="2907792" cy="384048"/>
          </a:xfrm>
          <a:prstGeom prst="rect">
            <a:avLst/>
          </a:prstGeom>
          <a:noFill/>
          <a:ln/>
        </p:spPr>
        <p:txBody>
          <a:bodyPr wrap="square" lIns="0" tIns="0" rIns="0" bIns="0" rtlCol="0" anchor="ctr"/>
          <a:lstStyle/>
          <a:p>
            <a:pPr indent="0" marL="0">
              <a:buNone/>
            </a:pPr>
            <a:r>
              <a:rPr lang="en-US" sz="1450" b="1" dirty="0">
                <a:solidFill>
                  <a:srgbClr val="0F0F0F"/>
                </a:solidFill>
                <a:latin typeface="Arial" pitchFamily="34" charset="0"/>
                <a:ea typeface="Arial" pitchFamily="34" charset="-122"/>
                <a:cs typeface="Arial" pitchFamily="34" charset="-120"/>
              </a:rPr>
              <a:t>Collect the right evidence</a:t>
            </a:r>
            <a:endParaRPr lang="en-US" sz="1450" dirty="0"/>
          </a:p>
        </p:txBody>
      </p:sp>
      <p:sp>
        <p:nvSpPr>
          <p:cNvPr id="12" name="Text 10"/>
          <p:cNvSpPr txBox="1"/>
          <p:nvPr/>
        </p:nvSpPr>
        <p:spPr>
          <a:xfrm>
            <a:off x="4901184" y="2468880"/>
            <a:ext cx="2907792" cy="822960"/>
          </a:xfrm>
          <a:prstGeom prst="rect">
            <a:avLst/>
          </a:prstGeom>
          <a:noFill/>
          <a:ln/>
        </p:spPr>
        <p:txBody>
          <a:bodyPr wrap="square" lIns="0" tIns="0" rIns="0" bIns="0" rtlCol="0" anchor="t"/>
          <a:lstStyle/>
          <a:p>
            <a:pPr indent="0" marL="0">
              <a:lnSpc>
                <a:spcPct val="120000"/>
              </a:lnSpc>
              <a:buNone/>
            </a:pPr>
            <a:r>
              <a:rPr lang="en-US" sz="1150" dirty="0">
                <a:solidFill>
                  <a:srgbClr val="53565A"/>
                </a:solidFill>
                <a:latin typeface="Arial" pitchFamily="34" charset="0"/>
                <a:ea typeface="Arial" pitchFamily="34" charset="-122"/>
                <a:cs typeface="Arial" pitchFamily="34" charset="-120"/>
              </a:rPr>
              <a:t>Each hypothesis declares the data sources it needs, the accepted formats and how to export them.</a:t>
            </a:r>
            <a:endParaRPr lang="en-US" sz="1150" dirty="0"/>
          </a:p>
        </p:txBody>
      </p:sp>
      <p:sp>
        <p:nvSpPr>
          <p:cNvPr id="13" name="Shape 11"/>
          <p:cNvSpPr/>
          <p:nvPr/>
        </p:nvSpPr>
        <p:spPr>
          <a:xfrm>
            <a:off x="8046720" y="2048256"/>
            <a:ext cx="384048" cy="384048"/>
          </a:xfrm>
          <a:prstGeom prst="rect">
            <a:avLst/>
          </a:prstGeom>
          <a:solidFill>
            <a:srgbClr val="000000"/>
          </a:solidFill>
          <a:ln/>
        </p:spPr>
      </p:sp>
      <p:sp>
        <p:nvSpPr>
          <p:cNvPr id="14" name="Text 12"/>
          <p:cNvSpPr txBox="1"/>
          <p:nvPr/>
        </p:nvSpPr>
        <p:spPr>
          <a:xfrm>
            <a:off x="8046720" y="2048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95360" y="2048256"/>
            <a:ext cx="2907792" cy="384048"/>
          </a:xfrm>
          <a:prstGeom prst="rect">
            <a:avLst/>
          </a:prstGeom>
          <a:noFill/>
          <a:ln/>
        </p:spPr>
        <p:txBody>
          <a:bodyPr wrap="square" lIns="0" tIns="0" rIns="0" bIns="0" rtlCol="0" anchor="ctr"/>
          <a:lstStyle/>
          <a:p>
            <a:pPr indent="0" marL="0">
              <a:buNone/>
            </a:pPr>
            <a:r>
              <a:rPr lang="en-US" sz="1450" b="1" dirty="0">
                <a:solidFill>
                  <a:srgbClr val="0F0F0F"/>
                </a:solidFill>
                <a:latin typeface="Arial" pitchFamily="34" charset="0"/>
                <a:ea typeface="Arial" pitchFamily="34" charset="-122"/>
                <a:cs typeface="Arial" pitchFamily="34" charset="-120"/>
              </a:rPr>
              <a:t>Upload one archive</a:t>
            </a:r>
            <a:endParaRPr lang="en-US" sz="1450" dirty="0"/>
          </a:p>
        </p:txBody>
      </p:sp>
      <p:sp>
        <p:nvSpPr>
          <p:cNvPr id="16" name="Text 14"/>
          <p:cNvSpPr txBox="1"/>
          <p:nvPr/>
        </p:nvSpPr>
        <p:spPr>
          <a:xfrm>
            <a:off x="8595360" y="2468880"/>
            <a:ext cx="2907792" cy="822960"/>
          </a:xfrm>
          <a:prstGeom prst="rect">
            <a:avLst/>
          </a:prstGeom>
          <a:noFill/>
          <a:ln/>
        </p:spPr>
        <p:txBody>
          <a:bodyPr wrap="square" lIns="0" tIns="0" rIns="0" bIns="0" rtlCol="0" anchor="t"/>
          <a:lstStyle/>
          <a:p>
            <a:pPr indent="0" marL="0">
              <a:lnSpc>
                <a:spcPct val="120000"/>
              </a:lnSpc>
              <a:buNone/>
            </a:pPr>
            <a:r>
              <a:rPr lang="en-US" sz="1150" dirty="0">
                <a:solidFill>
                  <a:srgbClr val="53565A"/>
                </a:solidFill>
                <a:latin typeface="Arial" pitchFamily="34" charset="0"/>
                <a:ea typeface="Arial" pitchFamily="34" charset="-122"/>
                <a:cs typeface="Arial" pitchFamily="34" charset="-120"/>
              </a:rPr>
              <a:t>Zip, tar, tar.gz or a single log file, extracted with path and size protections.</a:t>
            </a:r>
            <a:endParaRPr lang="en-US" sz="1150" dirty="0"/>
          </a:p>
        </p:txBody>
      </p:sp>
      <p:sp>
        <p:nvSpPr>
          <p:cNvPr id="17" name="Shape 15"/>
          <p:cNvSpPr/>
          <p:nvPr/>
        </p:nvSpPr>
        <p:spPr>
          <a:xfrm>
            <a:off x="658368" y="3822192"/>
            <a:ext cx="384048" cy="384048"/>
          </a:xfrm>
          <a:prstGeom prst="rect">
            <a:avLst/>
          </a:prstGeom>
          <a:solidFill>
            <a:srgbClr val="000000"/>
          </a:solidFill>
          <a:ln/>
        </p:spPr>
      </p:sp>
      <p:sp>
        <p:nvSpPr>
          <p:cNvPr id="18" name="Text 16"/>
          <p:cNvSpPr txBox="1"/>
          <p:nvPr/>
        </p:nvSpPr>
        <p:spPr>
          <a:xfrm>
            <a:off x="658368" y="3822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207008" y="3822192"/>
            <a:ext cx="2907792" cy="384048"/>
          </a:xfrm>
          <a:prstGeom prst="rect">
            <a:avLst/>
          </a:prstGeom>
          <a:noFill/>
          <a:ln/>
        </p:spPr>
        <p:txBody>
          <a:bodyPr wrap="square" lIns="0" tIns="0" rIns="0" bIns="0" rtlCol="0" anchor="ctr"/>
          <a:lstStyle/>
          <a:p>
            <a:pPr indent="0" marL="0">
              <a:buNone/>
            </a:pPr>
            <a:r>
              <a:rPr lang="en-US" sz="1450" b="1" dirty="0">
                <a:solidFill>
                  <a:srgbClr val="0F0F0F"/>
                </a:solidFill>
                <a:latin typeface="Arial" pitchFamily="34" charset="0"/>
                <a:ea typeface="Arial" pitchFamily="34" charset="-122"/>
                <a:cs typeface="Arial" pitchFamily="34" charset="-120"/>
              </a:rPr>
              <a:t>The engine analyses everything</a:t>
            </a:r>
            <a:endParaRPr lang="en-US" sz="1450" dirty="0"/>
          </a:p>
        </p:txBody>
      </p:sp>
      <p:sp>
        <p:nvSpPr>
          <p:cNvPr id="20" name="Text 18"/>
          <p:cNvSpPr txBox="1"/>
          <p:nvPr/>
        </p:nvSpPr>
        <p:spPr>
          <a:xfrm>
            <a:off x="1207008" y="4242816"/>
            <a:ext cx="2907792" cy="822960"/>
          </a:xfrm>
          <a:prstGeom prst="rect">
            <a:avLst/>
          </a:prstGeom>
          <a:noFill/>
          <a:ln/>
        </p:spPr>
        <p:txBody>
          <a:bodyPr wrap="square" lIns="0" tIns="0" rIns="0" bIns="0" rtlCol="0" anchor="t"/>
          <a:lstStyle/>
          <a:p>
            <a:pPr indent="0" marL="0">
              <a:lnSpc>
                <a:spcPct val="120000"/>
              </a:lnSpc>
              <a:buNone/>
            </a:pPr>
            <a:r>
              <a:rPr lang="en-US" sz="1150" dirty="0">
                <a:solidFill>
                  <a:srgbClr val="53565A"/>
                </a:solidFill>
                <a:latin typeface="Arial" pitchFamily="34" charset="0"/>
                <a:ea typeface="Arial" pitchFamily="34" charset="-122"/>
                <a:cs typeface="Arial" pitchFamily="34" charset="-120"/>
              </a:rPr>
              <a:t>Every file is sniffed, parsed, normalised and pushed through the detection library.</a:t>
            </a:r>
            <a:endParaRPr lang="en-US" sz="1150" dirty="0"/>
          </a:p>
        </p:txBody>
      </p:sp>
      <p:sp>
        <p:nvSpPr>
          <p:cNvPr id="21" name="Shape 19"/>
          <p:cNvSpPr/>
          <p:nvPr/>
        </p:nvSpPr>
        <p:spPr>
          <a:xfrm>
            <a:off x="4352544" y="3822192"/>
            <a:ext cx="384048" cy="384048"/>
          </a:xfrm>
          <a:prstGeom prst="rect">
            <a:avLst/>
          </a:prstGeom>
          <a:solidFill>
            <a:srgbClr val="000000"/>
          </a:solidFill>
          <a:ln/>
        </p:spPr>
      </p:sp>
      <p:sp>
        <p:nvSpPr>
          <p:cNvPr id="22" name="Text 20"/>
          <p:cNvSpPr txBox="1"/>
          <p:nvPr/>
        </p:nvSpPr>
        <p:spPr>
          <a:xfrm>
            <a:off x="4352544" y="3822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4901184" y="3822192"/>
            <a:ext cx="2907792" cy="384048"/>
          </a:xfrm>
          <a:prstGeom prst="rect">
            <a:avLst/>
          </a:prstGeom>
          <a:noFill/>
          <a:ln/>
        </p:spPr>
        <p:txBody>
          <a:bodyPr wrap="square" lIns="0" tIns="0" rIns="0" bIns="0" rtlCol="0" anchor="ctr"/>
          <a:lstStyle/>
          <a:p>
            <a:pPr indent="0" marL="0">
              <a:buNone/>
            </a:pPr>
            <a:r>
              <a:rPr lang="en-US" sz="1450" b="1" dirty="0">
                <a:solidFill>
                  <a:srgbClr val="0F0F0F"/>
                </a:solidFill>
                <a:latin typeface="Arial" pitchFamily="34" charset="0"/>
                <a:ea typeface="Arial" pitchFamily="34" charset="-122"/>
                <a:cs typeface="Arial" pitchFamily="34" charset="-120"/>
              </a:rPr>
              <a:t>Read and export the report</a:t>
            </a:r>
            <a:endParaRPr lang="en-US" sz="1450" dirty="0"/>
          </a:p>
        </p:txBody>
      </p:sp>
      <p:sp>
        <p:nvSpPr>
          <p:cNvPr id="24" name="Text 22"/>
          <p:cNvSpPr txBox="1"/>
          <p:nvPr/>
        </p:nvSpPr>
        <p:spPr>
          <a:xfrm>
            <a:off x="4901184" y="4242816"/>
            <a:ext cx="2907792" cy="822960"/>
          </a:xfrm>
          <a:prstGeom prst="rect">
            <a:avLst/>
          </a:prstGeom>
          <a:noFill/>
          <a:ln/>
        </p:spPr>
        <p:txBody>
          <a:bodyPr wrap="square" lIns="0" tIns="0" rIns="0" bIns="0" rtlCol="0" anchor="t"/>
          <a:lstStyle/>
          <a:p>
            <a:pPr indent="0" marL="0">
              <a:lnSpc>
                <a:spcPct val="120000"/>
              </a:lnSpc>
              <a:buNone/>
            </a:pPr>
            <a:r>
              <a:rPr lang="en-US" sz="1150" dirty="0">
                <a:solidFill>
                  <a:srgbClr val="53565A"/>
                </a:solidFill>
                <a:latin typeface="Arial" pitchFamily="34" charset="0"/>
                <a:ea typeface="Arial" pitchFamily="34" charset="-122"/>
                <a:cs typeface="Arial" pitchFamily="34" charset="-120"/>
              </a:rPr>
              <a:t>Observations with the original log line, the risk, the impact and the remediation. PDF or JSON.</a:t>
            </a:r>
            <a:endParaRPr lang="en-US" sz="1150" dirty="0"/>
          </a:p>
        </p:txBody>
      </p:sp>
      <p:sp>
        <p:nvSpPr>
          <p:cNvPr id="25" name="Shape 23"/>
          <p:cNvSpPr/>
          <p:nvPr/>
        </p:nvSpPr>
        <p:spPr>
          <a:xfrm>
            <a:off x="8046720" y="3822192"/>
            <a:ext cx="384048" cy="384048"/>
          </a:xfrm>
          <a:prstGeom prst="rect">
            <a:avLst/>
          </a:prstGeom>
          <a:solidFill>
            <a:srgbClr val="000000"/>
          </a:solidFill>
          <a:ln/>
        </p:spPr>
      </p:sp>
      <p:sp>
        <p:nvSpPr>
          <p:cNvPr id="26" name="Text 24"/>
          <p:cNvSpPr txBox="1"/>
          <p:nvPr/>
        </p:nvSpPr>
        <p:spPr>
          <a:xfrm>
            <a:off x="8046720" y="3822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7" name="Text 25"/>
          <p:cNvSpPr txBox="1"/>
          <p:nvPr/>
        </p:nvSpPr>
        <p:spPr>
          <a:xfrm>
            <a:off x="8595360" y="3822192"/>
            <a:ext cx="2907792" cy="384048"/>
          </a:xfrm>
          <a:prstGeom prst="rect">
            <a:avLst/>
          </a:prstGeom>
          <a:noFill/>
          <a:ln/>
        </p:spPr>
        <p:txBody>
          <a:bodyPr wrap="square" lIns="0" tIns="0" rIns="0" bIns="0" rtlCol="0" anchor="ctr"/>
          <a:lstStyle/>
          <a:p>
            <a:pPr indent="0" marL="0">
              <a:buNone/>
            </a:pPr>
            <a:r>
              <a:rPr lang="en-US" sz="1450" b="1" dirty="0">
                <a:solidFill>
                  <a:srgbClr val="0F0F0F"/>
                </a:solidFill>
                <a:latin typeface="Arial" pitchFamily="34" charset="0"/>
                <a:ea typeface="Arial" pitchFamily="34" charset="-122"/>
                <a:cs typeface="Arial" pitchFamily="34" charset="-120"/>
              </a:rPr>
              <a:t>Track the programme</a:t>
            </a:r>
            <a:endParaRPr lang="en-US" sz="1450" dirty="0"/>
          </a:p>
        </p:txBody>
      </p:sp>
      <p:sp>
        <p:nvSpPr>
          <p:cNvPr id="28" name="Text 26"/>
          <p:cNvSpPr txBox="1"/>
          <p:nvPr/>
        </p:nvSpPr>
        <p:spPr>
          <a:xfrm>
            <a:off x="8595360" y="4242816"/>
            <a:ext cx="2907792" cy="822960"/>
          </a:xfrm>
          <a:prstGeom prst="rect">
            <a:avLst/>
          </a:prstGeom>
          <a:noFill/>
          <a:ln/>
        </p:spPr>
        <p:txBody>
          <a:bodyPr wrap="square" lIns="0" tIns="0" rIns="0" bIns="0" rtlCol="0" anchor="t"/>
          <a:lstStyle/>
          <a:p>
            <a:pPr indent="0" marL="0">
              <a:lnSpc>
                <a:spcPct val="120000"/>
              </a:lnSpc>
              <a:buNone/>
            </a:pPr>
            <a:r>
              <a:rPr lang="en-US" sz="1150" dirty="0">
                <a:solidFill>
                  <a:srgbClr val="53565A"/>
                </a:solidFill>
                <a:latin typeface="Arial" pitchFamily="34" charset="0"/>
                <a:ea typeface="Arial" pitchFamily="34" charset="-122"/>
                <a:cs typeface="Arial" pitchFamily="34" charset="-120"/>
              </a:rPr>
              <a:t>The dashboard aggregates hunts, observations, ATT&amp;CK coverage and risk over time.</a:t>
            </a:r>
            <a:endParaRPr lang="en-US" sz="1150" dirty="0"/>
          </a:p>
        </p:txBody>
      </p:sp>
      <p:sp>
        <p:nvSpPr>
          <p:cNvPr id="29" name="Text 27"/>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30" name="Text 28"/>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AT A GLANCE</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What ships in the box</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Text 3"/>
          <p:cNvSpPr txBox="1"/>
          <p:nvPr/>
        </p:nvSpPr>
        <p:spPr>
          <a:xfrm>
            <a:off x="658368" y="2103120"/>
            <a:ext cx="2615184" cy="713232"/>
          </a:xfrm>
          <a:prstGeom prst="rect">
            <a:avLst/>
          </a:prstGeom>
          <a:noFill/>
          <a:ln/>
        </p:spPr>
        <p:txBody>
          <a:bodyPr wrap="square" lIns="0" tIns="0" rIns="0" bIns="0" rtlCol="0" anchor="b"/>
          <a:lstStyle/>
          <a:p>
            <a:pPr indent="0" marL="0">
              <a:buNone/>
            </a:pPr>
            <a:r>
              <a:rPr lang="en-US" sz="4400" b="1" dirty="0">
                <a:solidFill>
                  <a:srgbClr val="86BC25"/>
                </a:solidFill>
                <a:latin typeface="Arial" pitchFamily="34" charset="0"/>
                <a:ea typeface="Arial" pitchFamily="34" charset="-122"/>
                <a:cs typeface="Arial" pitchFamily="34" charset="-120"/>
              </a:rPr>
              <a:t>136</a:t>
            </a:r>
            <a:endParaRPr lang="en-US" sz="4400" dirty="0"/>
          </a:p>
        </p:txBody>
      </p:sp>
      <p:sp>
        <p:nvSpPr>
          <p:cNvPr id="6" name="Text 4"/>
          <p:cNvSpPr txBox="1"/>
          <p:nvPr/>
        </p:nvSpPr>
        <p:spPr>
          <a:xfrm>
            <a:off x="658368" y="2852928"/>
            <a:ext cx="2615184" cy="219456"/>
          </a:xfrm>
          <a:prstGeom prst="rect">
            <a:avLst/>
          </a:prstGeom>
          <a:noFill/>
          <a:ln/>
        </p:spPr>
        <p:txBody>
          <a:bodyPr wrap="square" lIns="0" tIns="0" rIns="0" bIns="0" rtlCol="0" anchor="ctr"/>
          <a:lstStyle/>
          <a:p>
            <a:pPr indent="0" marL="0">
              <a:buNone/>
            </a:pPr>
            <a:r>
              <a:rPr lang="en-US" sz="950" b="1" spc="160" kern="0" dirty="0">
                <a:solidFill>
                  <a:srgbClr val="75787B"/>
                </a:solidFill>
                <a:latin typeface="Arial" pitchFamily="34" charset="0"/>
                <a:ea typeface="Arial" pitchFamily="34" charset="-122"/>
                <a:cs typeface="Arial" pitchFamily="34" charset="-120"/>
              </a:rPr>
              <a:t>DETECTIONS</a:t>
            </a:r>
            <a:endParaRPr lang="en-US" sz="950" dirty="0"/>
          </a:p>
        </p:txBody>
      </p:sp>
      <p:sp>
        <p:nvSpPr>
          <p:cNvPr id="7" name="Text 5"/>
          <p:cNvSpPr txBox="1"/>
          <p:nvPr/>
        </p:nvSpPr>
        <p:spPr>
          <a:xfrm>
            <a:off x="658368" y="3090672"/>
            <a:ext cx="2615184"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Pattern, threshold, sequence and statistical rules</a:t>
            </a:r>
            <a:endParaRPr lang="en-US" sz="1100" dirty="0"/>
          </a:p>
        </p:txBody>
      </p:sp>
      <p:sp>
        <p:nvSpPr>
          <p:cNvPr id="8" name="Text 6"/>
          <p:cNvSpPr txBox="1"/>
          <p:nvPr/>
        </p:nvSpPr>
        <p:spPr>
          <a:xfrm>
            <a:off x="3456432" y="2103120"/>
            <a:ext cx="2615184" cy="713232"/>
          </a:xfrm>
          <a:prstGeom prst="rect">
            <a:avLst/>
          </a:prstGeom>
          <a:noFill/>
          <a:ln/>
        </p:spPr>
        <p:txBody>
          <a:bodyPr wrap="square" lIns="0" tIns="0" rIns="0" bIns="0" rtlCol="0" anchor="b"/>
          <a:lstStyle/>
          <a:p>
            <a:pPr indent="0" marL="0">
              <a:buNone/>
            </a:pPr>
            <a:r>
              <a:rPr lang="en-US" sz="4400" b="1" dirty="0">
                <a:solidFill>
                  <a:srgbClr val="0F0F0F"/>
                </a:solidFill>
                <a:latin typeface="Arial" pitchFamily="34" charset="0"/>
                <a:ea typeface="Arial" pitchFamily="34" charset="-122"/>
                <a:cs typeface="Arial" pitchFamily="34" charset="-120"/>
              </a:rPr>
              <a:t>96</a:t>
            </a:r>
            <a:endParaRPr lang="en-US" sz="4400" dirty="0"/>
          </a:p>
        </p:txBody>
      </p:sp>
      <p:sp>
        <p:nvSpPr>
          <p:cNvPr id="9" name="Text 7"/>
          <p:cNvSpPr txBox="1"/>
          <p:nvPr/>
        </p:nvSpPr>
        <p:spPr>
          <a:xfrm>
            <a:off x="3456432" y="2852928"/>
            <a:ext cx="2615184" cy="219456"/>
          </a:xfrm>
          <a:prstGeom prst="rect">
            <a:avLst/>
          </a:prstGeom>
          <a:noFill/>
          <a:ln/>
        </p:spPr>
        <p:txBody>
          <a:bodyPr wrap="square" lIns="0" tIns="0" rIns="0" bIns="0" rtlCol="0" anchor="ctr"/>
          <a:lstStyle/>
          <a:p>
            <a:pPr indent="0" marL="0">
              <a:buNone/>
            </a:pPr>
            <a:r>
              <a:rPr lang="en-US" sz="950" b="1" spc="160" kern="0" dirty="0">
                <a:solidFill>
                  <a:srgbClr val="75787B"/>
                </a:solidFill>
                <a:latin typeface="Arial" pitchFamily="34" charset="0"/>
                <a:ea typeface="Arial" pitchFamily="34" charset="-122"/>
                <a:cs typeface="Arial" pitchFamily="34" charset="-120"/>
              </a:rPr>
              <a:t>ATT&amp;CK TECHNIQUES</a:t>
            </a:r>
            <a:endParaRPr lang="en-US" sz="950" dirty="0"/>
          </a:p>
        </p:txBody>
      </p:sp>
      <p:sp>
        <p:nvSpPr>
          <p:cNvPr id="10" name="Text 8"/>
          <p:cNvSpPr txBox="1"/>
          <p:nvPr/>
        </p:nvSpPr>
        <p:spPr>
          <a:xfrm>
            <a:off x="3456432" y="3090672"/>
            <a:ext cx="2615184"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Mapped across eleven tactics of the lifecycle</a:t>
            </a:r>
            <a:endParaRPr lang="en-US" sz="1100" dirty="0"/>
          </a:p>
        </p:txBody>
      </p:sp>
      <p:sp>
        <p:nvSpPr>
          <p:cNvPr id="11" name="Text 9"/>
          <p:cNvSpPr txBox="1"/>
          <p:nvPr/>
        </p:nvSpPr>
        <p:spPr>
          <a:xfrm>
            <a:off x="6254496" y="2103120"/>
            <a:ext cx="2615184" cy="713232"/>
          </a:xfrm>
          <a:prstGeom prst="rect">
            <a:avLst/>
          </a:prstGeom>
          <a:noFill/>
          <a:ln/>
        </p:spPr>
        <p:txBody>
          <a:bodyPr wrap="square" lIns="0" tIns="0" rIns="0" bIns="0" rtlCol="0" anchor="b"/>
          <a:lstStyle/>
          <a:p>
            <a:pPr indent="0" marL="0">
              <a:buNone/>
            </a:pPr>
            <a:r>
              <a:rPr lang="en-US" sz="4400" b="1" dirty="0">
                <a:solidFill>
                  <a:srgbClr val="0F0F0F"/>
                </a:solidFill>
                <a:latin typeface="Arial" pitchFamily="34" charset="0"/>
                <a:ea typeface="Arial" pitchFamily="34" charset="-122"/>
                <a:cs typeface="Arial" pitchFamily="34" charset="-120"/>
              </a:rPr>
              <a:t>33</a:t>
            </a:r>
            <a:endParaRPr lang="en-US" sz="4400" dirty="0"/>
          </a:p>
        </p:txBody>
      </p:sp>
      <p:sp>
        <p:nvSpPr>
          <p:cNvPr id="12" name="Text 10"/>
          <p:cNvSpPr txBox="1"/>
          <p:nvPr/>
        </p:nvSpPr>
        <p:spPr>
          <a:xfrm>
            <a:off x="6254496" y="2852928"/>
            <a:ext cx="2615184" cy="219456"/>
          </a:xfrm>
          <a:prstGeom prst="rect">
            <a:avLst/>
          </a:prstGeom>
          <a:noFill/>
          <a:ln/>
        </p:spPr>
        <p:txBody>
          <a:bodyPr wrap="square" lIns="0" tIns="0" rIns="0" bIns="0" rtlCol="0" anchor="ctr"/>
          <a:lstStyle/>
          <a:p>
            <a:pPr indent="0" marL="0">
              <a:buNone/>
            </a:pPr>
            <a:r>
              <a:rPr lang="en-US" sz="950" b="1" spc="160" kern="0" dirty="0">
                <a:solidFill>
                  <a:srgbClr val="75787B"/>
                </a:solidFill>
                <a:latin typeface="Arial" pitchFamily="34" charset="0"/>
                <a:ea typeface="Arial" pitchFamily="34" charset="-122"/>
                <a:cs typeface="Arial" pitchFamily="34" charset="-120"/>
              </a:rPr>
              <a:t>HYPOTHESES</a:t>
            </a:r>
            <a:endParaRPr lang="en-US" sz="950" dirty="0"/>
          </a:p>
        </p:txBody>
      </p:sp>
      <p:sp>
        <p:nvSpPr>
          <p:cNvPr id="13" name="Text 11"/>
          <p:cNvSpPr txBox="1"/>
          <p:nvPr/>
        </p:nvSpPr>
        <p:spPr>
          <a:xfrm>
            <a:off x="6254496" y="3090672"/>
            <a:ext cx="2615184"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Threat intelligence, technique and mathematical families</a:t>
            </a:r>
            <a:endParaRPr lang="en-US" sz="1100" dirty="0"/>
          </a:p>
        </p:txBody>
      </p:sp>
      <p:sp>
        <p:nvSpPr>
          <p:cNvPr id="14" name="Text 12"/>
          <p:cNvSpPr txBox="1"/>
          <p:nvPr/>
        </p:nvSpPr>
        <p:spPr>
          <a:xfrm>
            <a:off x="9052560" y="2103120"/>
            <a:ext cx="2615184" cy="713232"/>
          </a:xfrm>
          <a:prstGeom prst="rect">
            <a:avLst/>
          </a:prstGeom>
          <a:noFill/>
          <a:ln/>
        </p:spPr>
        <p:txBody>
          <a:bodyPr wrap="square" lIns="0" tIns="0" rIns="0" bIns="0" rtlCol="0" anchor="b"/>
          <a:lstStyle/>
          <a:p>
            <a:pPr indent="0" marL="0">
              <a:buNone/>
            </a:pPr>
            <a:r>
              <a:rPr lang="en-US" sz="4400" b="1" dirty="0">
                <a:solidFill>
                  <a:srgbClr val="0F0F0F"/>
                </a:solidFill>
                <a:latin typeface="Arial" pitchFamily="34" charset="0"/>
                <a:ea typeface="Arial" pitchFamily="34" charset="-122"/>
                <a:cs typeface="Arial" pitchFamily="34" charset="-120"/>
              </a:rPr>
              <a:t>27</a:t>
            </a:r>
            <a:endParaRPr lang="en-US" sz="4400" dirty="0"/>
          </a:p>
        </p:txBody>
      </p:sp>
      <p:sp>
        <p:nvSpPr>
          <p:cNvPr id="15" name="Text 13"/>
          <p:cNvSpPr txBox="1"/>
          <p:nvPr/>
        </p:nvSpPr>
        <p:spPr>
          <a:xfrm>
            <a:off x="9052560" y="2852928"/>
            <a:ext cx="2615184" cy="219456"/>
          </a:xfrm>
          <a:prstGeom prst="rect">
            <a:avLst/>
          </a:prstGeom>
          <a:noFill/>
          <a:ln/>
        </p:spPr>
        <p:txBody>
          <a:bodyPr wrap="square" lIns="0" tIns="0" rIns="0" bIns="0" rtlCol="0" anchor="ctr"/>
          <a:lstStyle/>
          <a:p>
            <a:pPr indent="0" marL="0">
              <a:buNone/>
            </a:pPr>
            <a:r>
              <a:rPr lang="en-US" sz="950" b="1" spc="160" kern="0" dirty="0">
                <a:solidFill>
                  <a:srgbClr val="75787B"/>
                </a:solidFill>
                <a:latin typeface="Arial" pitchFamily="34" charset="0"/>
                <a:ea typeface="Arial" pitchFamily="34" charset="-122"/>
                <a:cs typeface="Arial" pitchFamily="34" charset="-120"/>
              </a:rPr>
              <a:t>LOG FORMATS</a:t>
            </a:r>
            <a:endParaRPr lang="en-US" sz="950" dirty="0"/>
          </a:p>
        </p:txBody>
      </p:sp>
      <p:sp>
        <p:nvSpPr>
          <p:cNvPr id="16" name="Text 14"/>
          <p:cNvSpPr txBox="1"/>
          <p:nvPr/>
        </p:nvSpPr>
        <p:spPr>
          <a:xfrm>
            <a:off x="9052560" y="3090672"/>
            <a:ext cx="2615184"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Each proven against a fixture of the real emitted shape</a:t>
            </a:r>
            <a:endParaRPr lang="en-US" sz="1100" dirty="0"/>
          </a:p>
        </p:txBody>
      </p:sp>
      <p:sp>
        <p:nvSpPr>
          <p:cNvPr id="17" name="Shape 15"/>
          <p:cNvSpPr/>
          <p:nvPr/>
        </p:nvSpPr>
        <p:spPr>
          <a:xfrm>
            <a:off x="658368" y="3986784"/>
            <a:ext cx="10874959" cy="0"/>
          </a:xfrm>
          <a:prstGeom prst="line">
            <a:avLst/>
          </a:prstGeom>
          <a:noFill/>
          <a:ln w="9525">
            <a:solidFill>
              <a:srgbClr val="E6E6E4"/>
            </a:solidFill>
            <a:prstDash val="solid"/>
          </a:ln>
        </p:spPr>
      </p:sp>
      <p:sp>
        <p:nvSpPr>
          <p:cNvPr id="18" name="Text 16"/>
          <p:cNvSpPr txBox="1"/>
          <p:nvPr/>
        </p:nvSpPr>
        <p:spPr>
          <a:xfrm>
            <a:off x="658368" y="4279392"/>
            <a:ext cx="2615184" cy="713232"/>
          </a:xfrm>
          <a:prstGeom prst="rect">
            <a:avLst/>
          </a:prstGeom>
          <a:noFill/>
          <a:ln/>
        </p:spPr>
        <p:txBody>
          <a:bodyPr wrap="square" lIns="0" tIns="0" rIns="0" bIns="0" rtlCol="0" anchor="b"/>
          <a:lstStyle/>
          <a:p>
            <a:pPr indent="0" marL="0">
              <a:buNone/>
            </a:pPr>
            <a:r>
              <a:rPr lang="en-US" sz="4400" b="1" dirty="0">
                <a:solidFill>
                  <a:srgbClr val="86BC25"/>
                </a:solidFill>
                <a:latin typeface="Arial" pitchFamily="34" charset="0"/>
                <a:ea typeface="Arial" pitchFamily="34" charset="-122"/>
                <a:cs typeface="Arial" pitchFamily="34" charset="-120"/>
              </a:rPr>
              <a:t>1,860</a:t>
            </a:r>
            <a:endParaRPr lang="en-US" sz="4400" dirty="0"/>
          </a:p>
        </p:txBody>
      </p:sp>
      <p:sp>
        <p:nvSpPr>
          <p:cNvPr id="19" name="Text 17"/>
          <p:cNvSpPr txBox="1"/>
          <p:nvPr/>
        </p:nvSpPr>
        <p:spPr>
          <a:xfrm>
            <a:off x="658368" y="5029200"/>
            <a:ext cx="2615184" cy="219456"/>
          </a:xfrm>
          <a:prstGeom prst="rect">
            <a:avLst/>
          </a:prstGeom>
          <a:noFill/>
          <a:ln/>
        </p:spPr>
        <p:txBody>
          <a:bodyPr wrap="square" lIns="0" tIns="0" rIns="0" bIns="0" rtlCol="0" anchor="ctr"/>
          <a:lstStyle/>
          <a:p>
            <a:pPr indent="0" marL="0">
              <a:buNone/>
            </a:pPr>
            <a:r>
              <a:rPr lang="en-US" sz="950" b="1" spc="160" kern="0" dirty="0">
                <a:solidFill>
                  <a:srgbClr val="75787B"/>
                </a:solidFill>
                <a:latin typeface="Arial" pitchFamily="34" charset="0"/>
                <a:ea typeface="Arial" pitchFamily="34" charset="-122"/>
                <a:cs typeface="Arial" pitchFamily="34" charset="-120"/>
              </a:rPr>
              <a:t>TESTS PASSING</a:t>
            </a:r>
            <a:endParaRPr lang="en-US" sz="950" dirty="0"/>
          </a:p>
        </p:txBody>
      </p:sp>
      <p:sp>
        <p:nvSpPr>
          <p:cNvPr id="20" name="Text 18"/>
          <p:cNvSpPr txBox="1"/>
          <p:nvPr/>
        </p:nvSpPr>
        <p:spPr>
          <a:xfrm>
            <a:off x="658368" y="5266944"/>
            <a:ext cx="2615184"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Identical on Python 3.11, 3.12 and 3.13, nothing skipped</a:t>
            </a:r>
            <a:endParaRPr lang="en-US" sz="1100" dirty="0"/>
          </a:p>
        </p:txBody>
      </p:sp>
      <p:sp>
        <p:nvSpPr>
          <p:cNvPr id="21" name="Text 19"/>
          <p:cNvSpPr txBox="1"/>
          <p:nvPr/>
        </p:nvSpPr>
        <p:spPr>
          <a:xfrm>
            <a:off x="3456432" y="4279392"/>
            <a:ext cx="2615184" cy="713232"/>
          </a:xfrm>
          <a:prstGeom prst="rect">
            <a:avLst/>
          </a:prstGeom>
          <a:noFill/>
          <a:ln/>
        </p:spPr>
        <p:txBody>
          <a:bodyPr wrap="square" lIns="0" tIns="0" rIns="0" bIns="0" rtlCol="0" anchor="b"/>
          <a:lstStyle/>
          <a:p>
            <a:pPr indent="0" marL="0">
              <a:buNone/>
            </a:pPr>
            <a:r>
              <a:rPr lang="en-US" sz="4400" b="1" dirty="0">
                <a:solidFill>
                  <a:srgbClr val="0F0F0F"/>
                </a:solidFill>
                <a:latin typeface="Arial" pitchFamily="34" charset="0"/>
                <a:ea typeface="Arial" pitchFamily="34" charset="-122"/>
                <a:cs typeface="Arial" pitchFamily="34" charset="-120"/>
              </a:rPr>
              <a:t>140</a:t>
            </a:r>
            <a:endParaRPr lang="en-US" sz="4400" dirty="0"/>
          </a:p>
        </p:txBody>
      </p:sp>
      <p:sp>
        <p:nvSpPr>
          <p:cNvPr id="22" name="Text 20"/>
          <p:cNvSpPr txBox="1"/>
          <p:nvPr/>
        </p:nvSpPr>
        <p:spPr>
          <a:xfrm>
            <a:off x="3456432" y="5029200"/>
            <a:ext cx="2615184" cy="219456"/>
          </a:xfrm>
          <a:prstGeom prst="rect">
            <a:avLst/>
          </a:prstGeom>
          <a:noFill/>
          <a:ln/>
        </p:spPr>
        <p:txBody>
          <a:bodyPr wrap="square" lIns="0" tIns="0" rIns="0" bIns="0" rtlCol="0" anchor="ctr"/>
          <a:lstStyle/>
          <a:p>
            <a:pPr indent="0" marL="0">
              <a:buNone/>
            </a:pPr>
            <a:r>
              <a:rPr lang="en-US" sz="950" b="1" spc="160" kern="0" dirty="0">
                <a:solidFill>
                  <a:srgbClr val="75787B"/>
                </a:solidFill>
                <a:latin typeface="Arial" pitchFamily="34" charset="0"/>
                <a:ea typeface="Arial" pitchFamily="34" charset="-122"/>
                <a:cs typeface="Arial" pitchFamily="34" charset="-120"/>
              </a:rPr>
              <a:t>END TO END CHECKS</a:t>
            </a:r>
            <a:endParaRPr lang="en-US" sz="950" dirty="0"/>
          </a:p>
        </p:txBody>
      </p:sp>
      <p:sp>
        <p:nvSpPr>
          <p:cNvPr id="23" name="Text 21"/>
          <p:cNvSpPr txBox="1"/>
          <p:nvPr/>
        </p:nvSpPr>
        <p:spPr>
          <a:xfrm>
            <a:off x="3456432" y="5266944"/>
            <a:ext cx="2615184"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Fourteen journeys driven through a real browser</a:t>
            </a:r>
            <a:endParaRPr lang="en-US" sz="1100" dirty="0"/>
          </a:p>
        </p:txBody>
      </p:sp>
      <p:sp>
        <p:nvSpPr>
          <p:cNvPr id="24" name="Text 22"/>
          <p:cNvSpPr txBox="1"/>
          <p:nvPr/>
        </p:nvSpPr>
        <p:spPr>
          <a:xfrm>
            <a:off x="6254496" y="4279392"/>
            <a:ext cx="2615184" cy="713232"/>
          </a:xfrm>
          <a:prstGeom prst="rect">
            <a:avLst/>
          </a:prstGeom>
          <a:noFill/>
          <a:ln/>
        </p:spPr>
        <p:txBody>
          <a:bodyPr wrap="square" lIns="0" tIns="0" rIns="0" bIns="0" rtlCol="0" anchor="b"/>
          <a:lstStyle/>
          <a:p>
            <a:pPr indent="0" marL="0">
              <a:buNone/>
            </a:pPr>
            <a:r>
              <a:rPr lang="en-US" sz="4400" b="1" dirty="0">
                <a:solidFill>
                  <a:srgbClr val="0F0F0F"/>
                </a:solidFill>
                <a:latin typeface="Arial" pitchFamily="34" charset="0"/>
                <a:ea typeface="Arial" pitchFamily="34" charset="-122"/>
                <a:cs typeface="Arial" pitchFamily="34" charset="-120"/>
              </a:rPr>
              <a:t>27k</a:t>
            </a:r>
            <a:endParaRPr lang="en-US" sz="4400" dirty="0"/>
          </a:p>
        </p:txBody>
      </p:sp>
      <p:sp>
        <p:nvSpPr>
          <p:cNvPr id="25" name="Text 23"/>
          <p:cNvSpPr txBox="1"/>
          <p:nvPr/>
        </p:nvSpPr>
        <p:spPr>
          <a:xfrm>
            <a:off x="6254496" y="5029200"/>
            <a:ext cx="2615184" cy="219456"/>
          </a:xfrm>
          <a:prstGeom prst="rect">
            <a:avLst/>
          </a:prstGeom>
          <a:noFill/>
          <a:ln/>
        </p:spPr>
        <p:txBody>
          <a:bodyPr wrap="square" lIns="0" tIns="0" rIns="0" bIns="0" rtlCol="0" anchor="ctr"/>
          <a:lstStyle/>
          <a:p>
            <a:pPr indent="0" marL="0">
              <a:buNone/>
            </a:pPr>
            <a:r>
              <a:rPr lang="en-US" sz="950" b="1" spc="160" kern="0" dirty="0">
                <a:solidFill>
                  <a:srgbClr val="75787B"/>
                </a:solidFill>
                <a:latin typeface="Arial" pitchFamily="34" charset="0"/>
                <a:ea typeface="Arial" pitchFamily="34" charset="-122"/>
                <a:cs typeface="Arial" pitchFamily="34" charset="-120"/>
              </a:rPr>
              <a:t>RECORDS A SECOND</a:t>
            </a:r>
            <a:endParaRPr lang="en-US" sz="950" dirty="0"/>
          </a:p>
        </p:txBody>
      </p:sp>
      <p:sp>
        <p:nvSpPr>
          <p:cNvPr id="26" name="Text 24"/>
          <p:cNvSpPr txBox="1"/>
          <p:nvPr/>
        </p:nvSpPr>
        <p:spPr>
          <a:xfrm>
            <a:off x="6254496" y="5266944"/>
            <a:ext cx="2615184"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Extract and parse throughput on a single core</a:t>
            </a:r>
            <a:endParaRPr lang="en-US" sz="1100" dirty="0"/>
          </a:p>
        </p:txBody>
      </p:sp>
      <p:sp>
        <p:nvSpPr>
          <p:cNvPr id="27" name="Text 25"/>
          <p:cNvSpPr txBox="1"/>
          <p:nvPr/>
        </p:nvSpPr>
        <p:spPr>
          <a:xfrm>
            <a:off x="9052560" y="4279392"/>
            <a:ext cx="2615184" cy="713232"/>
          </a:xfrm>
          <a:prstGeom prst="rect">
            <a:avLst/>
          </a:prstGeom>
          <a:noFill/>
          <a:ln/>
        </p:spPr>
        <p:txBody>
          <a:bodyPr wrap="square" lIns="0" tIns="0" rIns="0" bIns="0" rtlCol="0" anchor="b"/>
          <a:lstStyle/>
          <a:p>
            <a:pPr indent="0" marL="0">
              <a:buNone/>
            </a:pPr>
            <a:r>
              <a:rPr lang="en-US" sz="4400" b="1" dirty="0">
                <a:solidFill>
                  <a:srgbClr val="0F0F0F"/>
                </a:solidFill>
                <a:latin typeface="Arial" pitchFamily="34" charset="0"/>
                <a:ea typeface="Arial" pitchFamily="34" charset="-122"/>
                <a:cs typeface="Arial" pitchFamily="34" charset="-120"/>
              </a:rPr>
              <a:t>0</a:t>
            </a:r>
            <a:endParaRPr lang="en-US" sz="4400" dirty="0"/>
          </a:p>
        </p:txBody>
      </p:sp>
      <p:sp>
        <p:nvSpPr>
          <p:cNvPr id="28" name="Text 26"/>
          <p:cNvSpPr txBox="1"/>
          <p:nvPr/>
        </p:nvSpPr>
        <p:spPr>
          <a:xfrm>
            <a:off x="9052560" y="5029200"/>
            <a:ext cx="2615184" cy="219456"/>
          </a:xfrm>
          <a:prstGeom prst="rect">
            <a:avLst/>
          </a:prstGeom>
          <a:noFill/>
          <a:ln/>
        </p:spPr>
        <p:txBody>
          <a:bodyPr wrap="square" lIns="0" tIns="0" rIns="0" bIns="0" rtlCol="0" anchor="ctr"/>
          <a:lstStyle/>
          <a:p>
            <a:pPr indent="0" marL="0">
              <a:buNone/>
            </a:pPr>
            <a:r>
              <a:rPr lang="en-US" sz="950" b="1" spc="160" kern="0" dirty="0">
                <a:solidFill>
                  <a:srgbClr val="75787B"/>
                </a:solidFill>
                <a:latin typeface="Arial" pitchFamily="34" charset="0"/>
                <a:ea typeface="Arial" pitchFamily="34" charset="-122"/>
                <a:cs typeface="Arial" pitchFamily="34" charset="-120"/>
              </a:rPr>
              <a:t>EXTERNAL DEPENDENCIES</a:t>
            </a:r>
            <a:endParaRPr lang="en-US" sz="950" dirty="0"/>
          </a:p>
        </p:txBody>
      </p:sp>
      <p:sp>
        <p:nvSpPr>
          <p:cNvPr id="29" name="Text 27"/>
          <p:cNvSpPr txBox="1"/>
          <p:nvPr/>
        </p:nvSpPr>
        <p:spPr>
          <a:xfrm>
            <a:off x="9052560" y="5266944"/>
            <a:ext cx="2615184"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The engine is dependency free Python, the interface has no build step</a:t>
            </a:r>
            <a:endParaRPr lang="en-US" sz="1100" dirty="0"/>
          </a:p>
        </p:txBody>
      </p:sp>
      <p:sp>
        <p:nvSpPr>
          <p:cNvPr id="30" name="Text 28"/>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31" name="Text 29"/>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THE CATALOGUE</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Three families of hypothesis</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58368" y="2011680"/>
            <a:ext cx="5029200" cy="1042416"/>
          </a:xfrm>
          <a:prstGeom prst="rect">
            <a:avLst/>
          </a:prstGeom>
          <a:solidFill>
            <a:srgbClr val="EEF7E0"/>
          </a:solidFill>
          <a:ln w="9525">
            <a:solidFill>
              <a:srgbClr val="D0D0CE"/>
            </a:solidFill>
            <a:prstDash val="solid"/>
          </a:ln>
        </p:spPr>
      </p:sp>
      <p:sp>
        <p:nvSpPr>
          <p:cNvPr id="6" name="Text 4"/>
          <p:cNvSpPr txBox="1"/>
          <p:nvPr/>
        </p:nvSpPr>
        <p:spPr>
          <a:xfrm>
            <a:off x="932688" y="2139696"/>
            <a:ext cx="4480560" cy="292608"/>
          </a:xfrm>
          <a:prstGeom prst="rect">
            <a:avLst/>
          </a:prstGeom>
          <a:noFill/>
          <a:ln/>
        </p:spPr>
        <p:txBody>
          <a:bodyPr wrap="square" lIns="0" tIns="0" rIns="0" bIns="0" rtlCol="0" anchor="ctr"/>
          <a:lstStyle/>
          <a:p>
            <a:pPr indent="0" marL="0">
              <a:buNone/>
            </a:pPr>
            <a:r>
              <a:rPr lang="en-US" sz="1450" b="1" dirty="0">
                <a:solidFill>
                  <a:srgbClr val="0F0F0F"/>
                </a:solidFill>
                <a:latin typeface="Arial" pitchFamily="34" charset="0"/>
                <a:ea typeface="Arial" pitchFamily="34" charset="-122"/>
                <a:cs typeface="Arial" pitchFamily="34" charset="-120"/>
              </a:rPr>
              <a:t>Threat intelligence</a:t>
            </a:r>
            <a:endParaRPr lang="en-US" sz="1450" dirty="0"/>
          </a:p>
        </p:txBody>
      </p:sp>
      <p:sp>
        <p:nvSpPr>
          <p:cNvPr id="7" name="Text 5"/>
          <p:cNvSpPr txBox="1"/>
          <p:nvPr/>
        </p:nvSpPr>
        <p:spPr>
          <a:xfrm>
            <a:off x="932688" y="2432304"/>
            <a:ext cx="4517136" cy="548640"/>
          </a:xfrm>
          <a:prstGeom prst="rect">
            <a:avLst/>
          </a:prstGeom>
          <a:noFill/>
          <a:ln/>
        </p:spPr>
        <p:txBody>
          <a:bodyPr wrap="square" lIns="0" tIns="0" rIns="0" bIns="0" rtlCol="0" anchor="t"/>
          <a:lstStyle/>
          <a:p>
            <a:pPr indent="0" marL="0">
              <a:lnSpc>
                <a:spcPct val="115000"/>
              </a:lnSpc>
              <a:buNone/>
            </a:pPr>
            <a:r>
              <a:rPr lang="en-US" sz="1000" dirty="0">
                <a:solidFill>
                  <a:srgbClr val="53565A"/>
                </a:solidFill>
                <a:latin typeface="Arial" pitchFamily="34" charset="0"/>
                <a:ea typeface="Arial" pitchFamily="34" charset="-122"/>
                <a:cs typeface="Arial" pitchFamily="34" charset="-120"/>
              </a:rPr>
              <a:t>Scenarios tied to named actors and campaigns: ransomware precursors, commercial command and control, cloud identity intrusion, help desk social engineering, business email compromise, Active Directory escalation.</a:t>
            </a:r>
            <a:endParaRPr lang="en-US" sz="1000" dirty="0"/>
          </a:p>
        </p:txBody>
      </p:sp>
      <p:sp>
        <p:nvSpPr>
          <p:cNvPr id="8" name="Shape 6"/>
          <p:cNvSpPr/>
          <p:nvPr/>
        </p:nvSpPr>
        <p:spPr>
          <a:xfrm>
            <a:off x="658368" y="3182112"/>
            <a:ext cx="5029200" cy="1042416"/>
          </a:xfrm>
          <a:prstGeom prst="rect">
            <a:avLst/>
          </a:prstGeom>
          <a:solidFill>
            <a:srgbClr val="F4F4F2"/>
          </a:solidFill>
          <a:ln w="9525">
            <a:solidFill>
              <a:srgbClr val="D0D0CE"/>
            </a:solidFill>
            <a:prstDash val="solid"/>
          </a:ln>
        </p:spPr>
      </p:sp>
      <p:sp>
        <p:nvSpPr>
          <p:cNvPr id="9" name="Text 7"/>
          <p:cNvSpPr txBox="1"/>
          <p:nvPr/>
        </p:nvSpPr>
        <p:spPr>
          <a:xfrm>
            <a:off x="932688" y="3310128"/>
            <a:ext cx="4480560" cy="292608"/>
          </a:xfrm>
          <a:prstGeom prst="rect">
            <a:avLst/>
          </a:prstGeom>
          <a:noFill/>
          <a:ln/>
        </p:spPr>
        <p:txBody>
          <a:bodyPr wrap="square" lIns="0" tIns="0" rIns="0" bIns="0" rtlCol="0" anchor="ctr"/>
          <a:lstStyle/>
          <a:p>
            <a:pPr indent="0" marL="0">
              <a:buNone/>
            </a:pPr>
            <a:r>
              <a:rPr lang="en-US" sz="1450" b="1" dirty="0">
                <a:solidFill>
                  <a:srgbClr val="0F0F0F"/>
                </a:solidFill>
                <a:latin typeface="Arial" pitchFamily="34" charset="0"/>
                <a:ea typeface="Arial" pitchFamily="34" charset="-122"/>
                <a:cs typeface="Arial" pitchFamily="34" charset="-120"/>
              </a:rPr>
              <a:t>Technique</a:t>
            </a:r>
            <a:endParaRPr lang="en-US" sz="1450" dirty="0"/>
          </a:p>
        </p:txBody>
      </p:sp>
      <p:sp>
        <p:nvSpPr>
          <p:cNvPr id="10" name="Text 8"/>
          <p:cNvSpPr txBox="1"/>
          <p:nvPr/>
        </p:nvSpPr>
        <p:spPr>
          <a:xfrm>
            <a:off x="932688" y="3602736"/>
            <a:ext cx="4517136" cy="548640"/>
          </a:xfrm>
          <a:prstGeom prst="rect">
            <a:avLst/>
          </a:prstGeom>
          <a:noFill/>
          <a:ln/>
        </p:spPr>
        <p:txBody>
          <a:bodyPr wrap="square" lIns="0" tIns="0" rIns="0" bIns="0" rtlCol="0" anchor="t"/>
          <a:lstStyle/>
          <a:p>
            <a:pPr indent="0" marL="0">
              <a:lnSpc>
                <a:spcPct val="115000"/>
              </a:lnSpc>
              <a:buNone/>
            </a:pPr>
            <a:r>
              <a:rPr lang="en-US" sz="1000" dirty="0">
                <a:solidFill>
                  <a:srgbClr val="53565A"/>
                </a:solidFill>
                <a:latin typeface="Arial" pitchFamily="34" charset="0"/>
                <a:ea typeface="Arial" pitchFamily="34" charset="-122"/>
                <a:cs typeface="Arial" pitchFamily="34" charset="-120"/>
              </a:rPr>
              <a:t>Standard technique based hunts: credential access, persistence, lateral movement, privilege escalation, defence evasion, discovery, exfiltration, Kubernetes, pipelines, databases, macOS.</a:t>
            </a:r>
            <a:endParaRPr lang="en-US" sz="1000" dirty="0"/>
          </a:p>
        </p:txBody>
      </p:sp>
      <p:sp>
        <p:nvSpPr>
          <p:cNvPr id="11" name="Shape 9"/>
          <p:cNvSpPr/>
          <p:nvPr/>
        </p:nvSpPr>
        <p:spPr>
          <a:xfrm>
            <a:off x="658368" y="4352544"/>
            <a:ext cx="5029200" cy="1042416"/>
          </a:xfrm>
          <a:prstGeom prst="rect">
            <a:avLst/>
          </a:prstGeom>
          <a:solidFill>
            <a:srgbClr val="F4F4F2"/>
          </a:solidFill>
          <a:ln w="9525">
            <a:solidFill>
              <a:srgbClr val="D0D0CE"/>
            </a:solidFill>
            <a:prstDash val="solid"/>
          </a:ln>
        </p:spPr>
      </p:sp>
      <p:sp>
        <p:nvSpPr>
          <p:cNvPr id="12" name="Text 10"/>
          <p:cNvSpPr txBox="1"/>
          <p:nvPr/>
        </p:nvSpPr>
        <p:spPr>
          <a:xfrm>
            <a:off x="932688" y="4480560"/>
            <a:ext cx="4480560" cy="292608"/>
          </a:xfrm>
          <a:prstGeom prst="rect">
            <a:avLst/>
          </a:prstGeom>
          <a:noFill/>
          <a:ln/>
        </p:spPr>
        <p:txBody>
          <a:bodyPr wrap="square" lIns="0" tIns="0" rIns="0" bIns="0" rtlCol="0" anchor="ctr"/>
          <a:lstStyle/>
          <a:p>
            <a:pPr indent="0" marL="0">
              <a:buNone/>
            </a:pPr>
            <a:r>
              <a:rPr lang="en-US" sz="1450" b="1" dirty="0">
                <a:solidFill>
                  <a:srgbClr val="0F0F0F"/>
                </a:solidFill>
                <a:latin typeface="Arial" pitchFamily="34" charset="0"/>
                <a:ea typeface="Arial" pitchFamily="34" charset="-122"/>
                <a:cs typeface="Arial" pitchFamily="34" charset="-120"/>
              </a:rPr>
              <a:t>Mathematical</a:t>
            </a:r>
            <a:endParaRPr lang="en-US" sz="1450" dirty="0"/>
          </a:p>
        </p:txBody>
      </p:sp>
      <p:sp>
        <p:nvSpPr>
          <p:cNvPr id="13" name="Text 11"/>
          <p:cNvSpPr txBox="1"/>
          <p:nvPr/>
        </p:nvSpPr>
        <p:spPr>
          <a:xfrm>
            <a:off x="932688" y="4773168"/>
            <a:ext cx="4517136" cy="548640"/>
          </a:xfrm>
          <a:prstGeom prst="rect">
            <a:avLst/>
          </a:prstGeom>
          <a:noFill/>
          <a:ln/>
        </p:spPr>
        <p:txBody>
          <a:bodyPr wrap="square" lIns="0" tIns="0" rIns="0" bIns="0" rtlCol="0" anchor="t"/>
          <a:lstStyle/>
          <a:p>
            <a:pPr indent="0" marL="0">
              <a:lnSpc>
                <a:spcPct val="115000"/>
              </a:lnSpc>
              <a:buNone/>
            </a:pPr>
            <a:r>
              <a:rPr lang="en-US" sz="1000" dirty="0">
                <a:solidFill>
                  <a:srgbClr val="53565A"/>
                </a:solidFill>
                <a:latin typeface="Arial" pitchFamily="34" charset="0"/>
                <a:ea typeface="Arial" pitchFamily="34" charset="-122"/>
                <a:cs typeface="Arial" pitchFamily="34" charset="-120"/>
              </a:rPr>
              <a:t>Hunts built on mathematics rather than signatures: Fourier beaconing, Shannon entropy, long tail stacking, robust outlier detection, Benford's law and temporal profiling.</a:t>
            </a:r>
            <a:endParaRPr lang="en-US" sz="1000" dirty="0"/>
          </a:p>
        </p:txBody>
      </p:sp>
      <p:sp>
        <p:nvSpPr>
          <p:cNvPr id="14" name="Text 12"/>
          <p:cNvSpPr txBox="1"/>
          <p:nvPr/>
        </p:nvSpPr>
        <p:spPr>
          <a:xfrm>
            <a:off x="658368" y="5614416"/>
            <a:ext cx="5029200" cy="365760"/>
          </a:xfrm>
          <a:prstGeom prst="rect">
            <a:avLst/>
          </a:prstGeom>
          <a:noFill/>
          <a:ln/>
        </p:spPr>
        <p:txBody>
          <a:bodyPr wrap="square" lIns="0" tIns="0" rIns="0" bIns="0" rtlCol="0" anchor="t"/>
          <a:lstStyle/>
          <a:p>
            <a:pPr indent="0" marL="0">
              <a:buNone/>
            </a:pPr>
            <a:r>
              <a:rPr lang="en-US" sz="1100" i="1" dirty="0">
                <a:solidFill>
                  <a:srgbClr val="75787B"/>
                </a:solidFill>
                <a:latin typeface="Arial" pitchFamily="34" charset="0"/>
                <a:ea typeface="Arial" pitchFamily="34" charset="-122"/>
                <a:cs typeface="Arial" pitchFamily="34" charset="-120"/>
              </a:rPr>
              <a:t>Every hypothesis declares its question, the telemetry it needs and the detections that will run.</a:t>
            </a:r>
            <a:endParaRPr lang="en-US" sz="1100" dirty="0"/>
          </a:p>
        </p:txBody>
      </p:sp>
      <p:sp>
        <p:nvSpPr>
          <p:cNvPr id="15" name="Shape 13"/>
          <p:cNvSpPr/>
          <p:nvPr/>
        </p:nvSpPr>
        <p:spPr>
          <a:xfrm>
            <a:off x="6076188" y="2075160"/>
            <a:ext cx="5495544" cy="3475777"/>
          </a:xfrm>
          <a:prstGeom prst="rect">
            <a:avLst/>
          </a:prstGeom>
          <a:solidFill>
            <a:srgbClr val="FFFFFF"/>
          </a:solidFill>
          <a:ln w="12700">
            <a:solidFill>
              <a:srgbClr val="D0D0CE"/>
            </a:solidFill>
            <a:prstDash val="solid"/>
          </a:ln>
        </p:spPr>
      </p:sp>
      <p:pic>
        <p:nvPicPr>
          <p:cNvPr id="16" name="Image 0" descr="img/03-hypotheses.png">    </p:cNvPr>
          <p:cNvPicPr>
            <a:picLocks noChangeAspect="1"/>
          </p:cNvPicPr>
          <p:nvPr/>
        </p:nvPicPr>
        <p:blipFill>
          <a:blip r:embed="rId1"/>
          <a:stretch>
            <a:fillRect/>
          </a:stretch>
        </p:blipFill>
        <p:spPr>
          <a:xfrm>
            <a:off x="6108192" y="2107164"/>
            <a:ext cx="5431536" cy="3411769"/>
          </a:xfrm>
          <a:prstGeom prst="rect">
            <a:avLst/>
          </a:prstGeom>
        </p:spPr>
      </p:pic>
      <p:sp>
        <p:nvSpPr>
          <p:cNvPr id="17" name="Text 14"/>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8" name="Text 15"/>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58368" y="1920240"/>
            <a:ext cx="1828800" cy="822960"/>
          </a:xfrm>
          <a:prstGeom prst="rect">
            <a:avLst/>
          </a:prstGeom>
          <a:noFill/>
          <a:ln/>
        </p:spPr>
        <p:txBody>
          <a:bodyPr wrap="square" lIns="0" tIns="0" rIns="0" bIns="0" rtlCol="0" anchor="ctr"/>
          <a:lstStyle/>
          <a:p>
            <a:pPr indent="0" marL="0">
              <a:buNone/>
            </a:pPr>
            <a:r>
              <a:rPr lang="en-US" sz="6400" b="1" dirty="0">
                <a:solidFill>
                  <a:srgbClr val="86BC25"/>
                </a:solidFill>
                <a:latin typeface="Arial" pitchFamily="34" charset="0"/>
                <a:ea typeface="Arial" pitchFamily="34" charset="-122"/>
                <a:cs typeface="Arial" pitchFamily="34" charset="-120"/>
              </a:rPr>
              <a:t>02</a:t>
            </a:r>
            <a:endParaRPr lang="en-US" sz="6400" dirty="0"/>
          </a:p>
        </p:txBody>
      </p:sp>
      <p:sp>
        <p:nvSpPr>
          <p:cNvPr id="3" name="Text 1"/>
          <p:cNvSpPr txBox="1"/>
          <p:nvPr/>
        </p:nvSpPr>
        <p:spPr>
          <a:xfrm>
            <a:off x="658368" y="2788920"/>
            <a:ext cx="5486400" cy="237744"/>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PART TWO</a:t>
            </a:r>
            <a:endParaRPr lang="en-US" sz="1050" dirty="0"/>
          </a:p>
        </p:txBody>
      </p:sp>
      <p:sp>
        <p:nvSpPr>
          <p:cNvPr id="4" name="Text 2"/>
          <p:cNvSpPr txBox="1"/>
          <p:nvPr/>
        </p:nvSpPr>
        <p:spPr>
          <a:xfrm>
            <a:off x="658368" y="3127248"/>
            <a:ext cx="7498080" cy="8229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Architecture</a:t>
            </a:r>
            <a:endParaRPr lang="en-US" sz="4000" dirty="0"/>
          </a:p>
        </p:txBody>
      </p:sp>
      <p:sp>
        <p:nvSpPr>
          <p:cNvPr id="5" name="Text 3"/>
          <p:cNvSpPr txBox="1"/>
          <p:nvPr/>
        </p:nvSpPr>
        <p:spPr>
          <a:xfrm>
            <a:off x="658368" y="4059936"/>
            <a:ext cx="6766560" cy="731520"/>
          </a:xfrm>
          <a:prstGeom prst="rect">
            <a:avLst/>
          </a:prstGeom>
          <a:noFill/>
          <a:ln/>
        </p:spPr>
        <p:txBody>
          <a:bodyPr wrap="square" lIns="0" tIns="0" rIns="0" bIns="0" rtlCol="0" anchor="t"/>
          <a:lstStyle/>
          <a:p>
            <a:pPr indent="0" marL="0">
              <a:lnSpc>
                <a:spcPct val="130000"/>
              </a:lnSpc>
              <a:buNone/>
            </a:pPr>
            <a:r>
              <a:rPr lang="en-US" sz="1400" dirty="0">
                <a:solidFill>
                  <a:srgbClr val="B8B8B6"/>
                </a:solidFill>
                <a:latin typeface="Arial" pitchFamily="34" charset="0"/>
                <a:ea typeface="Arial" pitchFamily="34" charset="-122"/>
                <a:cs typeface="Arial" pitchFamily="34" charset="-120"/>
              </a:rPr>
              <a:t>A dependency free detection engine, a thin API in front of it and an interface with no build step.</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HOW IT IS BUILT</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Four layers, one process</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58368" y="2048256"/>
            <a:ext cx="7223760" cy="713232"/>
          </a:xfrm>
          <a:prstGeom prst="rect">
            <a:avLst/>
          </a:prstGeom>
          <a:solidFill>
            <a:srgbClr val="FFFFFF"/>
          </a:solidFill>
          <a:ln w="9525">
            <a:solidFill>
              <a:srgbClr val="D0D0CE"/>
            </a:solidFill>
            <a:prstDash val="solid"/>
          </a:ln>
        </p:spPr>
      </p:sp>
      <p:sp>
        <p:nvSpPr>
          <p:cNvPr id="6" name="Text 4"/>
          <p:cNvSpPr txBox="1"/>
          <p:nvPr/>
        </p:nvSpPr>
        <p:spPr>
          <a:xfrm>
            <a:off x="950976" y="2103120"/>
            <a:ext cx="1737360" cy="310896"/>
          </a:xfrm>
          <a:prstGeom prst="rect">
            <a:avLst/>
          </a:prstGeom>
          <a:noFill/>
          <a:ln/>
        </p:spPr>
        <p:txBody>
          <a:bodyPr wrap="square" lIns="0" tIns="0" rIns="0" bIns="0" rtlCol="0" anchor="ctr"/>
          <a:lstStyle/>
          <a:p>
            <a:pPr indent="0" marL="0">
              <a:buNone/>
            </a:pPr>
            <a:r>
              <a:rPr lang="en-US" sz="1400" b="1" dirty="0">
                <a:solidFill>
                  <a:srgbClr val="0F0F0F"/>
                </a:solidFill>
                <a:latin typeface="Arial" pitchFamily="34" charset="0"/>
                <a:ea typeface="Arial" pitchFamily="34" charset="-122"/>
                <a:cs typeface="Arial" pitchFamily="34" charset="-120"/>
              </a:rPr>
              <a:t>Interface</a:t>
            </a:r>
            <a:endParaRPr lang="en-US" sz="1400" dirty="0"/>
          </a:p>
        </p:txBody>
      </p:sp>
      <p:sp>
        <p:nvSpPr>
          <p:cNvPr id="7" name="Text 5"/>
          <p:cNvSpPr txBox="1"/>
          <p:nvPr/>
        </p:nvSpPr>
        <p:spPr>
          <a:xfrm>
            <a:off x="950976" y="2432304"/>
            <a:ext cx="2377440" cy="256032"/>
          </a:xfrm>
          <a:prstGeom prst="rect">
            <a:avLst/>
          </a:prstGeom>
          <a:noFill/>
          <a:ln/>
        </p:spPr>
        <p:txBody>
          <a:bodyPr wrap="square" lIns="0" tIns="0" rIns="0" bIns="0" rtlCol="0" anchor="ctr"/>
          <a:lstStyle/>
          <a:p>
            <a:pPr indent="0" marL="0">
              <a:buNone/>
            </a:pPr>
            <a:r>
              <a:rPr lang="en-US" sz="900" dirty="0">
                <a:solidFill>
                  <a:srgbClr val="75787B"/>
                </a:solidFill>
                <a:latin typeface="Courier New" pitchFamily="34" charset="0"/>
                <a:ea typeface="Courier New" pitchFamily="34" charset="-122"/>
                <a:cs typeface="Courier New" pitchFamily="34" charset="-120"/>
              </a:rPr>
              <a:t>web/</a:t>
            </a:r>
            <a:endParaRPr lang="en-US" sz="900" dirty="0"/>
          </a:p>
        </p:txBody>
      </p:sp>
      <p:sp>
        <p:nvSpPr>
          <p:cNvPr id="8" name="Text 6"/>
          <p:cNvSpPr txBox="1"/>
          <p:nvPr/>
        </p:nvSpPr>
        <p:spPr>
          <a:xfrm>
            <a:off x="3401568" y="2103120"/>
            <a:ext cx="4315968" cy="603504"/>
          </a:xfrm>
          <a:prstGeom prst="rect">
            <a:avLst/>
          </a:prstGeom>
          <a:noFill/>
          <a:ln/>
        </p:spPr>
        <p:txBody>
          <a:bodyPr wrap="square" lIns="0" tIns="0" rIns="0" bIns="0" rtlCol="0" anchor="ctr"/>
          <a:lstStyle/>
          <a:p>
            <a:pPr indent="0" marL="0">
              <a:lnSpc>
                <a:spcPct val="115000"/>
              </a:lnSpc>
              <a:buNone/>
            </a:pPr>
            <a:r>
              <a:rPr lang="en-US" sz="1150" dirty="0">
                <a:solidFill>
                  <a:srgbClr val="53565A"/>
                </a:solidFill>
                <a:latin typeface="Arial" pitchFamily="34" charset="0"/>
                <a:ea typeface="Arial" pitchFamily="34" charset="-122"/>
                <a:cs typeface="Arial" pitchFamily="34" charset="-120"/>
              </a:rPr>
              <a:t>Vanilla JavaScript, no framework and no build step</a:t>
            </a:r>
            <a:endParaRPr lang="en-US" sz="1150" dirty="0"/>
          </a:p>
        </p:txBody>
      </p:sp>
      <p:sp>
        <p:nvSpPr>
          <p:cNvPr id="9" name="Shape 7"/>
          <p:cNvSpPr/>
          <p:nvPr/>
        </p:nvSpPr>
        <p:spPr>
          <a:xfrm>
            <a:off x="658368" y="2889504"/>
            <a:ext cx="7223760" cy="713232"/>
          </a:xfrm>
          <a:prstGeom prst="rect">
            <a:avLst/>
          </a:prstGeom>
          <a:solidFill>
            <a:srgbClr val="FFFFFF"/>
          </a:solidFill>
          <a:ln w="9525">
            <a:solidFill>
              <a:srgbClr val="D0D0CE"/>
            </a:solidFill>
            <a:prstDash val="solid"/>
          </a:ln>
        </p:spPr>
      </p:sp>
      <p:sp>
        <p:nvSpPr>
          <p:cNvPr id="10" name="Text 8"/>
          <p:cNvSpPr txBox="1"/>
          <p:nvPr/>
        </p:nvSpPr>
        <p:spPr>
          <a:xfrm>
            <a:off x="950976" y="2944368"/>
            <a:ext cx="1737360" cy="310896"/>
          </a:xfrm>
          <a:prstGeom prst="rect">
            <a:avLst/>
          </a:prstGeom>
          <a:noFill/>
          <a:ln/>
        </p:spPr>
        <p:txBody>
          <a:bodyPr wrap="square" lIns="0" tIns="0" rIns="0" bIns="0" rtlCol="0" anchor="ctr"/>
          <a:lstStyle/>
          <a:p>
            <a:pPr indent="0" marL="0">
              <a:buNone/>
            </a:pPr>
            <a:r>
              <a:rPr lang="en-US" sz="1400" b="1" dirty="0">
                <a:solidFill>
                  <a:srgbClr val="0F0F0F"/>
                </a:solidFill>
                <a:latin typeface="Arial" pitchFamily="34" charset="0"/>
                <a:ea typeface="Arial" pitchFamily="34" charset="-122"/>
                <a:cs typeface="Arial" pitchFamily="34" charset="-120"/>
              </a:rPr>
              <a:t>API</a:t>
            </a:r>
            <a:endParaRPr lang="en-US" sz="1400" dirty="0"/>
          </a:p>
        </p:txBody>
      </p:sp>
      <p:sp>
        <p:nvSpPr>
          <p:cNvPr id="11" name="Text 9"/>
          <p:cNvSpPr txBox="1"/>
          <p:nvPr/>
        </p:nvSpPr>
        <p:spPr>
          <a:xfrm>
            <a:off x="950976" y="3273552"/>
            <a:ext cx="2377440" cy="256032"/>
          </a:xfrm>
          <a:prstGeom prst="rect">
            <a:avLst/>
          </a:prstGeom>
          <a:noFill/>
          <a:ln/>
        </p:spPr>
        <p:txBody>
          <a:bodyPr wrap="square" lIns="0" tIns="0" rIns="0" bIns="0" rtlCol="0" anchor="ctr"/>
          <a:lstStyle/>
          <a:p>
            <a:pPr indent="0" marL="0">
              <a:buNone/>
            </a:pPr>
            <a:r>
              <a:rPr lang="en-US" sz="900" dirty="0">
                <a:solidFill>
                  <a:srgbClr val="75787B"/>
                </a:solidFill>
                <a:latin typeface="Courier New" pitchFamily="34" charset="0"/>
                <a:ea typeface="Courier New" pitchFamily="34" charset="-122"/>
                <a:cs typeface="Courier New" pitchFamily="34" charset="-120"/>
              </a:rPr>
              <a:t>app/routers/</a:t>
            </a:r>
            <a:endParaRPr lang="en-US" sz="900" dirty="0"/>
          </a:p>
        </p:txBody>
      </p:sp>
      <p:sp>
        <p:nvSpPr>
          <p:cNvPr id="12" name="Text 10"/>
          <p:cNvSpPr txBox="1"/>
          <p:nvPr/>
        </p:nvSpPr>
        <p:spPr>
          <a:xfrm>
            <a:off x="3401568" y="2944368"/>
            <a:ext cx="4315968" cy="603504"/>
          </a:xfrm>
          <a:prstGeom prst="rect">
            <a:avLst/>
          </a:prstGeom>
          <a:noFill/>
          <a:ln/>
        </p:spPr>
        <p:txBody>
          <a:bodyPr wrap="square" lIns="0" tIns="0" rIns="0" bIns="0" rtlCol="0" anchor="ctr"/>
          <a:lstStyle/>
          <a:p>
            <a:pPr indent="0" marL="0">
              <a:lnSpc>
                <a:spcPct val="115000"/>
              </a:lnSpc>
              <a:buNone/>
            </a:pPr>
            <a:r>
              <a:rPr lang="en-US" sz="1150" dirty="0">
                <a:solidFill>
                  <a:srgbClr val="53565A"/>
                </a:solidFill>
                <a:latin typeface="Arial" pitchFamily="34" charset="0"/>
                <a:ea typeface="Arial" pitchFamily="34" charset="-122"/>
                <a:cs typeface="Arial" pitchFamily="34" charset="-120"/>
              </a:rPr>
              <a:t>FastAPI: authentication, catalogue, hunts, reports, statistics, administration</a:t>
            </a:r>
            <a:endParaRPr lang="en-US" sz="1150" dirty="0"/>
          </a:p>
        </p:txBody>
      </p:sp>
      <p:sp>
        <p:nvSpPr>
          <p:cNvPr id="13" name="Shape 11"/>
          <p:cNvSpPr/>
          <p:nvPr/>
        </p:nvSpPr>
        <p:spPr>
          <a:xfrm>
            <a:off x="658368" y="3730752"/>
            <a:ext cx="7223760" cy="713232"/>
          </a:xfrm>
          <a:prstGeom prst="rect">
            <a:avLst/>
          </a:prstGeom>
          <a:solidFill>
            <a:srgbClr val="FFFFFF"/>
          </a:solidFill>
          <a:ln w="9525">
            <a:solidFill>
              <a:srgbClr val="D0D0CE"/>
            </a:solidFill>
            <a:prstDash val="solid"/>
          </a:ln>
        </p:spPr>
      </p:sp>
      <p:sp>
        <p:nvSpPr>
          <p:cNvPr id="14" name="Text 12"/>
          <p:cNvSpPr txBox="1"/>
          <p:nvPr/>
        </p:nvSpPr>
        <p:spPr>
          <a:xfrm>
            <a:off x="950976" y="3785616"/>
            <a:ext cx="1737360" cy="310896"/>
          </a:xfrm>
          <a:prstGeom prst="rect">
            <a:avLst/>
          </a:prstGeom>
          <a:noFill/>
          <a:ln/>
        </p:spPr>
        <p:txBody>
          <a:bodyPr wrap="square" lIns="0" tIns="0" rIns="0" bIns="0" rtlCol="0" anchor="ctr"/>
          <a:lstStyle/>
          <a:p>
            <a:pPr indent="0" marL="0">
              <a:buNone/>
            </a:pPr>
            <a:r>
              <a:rPr lang="en-US" sz="1400" b="1" dirty="0">
                <a:solidFill>
                  <a:srgbClr val="0F0F0F"/>
                </a:solidFill>
                <a:latin typeface="Arial" pitchFamily="34" charset="0"/>
                <a:ea typeface="Arial" pitchFamily="34" charset="-122"/>
                <a:cs typeface="Arial" pitchFamily="34" charset="-120"/>
              </a:rPr>
              <a:t>Services</a:t>
            </a:r>
            <a:endParaRPr lang="en-US" sz="1400" dirty="0"/>
          </a:p>
        </p:txBody>
      </p:sp>
      <p:sp>
        <p:nvSpPr>
          <p:cNvPr id="15" name="Text 13"/>
          <p:cNvSpPr txBox="1"/>
          <p:nvPr/>
        </p:nvSpPr>
        <p:spPr>
          <a:xfrm>
            <a:off x="950976" y="4114800"/>
            <a:ext cx="2377440" cy="256032"/>
          </a:xfrm>
          <a:prstGeom prst="rect">
            <a:avLst/>
          </a:prstGeom>
          <a:noFill/>
          <a:ln/>
        </p:spPr>
        <p:txBody>
          <a:bodyPr wrap="square" lIns="0" tIns="0" rIns="0" bIns="0" rtlCol="0" anchor="ctr"/>
          <a:lstStyle/>
          <a:p>
            <a:pPr indent="0" marL="0">
              <a:buNone/>
            </a:pPr>
            <a:r>
              <a:rPr lang="en-US" sz="900" dirty="0">
                <a:solidFill>
                  <a:srgbClr val="75787B"/>
                </a:solidFill>
                <a:latin typeface="Courier New" pitchFamily="34" charset="0"/>
                <a:ea typeface="Courier New" pitchFamily="34" charset="-122"/>
                <a:cs typeface="Courier New" pitchFamily="34" charset="-120"/>
              </a:rPr>
              <a:t>app/hunt_service.py, app/reporting/</a:t>
            </a:r>
            <a:endParaRPr lang="en-US" sz="900" dirty="0"/>
          </a:p>
        </p:txBody>
      </p:sp>
      <p:sp>
        <p:nvSpPr>
          <p:cNvPr id="16" name="Text 14"/>
          <p:cNvSpPr txBox="1"/>
          <p:nvPr/>
        </p:nvSpPr>
        <p:spPr>
          <a:xfrm>
            <a:off x="3401568" y="3785616"/>
            <a:ext cx="4315968" cy="603504"/>
          </a:xfrm>
          <a:prstGeom prst="rect">
            <a:avLst/>
          </a:prstGeom>
          <a:noFill/>
          <a:ln/>
        </p:spPr>
        <p:txBody>
          <a:bodyPr wrap="square" lIns="0" tIns="0" rIns="0" bIns="0" rtlCol="0" anchor="ctr"/>
          <a:lstStyle/>
          <a:p>
            <a:pPr indent="0" marL="0">
              <a:lnSpc>
                <a:spcPct val="115000"/>
              </a:lnSpc>
              <a:buNone/>
            </a:pPr>
            <a:r>
              <a:rPr lang="en-US" sz="1150" dirty="0">
                <a:solidFill>
                  <a:srgbClr val="53565A"/>
                </a:solidFill>
                <a:latin typeface="Arial" pitchFamily="34" charset="0"/>
                <a:ea typeface="Arial" pitchFamily="34" charset="-122"/>
                <a:cs typeface="Arial" pitchFamily="34" charset="-120"/>
              </a:rPr>
              <a:t>Background hunt execution, persistence, multi tenant scoping, PDF rendering</a:t>
            </a:r>
            <a:endParaRPr lang="en-US" sz="1150" dirty="0"/>
          </a:p>
        </p:txBody>
      </p:sp>
      <p:sp>
        <p:nvSpPr>
          <p:cNvPr id="17" name="Shape 15"/>
          <p:cNvSpPr/>
          <p:nvPr/>
        </p:nvSpPr>
        <p:spPr>
          <a:xfrm>
            <a:off x="658368" y="4572000"/>
            <a:ext cx="7223760" cy="713232"/>
          </a:xfrm>
          <a:prstGeom prst="rect">
            <a:avLst/>
          </a:prstGeom>
          <a:solidFill>
            <a:srgbClr val="000000"/>
          </a:solidFill>
          <a:ln w="9525">
            <a:solidFill>
              <a:srgbClr val="000000"/>
            </a:solidFill>
            <a:prstDash val="solid"/>
          </a:ln>
        </p:spPr>
      </p:sp>
      <p:sp>
        <p:nvSpPr>
          <p:cNvPr id="18" name="Text 16"/>
          <p:cNvSpPr txBox="1"/>
          <p:nvPr/>
        </p:nvSpPr>
        <p:spPr>
          <a:xfrm>
            <a:off x="950976" y="4626864"/>
            <a:ext cx="1737360" cy="310896"/>
          </a:xfrm>
          <a:prstGeom prst="rect">
            <a:avLst/>
          </a:prstGeom>
          <a:noFill/>
          <a:ln/>
        </p:spPr>
        <p:txBody>
          <a:bodyPr wrap="square" lIns="0" tIns="0" rIns="0" bIns="0" rtlCol="0" anchor="ctr"/>
          <a:lstStyle/>
          <a:p>
            <a:pPr indent="0" marL="0">
              <a:buNone/>
            </a:pPr>
            <a:r>
              <a:rPr lang="en-US" sz="1400" b="1" dirty="0">
                <a:solidFill>
                  <a:srgbClr val="86BC25"/>
                </a:solidFill>
                <a:latin typeface="Arial" pitchFamily="34" charset="0"/>
                <a:ea typeface="Arial" pitchFamily="34" charset="-122"/>
                <a:cs typeface="Arial" pitchFamily="34" charset="-120"/>
              </a:rPr>
              <a:t>Engine</a:t>
            </a:r>
            <a:endParaRPr lang="en-US" sz="1400" dirty="0"/>
          </a:p>
        </p:txBody>
      </p:sp>
      <p:sp>
        <p:nvSpPr>
          <p:cNvPr id="19" name="Text 17"/>
          <p:cNvSpPr txBox="1"/>
          <p:nvPr/>
        </p:nvSpPr>
        <p:spPr>
          <a:xfrm>
            <a:off x="950976" y="4956048"/>
            <a:ext cx="2377440" cy="256032"/>
          </a:xfrm>
          <a:prstGeom prst="rect">
            <a:avLst/>
          </a:prstGeom>
          <a:noFill/>
          <a:ln/>
        </p:spPr>
        <p:txBody>
          <a:bodyPr wrap="square" lIns="0" tIns="0" rIns="0" bIns="0" rtlCol="0" anchor="ctr"/>
          <a:lstStyle/>
          <a:p>
            <a:pPr indent="0" marL="0">
              <a:buNone/>
            </a:pPr>
            <a:r>
              <a:rPr lang="en-US" sz="900" dirty="0">
                <a:solidFill>
                  <a:srgbClr val="75787B"/>
                </a:solidFill>
                <a:latin typeface="Courier New" pitchFamily="34" charset="0"/>
                <a:ea typeface="Courier New" pitchFamily="34" charset="-122"/>
                <a:cs typeface="Courier New" pitchFamily="34" charset="-120"/>
              </a:rPr>
              <a:t>app/engine/</a:t>
            </a:r>
            <a:endParaRPr lang="en-US" sz="900" dirty="0"/>
          </a:p>
        </p:txBody>
      </p:sp>
      <p:sp>
        <p:nvSpPr>
          <p:cNvPr id="20" name="Text 18"/>
          <p:cNvSpPr txBox="1"/>
          <p:nvPr/>
        </p:nvSpPr>
        <p:spPr>
          <a:xfrm>
            <a:off x="3401568" y="4626864"/>
            <a:ext cx="4315968" cy="603504"/>
          </a:xfrm>
          <a:prstGeom prst="rect">
            <a:avLst/>
          </a:prstGeom>
          <a:noFill/>
          <a:ln/>
        </p:spPr>
        <p:txBody>
          <a:bodyPr wrap="square" lIns="0" tIns="0" rIns="0" bIns="0" rtlCol="0" anchor="ctr"/>
          <a:lstStyle/>
          <a:p>
            <a:pPr indent="0" marL="0">
              <a:lnSpc>
                <a:spcPct val="115000"/>
              </a:lnSpc>
              <a:buNone/>
            </a:pPr>
            <a:r>
              <a:rPr lang="en-US" sz="1150" dirty="0">
                <a:solidFill>
                  <a:srgbClr val="B8B8B6"/>
                </a:solidFill>
                <a:latin typeface="Arial" pitchFamily="34" charset="0"/>
                <a:ea typeface="Arial" pitchFamily="34" charset="-122"/>
                <a:cs typeface="Arial" pitchFamily="34" charset="-120"/>
              </a:rPr>
              <a:t>Ingest, parse, normalise, detect, profile and score. Dependency free Python</a:t>
            </a:r>
            <a:endParaRPr lang="en-US" sz="1150" dirty="0"/>
          </a:p>
        </p:txBody>
      </p:sp>
      <p:sp>
        <p:nvSpPr>
          <p:cNvPr id="21" name="Shape 19"/>
          <p:cNvSpPr/>
          <p:nvPr/>
        </p:nvSpPr>
        <p:spPr>
          <a:xfrm>
            <a:off x="8284464" y="2048256"/>
            <a:ext cx="3255264" cy="3163824"/>
          </a:xfrm>
          <a:prstGeom prst="rect">
            <a:avLst/>
          </a:prstGeom>
          <a:solidFill>
            <a:srgbClr val="F4F4F2"/>
          </a:solidFill>
          <a:ln w="9525">
            <a:solidFill>
              <a:srgbClr val="D0D0CE"/>
            </a:solidFill>
            <a:prstDash val="solid"/>
          </a:ln>
        </p:spPr>
      </p:sp>
      <p:sp>
        <p:nvSpPr>
          <p:cNvPr id="22" name="Text 20"/>
          <p:cNvSpPr txBox="1"/>
          <p:nvPr/>
        </p:nvSpPr>
        <p:spPr>
          <a:xfrm>
            <a:off x="8577072" y="2267712"/>
            <a:ext cx="2651760" cy="310896"/>
          </a:xfrm>
          <a:prstGeom prst="rect">
            <a:avLst/>
          </a:prstGeom>
          <a:noFill/>
          <a:ln/>
        </p:spPr>
        <p:txBody>
          <a:bodyPr wrap="square" lIns="0" tIns="0" rIns="0" bIns="0" rtlCol="0" anchor="ctr"/>
          <a:lstStyle/>
          <a:p>
            <a:pPr indent="0" marL="0">
              <a:buNone/>
            </a:pPr>
            <a:r>
              <a:rPr lang="en-US" sz="1400" b="1" dirty="0">
                <a:solidFill>
                  <a:srgbClr val="0F0F0F"/>
                </a:solidFill>
                <a:latin typeface="Arial" pitchFamily="34" charset="0"/>
                <a:ea typeface="Arial" pitchFamily="34" charset="-122"/>
                <a:cs typeface="Arial" pitchFamily="34" charset="-120"/>
              </a:rPr>
              <a:t>Design constraints</a:t>
            </a:r>
            <a:endParaRPr lang="en-US" sz="1400" dirty="0"/>
          </a:p>
        </p:txBody>
      </p:sp>
      <p:sp>
        <p:nvSpPr>
          <p:cNvPr id="23" name="Text 21"/>
          <p:cNvSpPr txBox="1"/>
          <p:nvPr/>
        </p:nvSpPr>
        <p:spPr>
          <a:xfrm>
            <a:off x="8577072" y="2670048"/>
            <a:ext cx="2651760" cy="237744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050" dirty="0">
                <a:solidFill>
                  <a:srgbClr val="53565A"/>
                </a:solidFill>
                <a:latin typeface="Arial" pitchFamily="34" charset="0"/>
                <a:ea typeface="Arial" pitchFamily="34" charset="-122"/>
                <a:cs typeface="Arial" pitchFamily="34" charset="-120"/>
              </a:rPr>
              <a:t>The engine imports nothing optional, so it runs anywhere Python 3.11 runs.</a:t>
            </a:r>
            <a:endParaRPr lang="en-US" sz="1050" dirty="0"/>
          </a:p>
          <a:p>
            <a:pPr marL="342900" indent="-342900">
              <a:lnSpc>
                <a:spcPct val="120000"/>
              </a:lnSpc>
              <a:spcAft>
                <a:spcPts val="800"/>
              </a:spcAft>
              <a:buSzPct val="100000"/>
              <a:buChar char="•"/>
            </a:pPr>
            <a:r>
              <a:rPr lang="en-US" sz="1050" dirty="0">
                <a:solidFill>
                  <a:srgbClr val="53565A"/>
                </a:solidFill>
                <a:latin typeface="Arial" pitchFamily="34" charset="0"/>
                <a:ea typeface="Arial" pitchFamily="34" charset="-122"/>
                <a:cs typeface="Arial" pitchFamily="34" charset="-120"/>
              </a:rPr>
              <a:t>A test fails the build if the engine ever imports the AI package.</a:t>
            </a:r>
            <a:endParaRPr lang="en-US" sz="1050" dirty="0"/>
          </a:p>
          <a:p>
            <a:pPr marL="342900" indent="-342900">
              <a:lnSpc>
                <a:spcPct val="120000"/>
              </a:lnSpc>
              <a:spcAft>
                <a:spcPts val="800"/>
              </a:spcAft>
              <a:buSzPct val="100000"/>
              <a:buChar char="•"/>
            </a:pPr>
            <a:r>
              <a:rPr lang="en-US" sz="1050" dirty="0">
                <a:solidFill>
                  <a:srgbClr val="53565A"/>
                </a:solidFill>
                <a:latin typeface="Arial" pitchFamily="34" charset="0"/>
                <a:ea typeface="Arial" pitchFamily="34" charset="-122"/>
                <a:cs typeface="Arial" pitchFamily="34" charset="-120"/>
              </a:rPr>
              <a:t>Any SQLAlchemy database, SQLite by default and PostgreSQL in production.</a:t>
            </a:r>
            <a:endParaRPr lang="en-US" sz="1050" dirty="0"/>
          </a:p>
          <a:p>
            <a:pPr marL="342900" indent="-342900">
              <a:lnSpc>
                <a:spcPct val="120000"/>
              </a:lnSpc>
              <a:spcAft>
                <a:spcPts val="800"/>
              </a:spcAft>
              <a:buSzPct val="100000"/>
              <a:buChar char="•"/>
            </a:pPr>
            <a:r>
              <a:rPr lang="en-US" sz="1050" dirty="0">
                <a:solidFill>
                  <a:srgbClr val="53565A"/>
                </a:solidFill>
                <a:latin typeface="Arial" pitchFamily="34" charset="0"/>
                <a:ea typeface="Arial" pitchFamily="34" charset="-122"/>
                <a:cs typeface="Arial" pitchFamily="34" charset="-120"/>
              </a:rPr>
              <a:t>The AI layer is a feature flag: with no model server the platform behaves exactly as it does today.</a:t>
            </a:r>
            <a:endParaRPr lang="en-US" sz="1050" dirty="0"/>
          </a:p>
        </p:txBody>
      </p:sp>
      <p:sp>
        <p:nvSpPr>
          <p:cNvPr id="24" name="Text 22"/>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25" name="Text 23"/>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THE ENGINE</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One pass over the evidence</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58368" y="2084832"/>
            <a:ext cx="1709928" cy="2432304"/>
          </a:xfrm>
          <a:prstGeom prst="rect">
            <a:avLst/>
          </a:prstGeom>
          <a:solidFill>
            <a:srgbClr val="FFFFFF"/>
          </a:solidFill>
          <a:ln w="9525">
            <a:solidFill>
              <a:srgbClr val="D0D0CE"/>
            </a:solidFill>
            <a:prstDash val="solid"/>
          </a:ln>
        </p:spPr>
      </p:sp>
      <p:sp>
        <p:nvSpPr>
          <p:cNvPr id="6" name="Text 4"/>
          <p:cNvSpPr txBox="1"/>
          <p:nvPr/>
        </p:nvSpPr>
        <p:spPr>
          <a:xfrm>
            <a:off x="859536" y="2249424"/>
            <a:ext cx="1280160" cy="274320"/>
          </a:xfrm>
          <a:prstGeom prst="rect">
            <a:avLst/>
          </a:prstGeom>
          <a:noFill/>
          <a:ln/>
        </p:spPr>
        <p:txBody>
          <a:bodyPr wrap="square" lIns="0" tIns="0" rIns="0" bIns="0" rtlCol="0" anchor="ctr"/>
          <a:lstStyle/>
          <a:p>
            <a:pPr indent="0" marL="0">
              <a:buNone/>
            </a:pPr>
            <a:r>
              <a:rPr lang="en-US" sz="1100" b="1" dirty="0">
                <a:solidFill>
                  <a:srgbClr val="86BC25"/>
                </a:solidFill>
                <a:latin typeface="Arial" pitchFamily="34" charset="0"/>
                <a:ea typeface="Arial" pitchFamily="34" charset="-122"/>
                <a:cs typeface="Arial" pitchFamily="34" charset="-120"/>
              </a:rPr>
              <a:t>01</a:t>
            </a:r>
            <a:endParaRPr lang="en-US" sz="1100" dirty="0"/>
          </a:p>
        </p:txBody>
      </p:sp>
      <p:sp>
        <p:nvSpPr>
          <p:cNvPr id="7" name="Text 5"/>
          <p:cNvSpPr txBox="1"/>
          <p:nvPr/>
        </p:nvSpPr>
        <p:spPr>
          <a:xfrm>
            <a:off x="859536" y="2542032"/>
            <a:ext cx="1335024" cy="310896"/>
          </a:xfrm>
          <a:prstGeom prst="rect">
            <a:avLst/>
          </a:prstGeom>
          <a:noFill/>
          <a:ln/>
        </p:spPr>
        <p:txBody>
          <a:bodyPr wrap="square" lIns="0" tIns="0" rIns="0" bIns="0" rtlCol="0" anchor="ctr"/>
          <a:lstStyle/>
          <a:p>
            <a:pPr indent="0" marL="0">
              <a:buNone/>
            </a:pPr>
            <a:r>
              <a:rPr lang="en-US" sz="1450" b="1" dirty="0">
                <a:solidFill>
                  <a:srgbClr val="0F0F0F"/>
                </a:solidFill>
                <a:latin typeface="Arial" pitchFamily="34" charset="0"/>
                <a:ea typeface="Arial" pitchFamily="34" charset="-122"/>
                <a:cs typeface="Arial" pitchFamily="34" charset="-120"/>
              </a:rPr>
              <a:t>Ingest</a:t>
            </a:r>
            <a:endParaRPr lang="en-US" sz="1450" dirty="0"/>
          </a:p>
        </p:txBody>
      </p:sp>
      <p:sp>
        <p:nvSpPr>
          <p:cNvPr id="8" name="Text 6"/>
          <p:cNvSpPr txBox="1"/>
          <p:nvPr/>
        </p:nvSpPr>
        <p:spPr>
          <a:xfrm>
            <a:off x="859536" y="2907792"/>
            <a:ext cx="1335024" cy="1463040"/>
          </a:xfrm>
          <a:prstGeom prst="rect">
            <a:avLst/>
          </a:prstGeom>
          <a:noFill/>
          <a:ln/>
        </p:spPr>
        <p:txBody>
          <a:bodyPr wrap="square" lIns="0" tIns="0" rIns="0" bIns="0" rtlCol="0" anchor="t"/>
          <a:lstStyle/>
          <a:p>
            <a:pPr indent="0" marL="0">
              <a:lnSpc>
                <a:spcPct val="120000"/>
              </a:lnSpc>
              <a:buNone/>
            </a:pPr>
            <a:r>
              <a:rPr lang="en-US" sz="950" dirty="0">
                <a:solidFill>
                  <a:srgbClr val="53565A"/>
                </a:solidFill>
                <a:latin typeface="Arial" pitchFamily="34" charset="0"/>
                <a:ea typeface="Arial" pitchFamily="34" charset="-122"/>
                <a:cs typeface="Arial" pitchFamily="34" charset="-120"/>
              </a:rPr>
              <a:t>Archive extracted with zip slip and size protections. A damaged member is skipped and reported, never fatal.</a:t>
            </a:r>
            <a:endParaRPr lang="en-US" sz="950" dirty="0"/>
          </a:p>
        </p:txBody>
      </p:sp>
      <p:sp>
        <p:nvSpPr>
          <p:cNvPr id="9" name="Shape 7"/>
          <p:cNvSpPr/>
          <p:nvPr/>
        </p:nvSpPr>
        <p:spPr>
          <a:xfrm>
            <a:off x="2418588" y="3246120"/>
            <a:ext cx="73152" cy="73152"/>
          </a:xfrm>
          <a:prstGeom prst="rect">
            <a:avLst/>
          </a:prstGeom>
          <a:solidFill>
            <a:srgbClr val="86BC25"/>
          </a:solidFill>
          <a:ln/>
        </p:spPr>
      </p:sp>
      <p:sp>
        <p:nvSpPr>
          <p:cNvPr id="10" name="Shape 8"/>
          <p:cNvSpPr/>
          <p:nvPr/>
        </p:nvSpPr>
        <p:spPr>
          <a:xfrm>
            <a:off x="2542032" y="2084832"/>
            <a:ext cx="1709928" cy="2432304"/>
          </a:xfrm>
          <a:prstGeom prst="rect">
            <a:avLst/>
          </a:prstGeom>
          <a:solidFill>
            <a:srgbClr val="FFFFFF"/>
          </a:solidFill>
          <a:ln w="9525">
            <a:solidFill>
              <a:srgbClr val="D0D0CE"/>
            </a:solidFill>
            <a:prstDash val="solid"/>
          </a:ln>
        </p:spPr>
      </p:sp>
      <p:sp>
        <p:nvSpPr>
          <p:cNvPr id="11" name="Text 9"/>
          <p:cNvSpPr txBox="1"/>
          <p:nvPr/>
        </p:nvSpPr>
        <p:spPr>
          <a:xfrm>
            <a:off x="2743200" y="2249424"/>
            <a:ext cx="1280160" cy="274320"/>
          </a:xfrm>
          <a:prstGeom prst="rect">
            <a:avLst/>
          </a:prstGeom>
          <a:noFill/>
          <a:ln/>
        </p:spPr>
        <p:txBody>
          <a:bodyPr wrap="square" lIns="0" tIns="0" rIns="0" bIns="0" rtlCol="0" anchor="ctr"/>
          <a:lstStyle/>
          <a:p>
            <a:pPr indent="0" marL="0">
              <a:buNone/>
            </a:pPr>
            <a:r>
              <a:rPr lang="en-US" sz="1100" b="1" dirty="0">
                <a:solidFill>
                  <a:srgbClr val="86BC25"/>
                </a:solidFill>
                <a:latin typeface="Arial" pitchFamily="34" charset="0"/>
                <a:ea typeface="Arial" pitchFamily="34" charset="-122"/>
                <a:cs typeface="Arial" pitchFamily="34" charset="-120"/>
              </a:rPr>
              <a:t>02</a:t>
            </a:r>
            <a:endParaRPr lang="en-US" sz="1100" dirty="0"/>
          </a:p>
        </p:txBody>
      </p:sp>
      <p:sp>
        <p:nvSpPr>
          <p:cNvPr id="12" name="Text 10"/>
          <p:cNvSpPr txBox="1"/>
          <p:nvPr/>
        </p:nvSpPr>
        <p:spPr>
          <a:xfrm>
            <a:off x="2743200" y="2542032"/>
            <a:ext cx="1335024" cy="310896"/>
          </a:xfrm>
          <a:prstGeom prst="rect">
            <a:avLst/>
          </a:prstGeom>
          <a:noFill/>
          <a:ln/>
        </p:spPr>
        <p:txBody>
          <a:bodyPr wrap="square" lIns="0" tIns="0" rIns="0" bIns="0" rtlCol="0" anchor="ctr"/>
          <a:lstStyle/>
          <a:p>
            <a:pPr indent="0" marL="0">
              <a:buNone/>
            </a:pPr>
            <a:r>
              <a:rPr lang="en-US" sz="1450" b="1" dirty="0">
                <a:solidFill>
                  <a:srgbClr val="0F0F0F"/>
                </a:solidFill>
                <a:latin typeface="Arial" pitchFamily="34" charset="0"/>
                <a:ea typeface="Arial" pitchFamily="34" charset="-122"/>
                <a:cs typeface="Arial" pitchFamily="34" charset="-120"/>
              </a:rPr>
              <a:t>Parse</a:t>
            </a:r>
            <a:endParaRPr lang="en-US" sz="1450" dirty="0"/>
          </a:p>
        </p:txBody>
      </p:sp>
      <p:sp>
        <p:nvSpPr>
          <p:cNvPr id="13" name="Text 11"/>
          <p:cNvSpPr txBox="1"/>
          <p:nvPr/>
        </p:nvSpPr>
        <p:spPr>
          <a:xfrm>
            <a:off x="2743200" y="2907792"/>
            <a:ext cx="1335024" cy="1463040"/>
          </a:xfrm>
          <a:prstGeom prst="rect">
            <a:avLst/>
          </a:prstGeom>
          <a:noFill/>
          <a:ln/>
        </p:spPr>
        <p:txBody>
          <a:bodyPr wrap="square" lIns="0" tIns="0" rIns="0" bIns="0" rtlCol="0" anchor="t"/>
          <a:lstStyle/>
          <a:p>
            <a:pPr indent="0" marL="0">
              <a:lnSpc>
                <a:spcPct val="120000"/>
              </a:lnSpc>
              <a:buNone/>
            </a:pPr>
            <a:r>
              <a:rPr lang="en-US" sz="950" dirty="0">
                <a:solidFill>
                  <a:srgbClr val="53565A"/>
                </a:solidFill>
                <a:latin typeface="Arial" pitchFamily="34" charset="0"/>
                <a:ea typeface="Arial" pitchFamily="34" charset="-122"/>
                <a:cs typeface="Arial" pitchFamily="34" charset="-120"/>
              </a:rPr>
              <a:t>Every file is sniffed and scored against every parser, with a free text fallback that still recovers timestamps.</a:t>
            </a:r>
            <a:endParaRPr lang="en-US" sz="950" dirty="0"/>
          </a:p>
        </p:txBody>
      </p:sp>
      <p:sp>
        <p:nvSpPr>
          <p:cNvPr id="14" name="Shape 12"/>
          <p:cNvSpPr/>
          <p:nvPr/>
        </p:nvSpPr>
        <p:spPr>
          <a:xfrm>
            <a:off x="4302252" y="3246120"/>
            <a:ext cx="73152" cy="73152"/>
          </a:xfrm>
          <a:prstGeom prst="rect">
            <a:avLst/>
          </a:prstGeom>
          <a:solidFill>
            <a:srgbClr val="86BC25"/>
          </a:solidFill>
          <a:ln/>
        </p:spPr>
      </p:sp>
      <p:sp>
        <p:nvSpPr>
          <p:cNvPr id="15" name="Shape 13"/>
          <p:cNvSpPr/>
          <p:nvPr/>
        </p:nvSpPr>
        <p:spPr>
          <a:xfrm>
            <a:off x="4425696" y="2084832"/>
            <a:ext cx="1709928" cy="2432304"/>
          </a:xfrm>
          <a:prstGeom prst="rect">
            <a:avLst/>
          </a:prstGeom>
          <a:solidFill>
            <a:srgbClr val="FFFFFF"/>
          </a:solidFill>
          <a:ln w="9525">
            <a:solidFill>
              <a:srgbClr val="D0D0CE"/>
            </a:solidFill>
            <a:prstDash val="solid"/>
          </a:ln>
        </p:spPr>
      </p:sp>
      <p:sp>
        <p:nvSpPr>
          <p:cNvPr id="16" name="Text 14"/>
          <p:cNvSpPr txBox="1"/>
          <p:nvPr/>
        </p:nvSpPr>
        <p:spPr>
          <a:xfrm>
            <a:off x="4626864" y="2249424"/>
            <a:ext cx="1280160" cy="274320"/>
          </a:xfrm>
          <a:prstGeom prst="rect">
            <a:avLst/>
          </a:prstGeom>
          <a:noFill/>
          <a:ln/>
        </p:spPr>
        <p:txBody>
          <a:bodyPr wrap="square" lIns="0" tIns="0" rIns="0" bIns="0" rtlCol="0" anchor="ctr"/>
          <a:lstStyle/>
          <a:p>
            <a:pPr indent="0" marL="0">
              <a:buNone/>
            </a:pPr>
            <a:r>
              <a:rPr lang="en-US" sz="1100" b="1" dirty="0">
                <a:solidFill>
                  <a:srgbClr val="86BC25"/>
                </a:solidFill>
                <a:latin typeface="Arial" pitchFamily="34" charset="0"/>
                <a:ea typeface="Arial" pitchFamily="34" charset="-122"/>
                <a:cs typeface="Arial" pitchFamily="34" charset="-120"/>
              </a:rPr>
              <a:t>03</a:t>
            </a:r>
            <a:endParaRPr lang="en-US" sz="1100" dirty="0"/>
          </a:p>
        </p:txBody>
      </p:sp>
      <p:sp>
        <p:nvSpPr>
          <p:cNvPr id="17" name="Text 15"/>
          <p:cNvSpPr txBox="1"/>
          <p:nvPr/>
        </p:nvSpPr>
        <p:spPr>
          <a:xfrm>
            <a:off x="4626864" y="2542032"/>
            <a:ext cx="1335024" cy="310896"/>
          </a:xfrm>
          <a:prstGeom prst="rect">
            <a:avLst/>
          </a:prstGeom>
          <a:noFill/>
          <a:ln/>
        </p:spPr>
        <p:txBody>
          <a:bodyPr wrap="square" lIns="0" tIns="0" rIns="0" bIns="0" rtlCol="0" anchor="ctr"/>
          <a:lstStyle/>
          <a:p>
            <a:pPr indent="0" marL="0">
              <a:buNone/>
            </a:pPr>
            <a:r>
              <a:rPr lang="en-US" sz="1450" b="1" dirty="0">
                <a:solidFill>
                  <a:srgbClr val="0F0F0F"/>
                </a:solidFill>
                <a:latin typeface="Arial" pitchFamily="34" charset="0"/>
                <a:ea typeface="Arial" pitchFamily="34" charset="-122"/>
                <a:cs typeface="Arial" pitchFamily="34" charset="-120"/>
              </a:rPr>
              <a:t>Normalise</a:t>
            </a:r>
            <a:endParaRPr lang="en-US" sz="1450" dirty="0"/>
          </a:p>
        </p:txBody>
      </p:sp>
      <p:sp>
        <p:nvSpPr>
          <p:cNvPr id="18" name="Text 16"/>
          <p:cNvSpPr txBox="1"/>
          <p:nvPr/>
        </p:nvSpPr>
        <p:spPr>
          <a:xfrm>
            <a:off x="4626864" y="2907792"/>
            <a:ext cx="1335024" cy="1463040"/>
          </a:xfrm>
          <a:prstGeom prst="rect">
            <a:avLst/>
          </a:prstGeom>
          <a:noFill/>
          <a:ln/>
        </p:spPr>
        <p:txBody>
          <a:bodyPr wrap="square" lIns="0" tIns="0" rIns="0" bIns="0" rtlCol="0" anchor="t"/>
          <a:lstStyle/>
          <a:p>
            <a:pPr indent="0" marL="0">
              <a:lnSpc>
                <a:spcPct val="120000"/>
              </a:lnSpc>
              <a:buNone/>
            </a:pPr>
            <a:r>
              <a:rPr lang="en-US" sz="950" dirty="0">
                <a:solidFill>
                  <a:srgbClr val="53565A"/>
                </a:solidFill>
                <a:latin typeface="Arial" pitchFamily="34" charset="0"/>
                <a:ea typeface="Arial" pitchFamily="34" charset="-122"/>
                <a:cs typeface="Arial" pitchFamily="34" charset="-120"/>
              </a:rPr>
              <a:t>Records become one common schema through an alias table covering several hundred vendor field names.</a:t>
            </a:r>
            <a:endParaRPr lang="en-US" sz="950" dirty="0"/>
          </a:p>
        </p:txBody>
      </p:sp>
      <p:sp>
        <p:nvSpPr>
          <p:cNvPr id="19" name="Shape 17"/>
          <p:cNvSpPr/>
          <p:nvPr/>
        </p:nvSpPr>
        <p:spPr>
          <a:xfrm>
            <a:off x="6185916" y="3246120"/>
            <a:ext cx="73152" cy="73152"/>
          </a:xfrm>
          <a:prstGeom prst="rect">
            <a:avLst/>
          </a:prstGeom>
          <a:solidFill>
            <a:srgbClr val="86BC25"/>
          </a:solidFill>
          <a:ln/>
        </p:spPr>
      </p:sp>
      <p:sp>
        <p:nvSpPr>
          <p:cNvPr id="20" name="Shape 18"/>
          <p:cNvSpPr/>
          <p:nvPr/>
        </p:nvSpPr>
        <p:spPr>
          <a:xfrm>
            <a:off x="6309360" y="2084832"/>
            <a:ext cx="1709928" cy="2432304"/>
          </a:xfrm>
          <a:prstGeom prst="rect">
            <a:avLst/>
          </a:prstGeom>
          <a:solidFill>
            <a:srgbClr val="FFFFFF"/>
          </a:solidFill>
          <a:ln w="9525">
            <a:solidFill>
              <a:srgbClr val="D0D0CE"/>
            </a:solidFill>
            <a:prstDash val="solid"/>
          </a:ln>
        </p:spPr>
      </p:sp>
      <p:sp>
        <p:nvSpPr>
          <p:cNvPr id="21" name="Text 19"/>
          <p:cNvSpPr txBox="1"/>
          <p:nvPr/>
        </p:nvSpPr>
        <p:spPr>
          <a:xfrm>
            <a:off x="6510528" y="2249424"/>
            <a:ext cx="1280160" cy="274320"/>
          </a:xfrm>
          <a:prstGeom prst="rect">
            <a:avLst/>
          </a:prstGeom>
          <a:noFill/>
          <a:ln/>
        </p:spPr>
        <p:txBody>
          <a:bodyPr wrap="square" lIns="0" tIns="0" rIns="0" bIns="0" rtlCol="0" anchor="ctr"/>
          <a:lstStyle/>
          <a:p>
            <a:pPr indent="0" marL="0">
              <a:buNone/>
            </a:pPr>
            <a:r>
              <a:rPr lang="en-US" sz="1100" b="1" dirty="0">
                <a:solidFill>
                  <a:srgbClr val="86BC25"/>
                </a:solidFill>
                <a:latin typeface="Arial" pitchFamily="34" charset="0"/>
                <a:ea typeface="Arial" pitchFamily="34" charset="-122"/>
                <a:cs typeface="Arial" pitchFamily="34" charset="-120"/>
              </a:rPr>
              <a:t>04</a:t>
            </a:r>
            <a:endParaRPr lang="en-US" sz="1100" dirty="0"/>
          </a:p>
        </p:txBody>
      </p:sp>
      <p:sp>
        <p:nvSpPr>
          <p:cNvPr id="22" name="Text 20"/>
          <p:cNvSpPr txBox="1"/>
          <p:nvPr/>
        </p:nvSpPr>
        <p:spPr>
          <a:xfrm>
            <a:off x="6510528" y="2542032"/>
            <a:ext cx="1335024" cy="310896"/>
          </a:xfrm>
          <a:prstGeom prst="rect">
            <a:avLst/>
          </a:prstGeom>
          <a:noFill/>
          <a:ln/>
        </p:spPr>
        <p:txBody>
          <a:bodyPr wrap="square" lIns="0" tIns="0" rIns="0" bIns="0" rtlCol="0" anchor="ctr"/>
          <a:lstStyle/>
          <a:p>
            <a:pPr indent="0" marL="0">
              <a:buNone/>
            </a:pPr>
            <a:r>
              <a:rPr lang="en-US" sz="1450" b="1" dirty="0">
                <a:solidFill>
                  <a:srgbClr val="0F0F0F"/>
                </a:solidFill>
                <a:latin typeface="Arial" pitchFamily="34" charset="0"/>
                <a:ea typeface="Arial" pitchFamily="34" charset="-122"/>
                <a:cs typeface="Arial" pitchFamily="34" charset="-120"/>
              </a:rPr>
              <a:t>Detect</a:t>
            </a:r>
            <a:endParaRPr lang="en-US" sz="1450" dirty="0"/>
          </a:p>
        </p:txBody>
      </p:sp>
      <p:sp>
        <p:nvSpPr>
          <p:cNvPr id="23" name="Text 21"/>
          <p:cNvSpPr txBox="1"/>
          <p:nvPr/>
        </p:nvSpPr>
        <p:spPr>
          <a:xfrm>
            <a:off x="6510528" y="2907792"/>
            <a:ext cx="1335024" cy="1463040"/>
          </a:xfrm>
          <a:prstGeom prst="rect">
            <a:avLst/>
          </a:prstGeom>
          <a:noFill/>
          <a:ln/>
        </p:spPr>
        <p:txBody>
          <a:bodyPr wrap="square" lIns="0" tIns="0" rIns="0" bIns="0" rtlCol="0" anchor="t"/>
          <a:lstStyle/>
          <a:p>
            <a:pPr indent="0" marL="0">
              <a:lnSpc>
                <a:spcPct val="120000"/>
              </a:lnSpc>
              <a:buNone/>
            </a:pPr>
            <a:r>
              <a:rPr lang="en-US" sz="950" dirty="0">
                <a:solidFill>
                  <a:srgbClr val="53565A"/>
                </a:solidFill>
                <a:latin typeface="Arial" pitchFamily="34" charset="0"/>
                <a:ea typeface="Arial" pitchFamily="34" charset="-122"/>
                <a:cs typeface="Arial" pitchFamily="34" charset="-120"/>
              </a:rPr>
              <a:t>An inverted keyword index selects candidate rules per record, so only those rules are evaluated.</a:t>
            </a:r>
            <a:endParaRPr lang="en-US" sz="950" dirty="0"/>
          </a:p>
        </p:txBody>
      </p:sp>
      <p:sp>
        <p:nvSpPr>
          <p:cNvPr id="24" name="Shape 22"/>
          <p:cNvSpPr/>
          <p:nvPr/>
        </p:nvSpPr>
        <p:spPr>
          <a:xfrm>
            <a:off x="8069580" y="3246120"/>
            <a:ext cx="73152" cy="73152"/>
          </a:xfrm>
          <a:prstGeom prst="rect">
            <a:avLst/>
          </a:prstGeom>
          <a:solidFill>
            <a:srgbClr val="86BC25"/>
          </a:solidFill>
          <a:ln/>
        </p:spPr>
      </p:sp>
      <p:sp>
        <p:nvSpPr>
          <p:cNvPr id="25" name="Shape 23"/>
          <p:cNvSpPr/>
          <p:nvPr/>
        </p:nvSpPr>
        <p:spPr>
          <a:xfrm>
            <a:off x="8193024" y="2084832"/>
            <a:ext cx="1709928" cy="2432304"/>
          </a:xfrm>
          <a:prstGeom prst="rect">
            <a:avLst/>
          </a:prstGeom>
          <a:solidFill>
            <a:srgbClr val="FFFFFF"/>
          </a:solidFill>
          <a:ln w="9525">
            <a:solidFill>
              <a:srgbClr val="D0D0CE"/>
            </a:solidFill>
            <a:prstDash val="solid"/>
          </a:ln>
        </p:spPr>
      </p:sp>
      <p:sp>
        <p:nvSpPr>
          <p:cNvPr id="26" name="Text 24"/>
          <p:cNvSpPr txBox="1"/>
          <p:nvPr/>
        </p:nvSpPr>
        <p:spPr>
          <a:xfrm>
            <a:off x="8394192" y="2249424"/>
            <a:ext cx="1280160" cy="274320"/>
          </a:xfrm>
          <a:prstGeom prst="rect">
            <a:avLst/>
          </a:prstGeom>
          <a:noFill/>
          <a:ln/>
        </p:spPr>
        <p:txBody>
          <a:bodyPr wrap="square" lIns="0" tIns="0" rIns="0" bIns="0" rtlCol="0" anchor="ctr"/>
          <a:lstStyle/>
          <a:p>
            <a:pPr indent="0" marL="0">
              <a:buNone/>
            </a:pPr>
            <a:r>
              <a:rPr lang="en-US" sz="1100" b="1" dirty="0">
                <a:solidFill>
                  <a:srgbClr val="86BC25"/>
                </a:solidFill>
                <a:latin typeface="Arial" pitchFamily="34" charset="0"/>
                <a:ea typeface="Arial" pitchFamily="34" charset="-122"/>
                <a:cs typeface="Arial" pitchFamily="34" charset="-120"/>
              </a:rPr>
              <a:t>05</a:t>
            </a:r>
            <a:endParaRPr lang="en-US" sz="1100" dirty="0"/>
          </a:p>
        </p:txBody>
      </p:sp>
      <p:sp>
        <p:nvSpPr>
          <p:cNvPr id="27" name="Text 25"/>
          <p:cNvSpPr txBox="1"/>
          <p:nvPr/>
        </p:nvSpPr>
        <p:spPr>
          <a:xfrm>
            <a:off x="8394192" y="2542032"/>
            <a:ext cx="1335024" cy="310896"/>
          </a:xfrm>
          <a:prstGeom prst="rect">
            <a:avLst/>
          </a:prstGeom>
          <a:noFill/>
          <a:ln/>
        </p:spPr>
        <p:txBody>
          <a:bodyPr wrap="square" lIns="0" tIns="0" rIns="0" bIns="0" rtlCol="0" anchor="ctr"/>
          <a:lstStyle/>
          <a:p>
            <a:pPr indent="0" marL="0">
              <a:buNone/>
            </a:pPr>
            <a:r>
              <a:rPr lang="en-US" sz="1450" b="1" dirty="0">
                <a:solidFill>
                  <a:srgbClr val="0F0F0F"/>
                </a:solidFill>
                <a:latin typeface="Arial" pitchFamily="34" charset="0"/>
                <a:ea typeface="Arial" pitchFamily="34" charset="-122"/>
                <a:cs typeface="Arial" pitchFamily="34" charset="-120"/>
              </a:rPr>
              <a:t>Profile</a:t>
            </a:r>
            <a:endParaRPr lang="en-US" sz="1450" dirty="0"/>
          </a:p>
        </p:txBody>
      </p:sp>
      <p:sp>
        <p:nvSpPr>
          <p:cNvPr id="28" name="Text 26"/>
          <p:cNvSpPr txBox="1"/>
          <p:nvPr/>
        </p:nvSpPr>
        <p:spPr>
          <a:xfrm>
            <a:off x="8394192" y="2907792"/>
            <a:ext cx="1335024" cy="1463040"/>
          </a:xfrm>
          <a:prstGeom prst="rect">
            <a:avLst/>
          </a:prstGeom>
          <a:noFill/>
          <a:ln/>
        </p:spPr>
        <p:txBody>
          <a:bodyPr wrap="square" lIns="0" tIns="0" rIns="0" bIns="0" rtlCol="0" anchor="t"/>
          <a:lstStyle/>
          <a:p>
            <a:pPr indent="0" marL="0">
              <a:lnSpc>
                <a:spcPct val="120000"/>
              </a:lnSpc>
              <a:buNone/>
            </a:pPr>
            <a:r>
              <a:rPr lang="en-US" sz="950" dirty="0">
                <a:solidFill>
                  <a:srgbClr val="53565A"/>
                </a:solidFill>
                <a:latin typeface="Arial" pitchFamily="34" charset="0"/>
                <a:ea typeface="Arial" pitchFamily="34" charset="-122"/>
                <a:cs typeface="Arial" pitchFamily="34" charset="-120"/>
              </a:rPr>
              <a:t>Every entity is compared against its own peer group. No model, pure mathematics, milliseconds.</a:t>
            </a:r>
            <a:endParaRPr lang="en-US" sz="950" dirty="0"/>
          </a:p>
        </p:txBody>
      </p:sp>
      <p:sp>
        <p:nvSpPr>
          <p:cNvPr id="29" name="Shape 27"/>
          <p:cNvSpPr/>
          <p:nvPr/>
        </p:nvSpPr>
        <p:spPr>
          <a:xfrm>
            <a:off x="9953244" y="3246120"/>
            <a:ext cx="73152" cy="73152"/>
          </a:xfrm>
          <a:prstGeom prst="rect">
            <a:avLst/>
          </a:prstGeom>
          <a:solidFill>
            <a:srgbClr val="86BC25"/>
          </a:solidFill>
          <a:ln/>
        </p:spPr>
      </p:sp>
      <p:sp>
        <p:nvSpPr>
          <p:cNvPr id="30" name="Shape 28"/>
          <p:cNvSpPr/>
          <p:nvPr/>
        </p:nvSpPr>
        <p:spPr>
          <a:xfrm>
            <a:off x="10076688" y="2084832"/>
            <a:ext cx="1709928" cy="2432304"/>
          </a:xfrm>
          <a:prstGeom prst="rect">
            <a:avLst/>
          </a:prstGeom>
          <a:solidFill>
            <a:srgbClr val="000000"/>
          </a:solidFill>
          <a:ln w="9525">
            <a:solidFill>
              <a:srgbClr val="000000"/>
            </a:solidFill>
            <a:prstDash val="solid"/>
          </a:ln>
        </p:spPr>
      </p:sp>
      <p:sp>
        <p:nvSpPr>
          <p:cNvPr id="31" name="Text 29"/>
          <p:cNvSpPr txBox="1"/>
          <p:nvPr/>
        </p:nvSpPr>
        <p:spPr>
          <a:xfrm>
            <a:off x="10277856" y="2249424"/>
            <a:ext cx="1280160" cy="274320"/>
          </a:xfrm>
          <a:prstGeom prst="rect">
            <a:avLst/>
          </a:prstGeom>
          <a:noFill/>
          <a:ln/>
        </p:spPr>
        <p:txBody>
          <a:bodyPr wrap="square" lIns="0" tIns="0" rIns="0" bIns="0" rtlCol="0" anchor="ctr"/>
          <a:lstStyle/>
          <a:p>
            <a:pPr indent="0" marL="0">
              <a:buNone/>
            </a:pPr>
            <a:r>
              <a:rPr lang="en-US" sz="1100" b="1" dirty="0">
                <a:solidFill>
                  <a:srgbClr val="86BC25"/>
                </a:solidFill>
                <a:latin typeface="Arial" pitchFamily="34" charset="0"/>
                <a:ea typeface="Arial" pitchFamily="34" charset="-122"/>
                <a:cs typeface="Arial" pitchFamily="34" charset="-120"/>
              </a:rPr>
              <a:t>06</a:t>
            </a:r>
            <a:endParaRPr lang="en-US" sz="1100" dirty="0"/>
          </a:p>
        </p:txBody>
      </p:sp>
      <p:sp>
        <p:nvSpPr>
          <p:cNvPr id="32" name="Text 30"/>
          <p:cNvSpPr txBox="1"/>
          <p:nvPr/>
        </p:nvSpPr>
        <p:spPr>
          <a:xfrm>
            <a:off x="10277856" y="2542032"/>
            <a:ext cx="1335024" cy="31089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Score</a:t>
            </a:r>
            <a:endParaRPr lang="en-US" sz="1450" dirty="0"/>
          </a:p>
        </p:txBody>
      </p:sp>
      <p:sp>
        <p:nvSpPr>
          <p:cNvPr id="33" name="Text 31"/>
          <p:cNvSpPr txBox="1"/>
          <p:nvPr/>
        </p:nvSpPr>
        <p:spPr>
          <a:xfrm>
            <a:off x="10277856" y="2907792"/>
            <a:ext cx="1335024" cy="1463040"/>
          </a:xfrm>
          <a:prstGeom prst="rect">
            <a:avLst/>
          </a:prstGeom>
          <a:noFill/>
          <a:ln/>
        </p:spPr>
        <p:txBody>
          <a:bodyPr wrap="square" lIns="0" tIns="0" rIns="0" bIns="0" rtlCol="0" anchor="t"/>
          <a:lstStyle/>
          <a:p>
            <a:pPr indent="0" marL="0">
              <a:lnSpc>
                <a:spcPct val="120000"/>
              </a:lnSpc>
              <a:buNone/>
            </a:pPr>
            <a:r>
              <a:rPr lang="en-US" sz="950" dirty="0">
                <a:solidFill>
                  <a:srgbClr val="B8B8B6"/>
                </a:solidFill>
                <a:latin typeface="Arial" pitchFamily="34" charset="0"/>
                <a:ea typeface="Arial" pitchFamily="34" charset="-122"/>
                <a:cs typeface="Arial" pitchFamily="34" charset="-120"/>
              </a:rPr>
              <a:t>Observations are ranked, the risk is aggregated and the verdict is written.</a:t>
            </a:r>
            <a:endParaRPr lang="en-US" sz="950" dirty="0"/>
          </a:p>
        </p:txBody>
      </p:sp>
      <p:sp>
        <p:nvSpPr>
          <p:cNvPr id="34" name="Text 32"/>
          <p:cNvSpPr txBox="1"/>
          <p:nvPr/>
        </p:nvSpPr>
        <p:spPr>
          <a:xfrm>
            <a:off x="658368" y="4809744"/>
            <a:ext cx="7315200" cy="274320"/>
          </a:xfrm>
          <a:prstGeom prst="rect">
            <a:avLst/>
          </a:prstGeom>
          <a:noFill/>
          <a:ln/>
        </p:spPr>
        <p:txBody>
          <a:bodyPr wrap="square" lIns="0" tIns="0" rIns="0" bIns="0" rtlCol="0" anchor="ctr"/>
          <a:lstStyle/>
          <a:p>
            <a:pPr indent="0" marL="0">
              <a:buNone/>
            </a:pPr>
            <a:r>
              <a:rPr lang="en-US" sz="1100" b="1" dirty="0">
                <a:solidFill>
                  <a:srgbClr val="0F0F0F"/>
                </a:solidFill>
                <a:latin typeface="Arial" pitchFamily="34" charset="0"/>
                <a:ea typeface="Arial" pitchFamily="34" charset="-122"/>
                <a:cs typeface="Arial" pitchFamily="34" charset="-120"/>
              </a:rPr>
              <a:t>Measured on a single container core against a generated archive of 500,000 records</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58368" y="5138928"/>
          <a:ext cx="10872216" cy="914400"/>
        </p:xfrm>
        <a:graphic>
          <a:graphicData uri="http://schemas.openxmlformats.org/drawingml/2006/table">
            <a:tbl>
              <a:tblPr/>
              <a:tblGrid>
                <a:gridCol w="4288536"/>
                <a:gridCol w="3566160"/>
                <a:gridCol w="3017520"/>
              </a:tblGrid>
              <a:tr h="274320">
                <a:tc>
                  <a:txBody>
                    <a:bodyPr/>
                    <a:lstStyle/>
                    <a:p>
                      <a:pPr indent="0" marL="0">
                        <a:buNone/>
                      </a:pPr>
                      <a:r>
                        <a:rPr lang="en-US" sz="1050" b="1" dirty="0">
                          <a:solidFill>
                            <a:srgbClr val="FFFFFF"/>
                          </a:solidFill>
                          <a:latin typeface="Arial" pitchFamily="34" charset="0"/>
                          <a:ea typeface="Arial" pitchFamily="34" charset="-122"/>
                          <a:cs typeface="Arial" pitchFamily="34" charset="-120"/>
                        </a:rPr>
                        <a:t>Stage</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Throughput</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500,000 records</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r>
              <a:tr h="274320">
                <a:tc>
                  <a:txBody>
                    <a:bodyPr/>
                    <a:lstStyle/>
                    <a:p>
                      <a:pPr indent="0" marL="0">
                        <a:buNone/>
                      </a:pPr>
                      <a:r>
                        <a:rPr lang="en-US" sz="1050" b="1" dirty="0">
                          <a:solidFill>
                            <a:srgbClr val="0F0F0F"/>
                          </a:solidFill>
                          <a:latin typeface="Arial" pitchFamily="34" charset="0"/>
                          <a:ea typeface="Arial" pitchFamily="34" charset="-122"/>
                          <a:cs typeface="Arial" pitchFamily="34" charset="-120"/>
                        </a:rPr>
                        <a:t>Extract and parse</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about 27,000 records a second</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roughly 18 seconds</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F0F0F"/>
                          </a:solidFill>
                          <a:latin typeface="Arial" pitchFamily="34" charset="0"/>
                          <a:ea typeface="Arial" pitchFamily="34" charset="-122"/>
                          <a:cs typeface="Arial" pitchFamily="34" charset="-120"/>
                        </a:rPr>
                        <a:t>Detect, focused hypothesis (16 rules)</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about 33,000 records a second</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roughly 15 seconds</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r h="274320">
                <a:tc>
                  <a:txBody>
                    <a:bodyPr/>
                    <a:lstStyle/>
                    <a:p>
                      <a:pPr indent="0" marL="0">
                        <a:buNone/>
                      </a:pPr>
                      <a:r>
                        <a:rPr lang="en-US" sz="1050" b="1" dirty="0">
                          <a:solidFill>
                            <a:srgbClr val="0F0F0F"/>
                          </a:solidFill>
                          <a:latin typeface="Arial" pitchFamily="34" charset="0"/>
                          <a:ea typeface="Arial" pitchFamily="34" charset="-122"/>
                          <a:cs typeface="Arial" pitchFamily="34" charset="-120"/>
                        </a:rPr>
                        <a:t>Detect, full library (136 rules)</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about 16,000 records a second</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roughly 32 seconds</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bl>
          </a:graphicData>
        </a:graphic>
      </p:graphicFrame>
      <p:sp>
        <p:nvSpPr>
          <p:cNvPr id="36" name="Text 33"/>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37" name="Text 34"/>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UNIVERSAL PARSING</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It reads the logs you actually have</a:t>
            </a:r>
            <a:endParaRPr lang="en-US" sz="3200" dirty="0"/>
          </a:p>
        </p:txBody>
      </p:sp>
      <p:sp>
        <p:nvSpPr>
          <p:cNvPr id="4" name="Shape 2"/>
          <p:cNvSpPr/>
          <p:nvPr/>
        </p:nvSpPr>
        <p:spPr>
          <a:xfrm>
            <a:off x="11423599" y="512064"/>
            <a:ext cx="109728" cy="109728"/>
          </a:xfrm>
          <a:prstGeom prst="rect">
            <a:avLst/>
          </a:prstGeom>
          <a:solidFill>
            <a:srgbClr val="86BC25"/>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 y="2011680"/>
          <a:ext cx="7269480" cy="914400"/>
        </p:xfrm>
        <a:graphic>
          <a:graphicData uri="http://schemas.openxmlformats.org/drawingml/2006/table">
            <a:tbl>
              <a:tblPr/>
              <a:tblGrid>
                <a:gridCol w="1691640"/>
                <a:gridCol w="5577840"/>
              </a:tblGrid>
              <a:tr h="315468">
                <a:tc>
                  <a:txBody>
                    <a:bodyPr/>
                    <a:lstStyle/>
                    <a:p>
                      <a:pPr indent="0" marL="0">
                        <a:buNone/>
                      </a:pPr>
                      <a:r>
                        <a:rPr lang="en-US" sz="1050" b="1" dirty="0">
                          <a:solidFill>
                            <a:srgbClr val="FFFFFF"/>
                          </a:solidFill>
                          <a:latin typeface="Arial" pitchFamily="34" charset="0"/>
                          <a:ea typeface="Arial" pitchFamily="34" charset="-122"/>
                          <a:cs typeface="Arial" pitchFamily="34" charset="-120"/>
                        </a:rPr>
                        <a:t>Family</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Formats</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r>
              <a:tr h="315468">
                <a:tc>
                  <a:txBody>
                    <a:bodyPr/>
                    <a:lstStyle/>
                    <a:p>
                      <a:pPr indent="0" marL="0">
                        <a:buNone/>
                      </a:pPr>
                      <a:r>
                        <a:rPr lang="en-US" sz="950" b="1" dirty="0">
                          <a:solidFill>
                            <a:srgbClr val="0F0F0F"/>
                          </a:solidFill>
                          <a:latin typeface="Arial" pitchFamily="34" charset="0"/>
                          <a:ea typeface="Arial" pitchFamily="34" charset="-122"/>
                          <a:cs typeface="Arial" pitchFamily="34" charset="-120"/>
                        </a:rPr>
                        <a:t>Structured</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950" dirty="0">
                          <a:solidFill>
                            <a:srgbClr val="53565A"/>
                          </a:solidFill>
                          <a:latin typeface="Arial" pitchFamily="34" charset="0"/>
                          <a:ea typeface="Arial" pitchFamily="34" charset="-122"/>
                          <a:cs typeface="Arial" pitchFamily="34" charset="-120"/>
                        </a:rPr>
                        <a:t>JSON, NDJSON, JSON Lines, pretty printed documents, CSV, TSV, semicolon and pipe delimited, logfmt</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315468">
                <a:tc>
                  <a:txBody>
                    <a:bodyPr/>
                    <a:lstStyle/>
                    <a:p>
                      <a:pPr indent="0" marL="0">
                        <a:buNone/>
                      </a:pPr>
                      <a:r>
                        <a:rPr lang="en-US" sz="950" b="1" dirty="0">
                          <a:solidFill>
                            <a:srgbClr val="0F0F0F"/>
                          </a:solidFill>
                          <a:latin typeface="Arial" pitchFamily="34" charset="0"/>
                          <a:ea typeface="Arial" pitchFamily="34" charset="-122"/>
                          <a:cs typeface="Arial" pitchFamily="34" charset="-120"/>
                        </a:rPr>
                        <a:t>Windows</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950" dirty="0">
                          <a:solidFill>
                            <a:srgbClr val="53565A"/>
                          </a:solidFill>
                          <a:latin typeface="Arial" pitchFamily="34" charset="0"/>
                          <a:ea typeface="Arial" pitchFamily="34" charset="-122"/>
                          <a:cs typeface="Arial" pitchFamily="34" charset="-120"/>
                        </a:rPr>
                        <a:t>Binary .evtx, exported event XML, Sysmon operational, PowerShell script block, Windows Firewall</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r h="315468">
                <a:tc>
                  <a:txBody>
                    <a:bodyPr/>
                    <a:lstStyle/>
                    <a:p>
                      <a:pPr indent="0" marL="0">
                        <a:buNone/>
                      </a:pPr>
                      <a:r>
                        <a:rPr lang="en-US" sz="950" b="1" dirty="0">
                          <a:solidFill>
                            <a:srgbClr val="0F0F0F"/>
                          </a:solidFill>
                          <a:latin typeface="Arial" pitchFamily="34" charset="0"/>
                          <a:ea typeface="Arial" pitchFamily="34" charset="-122"/>
                          <a:cs typeface="Arial" pitchFamily="34" charset="-120"/>
                        </a:rPr>
                        <a:t>Unix</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950" dirty="0">
                          <a:solidFill>
                            <a:srgbClr val="53565A"/>
                          </a:solidFill>
                          <a:latin typeface="Arial" pitchFamily="34" charset="0"/>
                          <a:ea typeface="Arial" pitchFamily="34" charset="-122"/>
                          <a:cs typeface="Arial" pitchFamily="34" charset="-120"/>
                        </a:rPr>
                        <a:t>Syslog RFC 3164 and 5424, auth.log, secure, sudo, PAM, auditd including hex fields, journald JSON</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315468">
                <a:tc>
                  <a:txBody>
                    <a:bodyPr/>
                    <a:lstStyle/>
                    <a:p>
                      <a:pPr indent="0" marL="0">
                        <a:buNone/>
                      </a:pPr>
                      <a:r>
                        <a:rPr lang="en-US" sz="950" b="1" dirty="0">
                          <a:solidFill>
                            <a:srgbClr val="0F0F0F"/>
                          </a:solidFill>
                          <a:latin typeface="Arial" pitchFamily="34" charset="0"/>
                          <a:ea typeface="Arial" pitchFamily="34" charset="-122"/>
                          <a:cs typeface="Arial" pitchFamily="34" charset="-120"/>
                        </a:rPr>
                        <a:t>Web</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950" dirty="0">
                          <a:solidFill>
                            <a:srgbClr val="53565A"/>
                          </a:solidFill>
                          <a:latin typeface="Arial" pitchFamily="34" charset="0"/>
                          <a:ea typeface="Arial" pitchFamily="34" charset="-122"/>
                          <a:cs typeface="Arial" pitchFamily="34" charset="-120"/>
                        </a:rPr>
                        <a:t>Apache and Nginx common and combined, error logs, W3C extended (IIS), Squid, HAProxy, Cloudflare</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r h="315468">
                <a:tc>
                  <a:txBody>
                    <a:bodyPr/>
                    <a:lstStyle/>
                    <a:p>
                      <a:pPr indent="0" marL="0">
                        <a:buNone/>
                      </a:pPr>
                      <a:r>
                        <a:rPr lang="en-US" sz="950" b="1" dirty="0">
                          <a:solidFill>
                            <a:srgbClr val="0F0F0F"/>
                          </a:solidFill>
                          <a:latin typeface="Arial" pitchFamily="34" charset="0"/>
                          <a:ea typeface="Arial" pitchFamily="34" charset="-122"/>
                          <a:cs typeface="Arial" pitchFamily="34" charset="-120"/>
                        </a:rPr>
                        <a:t>Network</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950" dirty="0">
                          <a:solidFill>
                            <a:srgbClr val="53565A"/>
                          </a:solidFill>
                          <a:latin typeface="Arial" pitchFamily="34" charset="0"/>
                          <a:ea typeface="Arial" pitchFamily="34" charset="-122"/>
                          <a:cs typeface="Arial" pitchFamily="34" charset="-120"/>
                        </a:rPr>
                        <a:t>Zeek TSV and JSON, Suricata EVE, AWS VPC flow, Cisco ASA, Fortinet, Palo Alto PAN-OS</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315468">
                <a:tc>
                  <a:txBody>
                    <a:bodyPr/>
                    <a:lstStyle/>
                    <a:p>
                      <a:pPr indent="0" marL="0">
                        <a:buNone/>
                      </a:pPr>
                      <a:r>
                        <a:rPr lang="en-US" sz="950" b="1" dirty="0">
                          <a:solidFill>
                            <a:srgbClr val="0F0F0F"/>
                          </a:solidFill>
                          <a:latin typeface="Arial" pitchFamily="34" charset="0"/>
                          <a:ea typeface="Arial" pitchFamily="34" charset="-122"/>
                          <a:cs typeface="Arial" pitchFamily="34" charset="-120"/>
                        </a:rPr>
                        <a:t>Appliance</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950" dirty="0">
                          <a:solidFill>
                            <a:srgbClr val="53565A"/>
                          </a:solidFill>
                          <a:latin typeface="Arial" pitchFamily="34" charset="0"/>
                          <a:ea typeface="Arial" pitchFamily="34" charset="-122"/>
                          <a:cs typeface="Arial" pitchFamily="34" charset="-120"/>
                        </a:rPr>
                        <a:t>CEF (ArcSight), LEEF (QRadar), and any appliance that states its flow in the message text</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r h="315468">
                <a:tc>
                  <a:txBody>
                    <a:bodyPr/>
                    <a:lstStyle/>
                    <a:p>
                      <a:pPr indent="0" marL="0">
                        <a:buNone/>
                      </a:pPr>
                      <a:r>
                        <a:rPr lang="en-US" sz="950" b="1" dirty="0">
                          <a:solidFill>
                            <a:srgbClr val="0F0F0F"/>
                          </a:solidFill>
                          <a:latin typeface="Arial" pitchFamily="34" charset="0"/>
                          <a:ea typeface="Arial" pitchFamily="34" charset="-122"/>
                          <a:cs typeface="Arial" pitchFamily="34" charset="-120"/>
                        </a:rPr>
                        <a:t>Cloud</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950" dirty="0">
                          <a:solidFill>
                            <a:srgbClr val="53565A"/>
                          </a:solidFill>
                          <a:latin typeface="Arial" pitchFamily="34" charset="0"/>
                          <a:ea typeface="Arial" pitchFamily="34" charset="-122"/>
                          <a:cs typeface="Arial" pitchFamily="34" charset="-120"/>
                        </a:rPr>
                        <a:t>AWS CloudTrail, Microsoft 365 unified audit, Entra ID sign ins, Azure diagnostics, Google Cloud audit</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315468">
                <a:tc>
                  <a:txBody>
                    <a:bodyPr/>
                    <a:lstStyle/>
                    <a:p>
                      <a:pPr indent="0" marL="0">
                        <a:buNone/>
                      </a:pPr>
                      <a:r>
                        <a:rPr lang="en-US" sz="950" b="1" dirty="0">
                          <a:solidFill>
                            <a:srgbClr val="0F0F0F"/>
                          </a:solidFill>
                          <a:latin typeface="Arial" pitchFamily="34" charset="0"/>
                          <a:ea typeface="Arial" pitchFamily="34" charset="-122"/>
                          <a:cs typeface="Arial" pitchFamily="34" charset="-120"/>
                        </a:rPr>
                        <a:t>Platform</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950" dirty="0">
                          <a:solidFill>
                            <a:srgbClr val="53565A"/>
                          </a:solidFill>
                          <a:latin typeface="Arial" pitchFamily="34" charset="0"/>
                          <a:ea typeface="Arial" pitchFamily="34" charset="-122"/>
                          <a:cs typeface="Arial" pitchFamily="34" charset="-120"/>
                        </a:rPr>
                        <a:t>Kubernetes audit and events, Docker and CRI, identity provider logs, source control audit, osquery</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r h="315468">
                <a:tc>
                  <a:txBody>
                    <a:bodyPr/>
                    <a:lstStyle/>
                    <a:p>
                      <a:pPr indent="0" marL="0">
                        <a:buNone/>
                      </a:pPr>
                      <a:r>
                        <a:rPr lang="en-US" sz="950" b="1" dirty="0">
                          <a:solidFill>
                            <a:srgbClr val="0F0F0F"/>
                          </a:solidFill>
                          <a:latin typeface="Arial" pitchFamily="34" charset="0"/>
                          <a:ea typeface="Arial" pitchFamily="34" charset="-122"/>
                          <a:cs typeface="Arial" pitchFamily="34" charset="-120"/>
                        </a:rPr>
                        <a:t>Mail and database</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950" dirty="0">
                          <a:solidFill>
                            <a:srgbClr val="53565A"/>
                          </a:solidFill>
                          <a:latin typeface="Arial" pitchFamily="34" charset="0"/>
                          <a:ea typeface="Arial" pitchFamily="34" charset="-122"/>
                          <a:cs typeface="Arial" pitchFamily="34" charset="-120"/>
                        </a:rPr>
                        <a:t>Postfix, Exchange message tracking, M365 message trace, SQL Server, PostgreSQL, MySQL</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315468">
                <a:tc>
                  <a:txBody>
                    <a:bodyPr/>
                    <a:lstStyle/>
                    <a:p>
                      <a:pPr indent="0" marL="0">
                        <a:buNone/>
                      </a:pPr>
                      <a:r>
                        <a:rPr lang="en-US" sz="950" b="1" dirty="0">
                          <a:solidFill>
                            <a:srgbClr val="0F0F0F"/>
                          </a:solidFill>
                          <a:latin typeface="Arial" pitchFamily="34" charset="0"/>
                          <a:ea typeface="Arial" pitchFamily="34" charset="-122"/>
                          <a:cs typeface="Arial" pitchFamily="34" charset="-120"/>
                        </a:rPr>
                        <a:t>Fallback</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950" dirty="0">
                          <a:solidFill>
                            <a:srgbClr val="53565A"/>
                          </a:solidFill>
                          <a:latin typeface="Arial" pitchFamily="34" charset="0"/>
                          <a:ea typeface="Arial" pitchFamily="34" charset="-122"/>
                          <a:cs typeface="Arial" pitchFamily="34" charset="-120"/>
                        </a:rPr>
                        <a:t>Any free text, with timestamp recovery, key value extraction and indicator extraction</a:t>
                      </a:r>
                      <a:endParaRPr lang="en-US" sz="9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bl>
          </a:graphicData>
        </a:graphic>
      </p:graphicFrame>
      <p:sp>
        <p:nvSpPr>
          <p:cNvPr id="6" name="Shape 3"/>
          <p:cNvSpPr/>
          <p:nvPr/>
        </p:nvSpPr>
        <p:spPr>
          <a:xfrm>
            <a:off x="8284464" y="2011680"/>
            <a:ext cx="3255264" cy="3602736"/>
          </a:xfrm>
          <a:prstGeom prst="rect">
            <a:avLst/>
          </a:prstGeom>
          <a:solidFill>
            <a:srgbClr val="000000"/>
          </a:solidFill>
          <a:ln w="9525">
            <a:solidFill>
              <a:srgbClr val="000000"/>
            </a:solidFill>
            <a:prstDash val="solid"/>
          </a:ln>
        </p:spPr>
      </p:sp>
      <p:sp>
        <p:nvSpPr>
          <p:cNvPr id="7" name="Text 4"/>
          <p:cNvSpPr txBox="1"/>
          <p:nvPr/>
        </p:nvSpPr>
        <p:spPr>
          <a:xfrm>
            <a:off x="8577072" y="2249424"/>
            <a:ext cx="2651760"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Measured, not asserted</a:t>
            </a:r>
            <a:endParaRPr lang="en-US" sz="1500" dirty="0"/>
          </a:p>
        </p:txBody>
      </p:sp>
      <p:sp>
        <p:nvSpPr>
          <p:cNvPr id="8" name="Text 5"/>
          <p:cNvSpPr txBox="1"/>
          <p:nvPr/>
        </p:nvSpPr>
        <p:spPr>
          <a:xfrm>
            <a:off x="8577072" y="2670048"/>
            <a:ext cx="2651760" cy="2743200"/>
          </a:xfrm>
          <a:prstGeom prst="rect">
            <a:avLst/>
          </a:prstGeom>
          <a:noFill/>
          <a:ln/>
        </p:spPr>
        <p:txBody>
          <a:bodyPr wrap="square" lIns="0" tIns="0" rIns="0" bIns="0" rtlCol="0" anchor="t"/>
          <a:lstStyle/>
          <a:p>
            <a:pPr indent="0" marL="0">
              <a:lnSpc>
                <a:spcPct val="125000"/>
              </a:lnSpc>
              <a:buNone/>
            </a:pPr>
            <a:r>
              <a:rPr lang="en-US" sz="1000" dirty="0">
                <a:solidFill>
                  <a:srgbClr val="B8B8B6"/>
                </a:solidFill>
                <a:latin typeface="Arial" pitchFamily="34" charset="0"/>
                <a:ea typeface="Arial" pitchFamily="34" charset="-122"/>
                <a:cs typeface="Arial" pitchFamily="34" charset="-120"/>
              </a:rPr>
              <a:t>The claim that the engine reads any log is only worth its evidence, so it is tested.</a:t>
            </a:r>
            <a:endParaRPr lang="en-US" sz="1000" dirty="0"/>
          </a:p>
          <a:p>
            <a:pPr indent="0" marL="0">
              <a:lnSpc>
                <a:spcPct val="125000"/>
              </a:lnSpc>
              <a:buNone/>
            </a:pPr>
            <a:endParaRPr lang="en-US" sz="1000" dirty="0"/>
          </a:p>
          <a:p>
            <a:pPr indent="0" marL="0">
              <a:lnSpc>
                <a:spcPct val="125000"/>
              </a:lnSpc>
              <a:buNone/>
            </a:pPr>
            <a:r>
              <a:rPr lang="en-US" sz="1000" dirty="0">
                <a:solidFill>
                  <a:srgbClr val="B8B8B6"/>
                </a:solidFill>
                <a:latin typeface="Arial" pitchFamily="34" charset="0"/>
                <a:ea typeface="Arial" pitchFamily="34" charset="-122"/>
                <a:cs typeface="Arial" pitchFamily="34" charset="-120"/>
              </a:rPr>
              <a:t>A fixture holds samples of 27 formats in the shape the platform actually emits. Every one must be identified, timestamped and have its key fields mapped to the common schema.</a:t>
            </a:r>
            <a:endParaRPr lang="en-US" sz="1000" dirty="0"/>
          </a:p>
          <a:p>
            <a:pPr indent="0" marL="0">
              <a:lnSpc>
                <a:spcPct val="125000"/>
              </a:lnSpc>
              <a:buNone/>
            </a:pPr>
            <a:endParaRPr lang="en-US" sz="1000" dirty="0"/>
          </a:p>
          <a:p>
            <a:pPr indent="0" marL="0">
              <a:lnSpc>
                <a:spcPct val="125000"/>
              </a:lnSpc>
              <a:buNone/>
            </a:pPr>
            <a:r>
              <a:rPr lang="en-US" sz="1000" dirty="0">
                <a:solidFill>
                  <a:srgbClr val="B8B8B6"/>
                </a:solidFill>
                <a:latin typeface="Arial" pitchFamily="34" charset="0"/>
                <a:ea typeface="Arial" pitchFamily="34" charset="-122"/>
                <a:cs typeface="Arial" pitchFamily="34" charset="-120"/>
              </a:rPr>
              <a:t>When that corpus was first run, 15 of the 27 had a gap. A format that silently regresses to the free text fallback now fails the suite instead of quietly producing a weaker hunt.</a:t>
            </a:r>
            <a:endParaRPr lang="en-US" sz="1000" dirty="0"/>
          </a:p>
        </p:txBody>
      </p:sp>
      <p:sp>
        <p:nvSpPr>
          <p:cNvPr id="9" name="Text 6"/>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0" name="Text 7"/>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DETECTION</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Four detection styles, one index</a:t>
            </a:r>
            <a:endParaRPr lang="en-US" sz="3200" dirty="0"/>
          </a:p>
        </p:txBody>
      </p:sp>
      <p:sp>
        <p:nvSpPr>
          <p:cNvPr id="4" name="Shape 2"/>
          <p:cNvSpPr/>
          <p:nvPr/>
        </p:nvSpPr>
        <p:spPr>
          <a:xfrm>
            <a:off x="11423599" y="512064"/>
            <a:ext cx="109728" cy="109728"/>
          </a:xfrm>
          <a:prstGeom prst="rect">
            <a:avLst/>
          </a:prstGeom>
          <a:solidFill>
            <a:srgbClr val="86BC25"/>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8368" y="2048256"/>
          <a:ext cx="5669280" cy="914400"/>
        </p:xfrm>
        <a:graphic>
          <a:graphicData uri="http://schemas.openxmlformats.org/drawingml/2006/table">
            <a:tbl>
              <a:tblPr/>
              <a:tblGrid>
                <a:gridCol w="1554480"/>
                <a:gridCol w="822960"/>
                <a:gridCol w="3291840"/>
              </a:tblGrid>
              <a:tr h="365760">
                <a:tc>
                  <a:txBody>
                    <a:bodyPr/>
                    <a:lstStyle/>
                    <a:p>
                      <a:pPr indent="0" marL="0">
                        <a:buNone/>
                      </a:pPr>
                      <a:r>
                        <a:rPr lang="en-US" sz="1150" b="1" dirty="0">
                          <a:solidFill>
                            <a:srgbClr val="FFFFFF"/>
                          </a:solidFill>
                          <a:latin typeface="Arial" pitchFamily="34" charset="0"/>
                          <a:ea typeface="Arial" pitchFamily="34" charset="-122"/>
                          <a:cs typeface="Arial" pitchFamily="34" charset="-120"/>
                        </a:rPr>
                        <a:t>Style</a:t>
                      </a:r>
                      <a:endParaRPr lang="en-US" sz="11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Count</a:t>
                      </a:r>
                      <a:endParaRPr lang="en-US" sz="11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What it does</a:t>
                      </a:r>
                      <a:endParaRPr lang="en-US" sz="11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r>
              <a:tr h="365760">
                <a:tc>
                  <a:txBody>
                    <a:bodyPr/>
                    <a:lstStyle/>
                    <a:p>
                      <a:pPr indent="0" marL="0">
                        <a:buNone/>
                      </a:pPr>
                      <a:r>
                        <a:rPr lang="en-US" sz="1100" b="1" dirty="0">
                          <a:solidFill>
                            <a:srgbClr val="0F0F0F"/>
                          </a:solidFill>
                          <a:latin typeface="Arial" pitchFamily="34" charset="0"/>
                          <a:ea typeface="Arial" pitchFamily="34" charset="-122"/>
                          <a:cs typeface="Arial" pitchFamily="34" charset="-120"/>
                        </a:rPr>
                        <a:t>pattern</a:t>
                      </a:r>
                      <a:endParaRPr lang="en-US" sz="11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100" dirty="0">
                          <a:solidFill>
                            <a:srgbClr val="53565A"/>
                          </a:solidFill>
                          <a:latin typeface="Arial" pitchFamily="34" charset="0"/>
                          <a:ea typeface="Arial" pitchFamily="34" charset="-122"/>
                          <a:cs typeface="Arial" pitchFamily="34" charset="-120"/>
                        </a:rPr>
                        <a:t>103</a:t>
                      </a:r>
                      <a:endParaRPr lang="en-US" sz="11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100" dirty="0">
                          <a:solidFill>
                            <a:srgbClr val="53565A"/>
                          </a:solidFill>
                          <a:latin typeface="Arial" pitchFamily="34" charset="0"/>
                          <a:ea typeface="Arial" pitchFamily="34" charset="-122"/>
                          <a:cs typeface="Arial" pitchFamily="34" charset="-120"/>
                        </a:rPr>
                        <a:t>Single event matching on normalised fields or raw text</a:t>
                      </a:r>
                      <a:endParaRPr lang="en-US" sz="11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0F0F"/>
                          </a:solidFill>
                          <a:latin typeface="Arial" pitchFamily="34" charset="0"/>
                          <a:ea typeface="Arial" pitchFamily="34" charset="-122"/>
                          <a:cs typeface="Arial" pitchFamily="34" charset="-120"/>
                        </a:rPr>
                        <a:t>threshold</a:t>
                      </a:r>
                      <a:endParaRPr lang="en-US" sz="11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100" dirty="0">
                          <a:solidFill>
                            <a:srgbClr val="53565A"/>
                          </a:solidFill>
                          <a:latin typeface="Arial" pitchFamily="34" charset="0"/>
                          <a:ea typeface="Arial" pitchFamily="34" charset="-122"/>
                          <a:cs typeface="Arial" pitchFamily="34" charset="-120"/>
                        </a:rPr>
                        <a:t>18</a:t>
                      </a:r>
                      <a:endParaRPr lang="en-US" sz="11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100" dirty="0">
                          <a:solidFill>
                            <a:srgbClr val="53565A"/>
                          </a:solidFill>
                          <a:latin typeface="Arial" pitchFamily="34" charset="0"/>
                          <a:ea typeface="Arial" pitchFamily="34" charset="-122"/>
                          <a:cs typeface="Arial" pitchFamily="34" charset="-120"/>
                        </a:rPr>
                        <a:t>Sliding window counting per group, with distinct value counting</a:t>
                      </a:r>
                      <a:endParaRPr lang="en-US" sz="11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r h="365760">
                <a:tc>
                  <a:txBody>
                    <a:bodyPr/>
                    <a:lstStyle/>
                    <a:p>
                      <a:pPr indent="0" marL="0">
                        <a:buNone/>
                      </a:pPr>
                      <a:r>
                        <a:rPr lang="en-US" sz="1100" b="1" dirty="0">
                          <a:solidFill>
                            <a:srgbClr val="0F0F0F"/>
                          </a:solidFill>
                          <a:latin typeface="Arial" pitchFamily="34" charset="0"/>
                          <a:ea typeface="Arial" pitchFamily="34" charset="-122"/>
                          <a:cs typeface="Arial" pitchFamily="34" charset="-120"/>
                        </a:rPr>
                        <a:t>sequence</a:t>
                      </a:r>
                      <a:endParaRPr lang="en-US" sz="11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100" dirty="0">
                          <a:solidFill>
                            <a:srgbClr val="53565A"/>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100" dirty="0">
                          <a:solidFill>
                            <a:srgbClr val="53565A"/>
                          </a:solidFill>
                          <a:latin typeface="Arial" pitchFamily="34" charset="0"/>
                          <a:ea typeface="Arial" pitchFamily="34" charset="-122"/>
                          <a:cs typeface="Arial" pitchFamily="34" charset="-120"/>
                        </a:rPr>
                        <a:t>Ordered stages for the same entity inside a window</a:t>
                      </a:r>
                      <a:endParaRPr lang="en-US" sz="11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0F0F"/>
                          </a:solidFill>
                          <a:latin typeface="Arial" pitchFamily="34" charset="0"/>
                          <a:ea typeface="Arial" pitchFamily="34" charset="-122"/>
                          <a:cs typeface="Arial" pitchFamily="34" charset="-120"/>
                        </a:rPr>
                        <a:t>statistical</a:t>
                      </a:r>
                      <a:endParaRPr lang="en-US" sz="11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100" dirty="0">
                          <a:solidFill>
                            <a:srgbClr val="53565A"/>
                          </a:solidFill>
                          <a:latin typeface="Arial" pitchFamily="34" charset="0"/>
                          <a:ea typeface="Arial" pitchFamily="34" charset="-122"/>
                          <a:cs typeface="Arial" pitchFamily="34" charset="-120"/>
                        </a:rPr>
                        <a:t>13</a:t>
                      </a:r>
                      <a:endParaRPr lang="en-US" sz="11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100" dirty="0">
                          <a:solidFill>
                            <a:srgbClr val="53565A"/>
                          </a:solidFill>
                          <a:latin typeface="Arial" pitchFamily="34" charset="0"/>
                          <a:ea typeface="Arial" pitchFamily="34" charset="-122"/>
                          <a:cs typeface="Arial" pitchFamily="34" charset="-120"/>
                        </a:rPr>
                        <a:t>Whole dataset mathematics</a:t>
                      </a:r>
                      <a:endParaRPr lang="en-US" sz="11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bl>
          </a:graphicData>
        </a:graphic>
      </p:graphicFrame>
      <p:sp>
        <p:nvSpPr>
          <p:cNvPr id="6" name="Text 3"/>
          <p:cNvSpPr txBox="1"/>
          <p:nvPr/>
        </p:nvSpPr>
        <p:spPr>
          <a:xfrm>
            <a:off x="658368" y="3986784"/>
            <a:ext cx="5669280" cy="329184"/>
          </a:xfrm>
          <a:prstGeom prst="rect">
            <a:avLst/>
          </a:prstGeom>
          <a:noFill/>
          <a:ln/>
        </p:spPr>
        <p:txBody>
          <a:bodyPr wrap="square" lIns="0" tIns="0" rIns="0" bIns="0" rtlCol="0" anchor="ctr"/>
          <a:lstStyle/>
          <a:p>
            <a:pPr indent="0" marL="0">
              <a:buNone/>
            </a:pPr>
            <a:r>
              <a:rPr lang="en-US" sz="1600" b="1" dirty="0">
                <a:solidFill>
                  <a:srgbClr val="0F0F0F"/>
                </a:solidFill>
                <a:latin typeface="Arial" pitchFamily="34" charset="0"/>
                <a:ea typeface="Arial" pitchFamily="34" charset="-122"/>
                <a:cs typeface="Arial" pitchFamily="34" charset="-120"/>
              </a:rPr>
              <a:t>How the prefilter works</a:t>
            </a:r>
            <a:endParaRPr lang="en-US" sz="1600" dirty="0"/>
          </a:p>
        </p:txBody>
      </p:sp>
      <p:sp>
        <p:nvSpPr>
          <p:cNvPr id="7" name="Text 4"/>
          <p:cNvSpPr txBox="1"/>
          <p:nvPr/>
        </p:nvSpPr>
        <p:spPr>
          <a:xfrm>
            <a:off x="658368" y="4370832"/>
            <a:ext cx="5669280" cy="1371600"/>
          </a:xfrm>
          <a:prstGeom prst="rect">
            <a:avLst/>
          </a:prstGeom>
          <a:noFill/>
          <a:ln/>
        </p:spPr>
        <p:txBody>
          <a:bodyPr wrap="square" lIns="0" tIns="0" rIns="0" bIns="0" rtlCol="0" anchor="t"/>
          <a:lstStyle/>
          <a:p>
            <a:pPr indent="0" marL="0">
              <a:lnSpc>
                <a:spcPct val="128000"/>
              </a:lnSpc>
              <a:buNone/>
            </a:pPr>
            <a:r>
              <a:rPr lang="en-US" sz="1150" dirty="0">
                <a:solidFill>
                  <a:srgbClr val="53565A"/>
                </a:solidFill>
                <a:latin typeface="Arial" pitchFamily="34" charset="0"/>
                <a:ea typeface="Arial" pitchFamily="34" charset="-122"/>
                <a:cs typeface="Arial" pitchFamily="34" charset="-120"/>
              </a:rPr>
              <a:t>Each record is tokenised once into its alphanumeric runs, and that set is intersected with an index built from the rule keywords. A keyword is indexed on its most selective run, so certutil.exe is indexed on certutil: any record containing the keyword necessarily contains the run, which keeps the index sound while the rule selector still performs the exact test.</a:t>
            </a:r>
            <a:endParaRPr lang="en-US" sz="1150" dirty="0"/>
          </a:p>
        </p:txBody>
      </p:sp>
      <p:sp>
        <p:nvSpPr>
          <p:cNvPr id="8" name="Shape 5"/>
          <p:cNvSpPr/>
          <p:nvPr/>
        </p:nvSpPr>
        <p:spPr>
          <a:xfrm>
            <a:off x="6784848" y="2048256"/>
            <a:ext cx="4754880" cy="3694176"/>
          </a:xfrm>
          <a:prstGeom prst="rect">
            <a:avLst/>
          </a:prstGeom>
          <a:solidFill>
            <a:srgbClr val="F4F4F2"/>
          </a:solidFill>
          <a:ln w="9525">
            <a:solidFill>
              <a:srgbClr val="D0D0CE"/>
            </a:solidFill>
            <a:prstDash val="solid"/>
          </a:ln>
        </p:spPr>
      </p:sp>
      <p:sp>
        <p:nvSpPr>
          <p:cNvPr id="9" name="Text 6"/>
          <p:cNvSpPr txBox="1"/>
          <p:nvPr/>
        </p:nvSpPr>
        <p:spPr>
          <a:xfrm>
            <a:off x="7095744" y="2286000"/>
            <a:ext cx="4114800" cy="292608"/>
          </a:xfrm>
          <a:prstGeom prst="rect">
            <a:avLst/>
          </a:prstGeom>
          <a:noFill/>
          <a:ln/>
        </p:spPr>
        <p:txBody>
          <a:bodyPr wrap="square" lIns="0" tIns="0" rIns="0" bIns="0" rtlCol="0" anchor="ctr"/>
          <a:lstStyle/>
          <a:p>
            <a:pPr indent="0" marL="0">
              <a:buNone/>
            </a:pPr>
            <a:r>
              <a:rPr lang="en-US" sz="1250" b="1" dirty="0">
                <a:solidFill>
                  <a:srgbClr val="0F0F0F"/>
                </a:solidFill>
                <a:latin typeface="Arial" pitchFamily="34" charset="0"/>
                <a:ea typeface="Arial" pitchFamily="34" charset="-122"/>
                <a:cs typeface="Arial" pitchFamily="34" charset="-120"/>
              </a:rPr>
              <a:t>Cost per record, full rule library</a:t>
            </a:r>
            <a:endParaRPr lang="en-US" sz="1250" dirty="0"/>
          </a:p>
        </p:txBody>
      </p:sp>
      <p:sp>
        <p:nvSpPr>
          <p:cNvPr id="10" name="Text 7"/>
          <p:cNvSpPr txBox="1"/>
          <p:nvPr/>
        </p:nvSpPr>
        <p:spPr>
          <a:xfrm>
            <a:off x="7095744" y="2743200"/>
            <a:ext cx="1920240" cy="658368"/>
          </a:xfrm>
          <a:prstGeom prst="rect">
            <a:avLst/>
          </a:prstGeom>
          <a:noFill/>
          <a:ln/>
        </p:spPr>
        <p:txBody>
          <a:bodyPr wrap="square" lIns="0" tIns="0" rIns="0" bIns="0" rtlCol="0" anchor="ctr"/>
          <a:lstStyle/>
          <a:p>
            <a:pPr indent="0" marL="0">
              <a:buNone/>
            </a:pPr>
            <a:r>
              <a:rPr lang="en-US" sz="3100" b="1" dirty="0">
                <a:solidFill>
                  <a:srgbClr val="2C2C2C"/>
                </a:solidFill>
                <a:latin typeface="Arial" pitchFamily="34" charset="0"/>
                <a:ea typeface="Arial" pitchFamily="34" charset="-122"/>
                <a:cs typeface="Arial" pitchFamily="34" charset="-120"/>
              </a:rPr>
              <a:t>240</a:t>
            </a:r>
            <a:endParaRPr lang="en-US" sz="3100" dirty="0"/>
          </a:p>
        </p:txBody>
      </p:sp>
      <p:sp>
        <p:nvSpPr>
          <p:cNvPr id="11" name="Text 8"/>
          <p:cNvSpPr txBox="1"/>
          <p:nvPr/>
        </p:nvSpPr>
        <p:spPr>
          <a:xfrm>
            <a:off x="7095744" y="3383280"/>
            <a:ext cx="1920240" cy="237744"/>
          </a:xfrm>
          <a:prstGeom prst="rect">
            <a:avLst/>
          </a:prstGeom>
          <a:noFill/>
          <a:ln/>
        </p:spPr>
        <p:txBody>
          <a:bodyPr wrap="square" lIns="0" tIns="0" rIns="0" bIns="0" rtlCol="0" anchor="ctr"/>
          <a:lstStyle/>
          <a:p>
            <a:pPr indent="0" marL="0">
              <a:buNone/>
            </a:pPr>
            <a:r>
              <a:rPr lang="en-US" sz="1000" dirty="0">
                <a:solidFill>
                  <a:srgbClr val="75787B"/>
                </a:solidFill>
                <a:latin typeface="Arial" pitchFamily="34" charset="0"/>
                <a:ea typeface="Arial" pitchFamily="34" charset="-122"/>
                <a:cs typeface="Arial" pitchFamily="34" charset="-120"/>
              </a:rPr>
              <a:t>microseconds</a:t>
            </a:r>
            <a:endParaRPr lang="en-US" sz="1000" dirty="0"/>
          </a:p>
        </p:txBody>
      </p:sp>
      <p:sp>
        <p:nvSpPr>
          <p:cNvPr id="12" name="Text 9"/>
          <p:cNvSpPr txBox="1"/>
          <p:nvPr/>
        </p:nvSpPr>
        <p:spPr>
          <a:xfrm>
            <a:off x="7095744" y="3639312"/>
            <a:ext cx="2011680" cy="457200"/>
          </a:xfrm>
          <a:prstGeom prst="rect">
            <a:avLst/>
          </a:prstGeom>
          <a:noFill/>
          <a:ln/>
        </p:spPr>
        <p:txBody>
          <a:bodyPr wrap="square" lIns="0" tIns="0" rIns="0" bIns="0" rtlCol="0" anchor="t"/>
          <a:lstStyle/>
          <a:p>
            <a:pPr indent="0" marL="0">
              <a:lnSpc>
                <a:spcPct val="115000"/>
              </a:lnSpc>
              <a:buNone/>
            </a:pPr>
            <a:r>
              <a:rPr lang="en-US" sz="1050" dirty="0">
                <a:solidFill>
                  <a:srgbClr val="53565A"/>
                </a:solidFill>
                <a:latin typeface="Arial" pitchFamily="34" charset="0"/>
                <a:ea typeface="Arial" pitchFamily="34" charset="-122"/>
                <a:cs typeface="Arial" pitchFamily="34" charset="-120"/>
              </a:rPr>
              <a:t>One alternation regex over every keyword</a:t>
            </a:r>
            <a:endParaRPr lang="en-US" sz="1050" dirty="0"/>
          </a:p>
        </p:txBody>
      </p:sp>
      <p:sp>
        <p:nvSpPr>
          <p:cNvPr id="13" name="Text 10"/>
          <p:cNvSpPr txBox="1"/>
          <p:nvPr/>
        </p:nvSpPr>
        <p:spPr>
          <a:xfrm>
            <a:off x="9272016" y="2743200"/>
            <a:ext cx="2103120" cy="658368"/>
          </a:xfrm>
          <a:prstGeom prst="rect">
            <a:avLst/>
          </a:prstGeom>
          <a:noFill/>
          <a:ln/>
        </p:spPr>
        <p:txBody>
          <a:bodyPr wrap="square" lIns="0" tIns="0" rIns="0" bIns="0" rtlCol="0" anchor="ctr"/>
          <a:lstStyle/>
          <a:p>
            <a:pPr indent="0" marL="0">
              <a:buNone/>
            </a:pPr>
            <a:r>
              <a:rPr lang="en-US" sz="3100" b="1" dirty="0">
                <a:solidFill>
                  <a:srgbClr val="86BC25"/>
                </a:solidFill>
                <a:latin typeface="Arial" pitchFamily="34" charset="0"/>
                <a:ea typeface="Arial" pitchFamily="34" charset="-122"/>
                <a:cs typeface="Arial" pitchFamily="34" charset="-120"/>
              </a:rPr>
              <a:t>under 10</a:t>
            </a:r>
            <a:endParaRPr lang="en-US" sz="3100" dirty="0"/>
          </a:p>
        </p:txBody>
      </p:sp>
      <p:sp>
        <p:nvSpPr>
          <p:cNvPr id="14" name="Text 11"/>
          <p:cNvSpPr txBox="1"/>
          <p:nvPr/>
        </p:nvSpPr>
        <p:spPr>
          <a:xfrm>
            <a:off x="9272016" y="3383280"/>
            <a:ext cx="1920240" cy="237744"/>
          </a:xfrm>
          <a:prstGeom prst="rect">
            <a:avLst/>
          </a:prstGeom>
          <a:noFill/>
          <a:ln/>
        </p:spPr>
        <p:txBody>
          <a:bodyPr wrap="square" lIns="0" tIns="0" rIns="0" bIns="0" rtlCol="0" anchor="ctr"/>
          <a:lstStyle/>
          <a:p>
            <a:pPr indent="0" marL="0">
              <a:buNone/>
            </a:pPr>
            <a:r>
              <a:rPr lang="en-US" sz="1000" dirty="0">
                <a:solidFill>
                  <a:srgbClr val="75787B"/>
                </a:solidFill>
                <a:latin typeface="Arial" pitchFamily="34" charset="0"/>
                <a:ea typeface="Arial" pitchFamily="34" charset="-122"/>
                <a:cs typeface="Arial" pitchFamily="34" charset="-120"/>
              </a:rPr>
              <a:t>microseconds</a:t>
            </a:r>
            <a:endParaRPr lang="en-US" sz="1000" dirty="0"/>
          </a:p>
        </p:txBody>
      </p:sp>
      <p:sp>
        <p:nvSpPr>
          <p:cNvPr id="15" name="Text 12"/>
          <p:cNvSpPr txBox="1"/>
          <p:nvPr/>
        </p:nvSpPr>
        <p:spPr>
          <a:xfrm>
            <a:off x="9272016" y="3639312"/>
            <a:ext cx="2011680" cy="457200"/>
          </a:xfrm>
          <a:prstGeom prst="rect">
            <a:avLst/>
          </a:prstGeom>
          <a:noFill/>
          <a:ln/>
        </p:spPr>
        <p:txBody>
          <a:bodyPr wrap="square" lIns="0" tIns="0" rIns="0" bIns="0" rtlCol="0" anchor="t"/>
          <a:lstStyle/>
          <a:p>
            <a:pPr indent="0" marL="0">
              <a:lnSpc>
                <a:spcPct val="115000"/>
              </a:lnSpc>
              <a:buNone/>
            </a:pPr>
            <a:r>
              <a:rPr lang="en-US" sz="1050" dirty="0">
                <a:solidFill>
                  <a:srgbClr val="53565A"/>
                </a:solidFill>
                <a:latin typeface="Arial" pitchFamily="34" charset="0"/>
                <a:ea typeface="Arial" pitchFamily="34" charset="-122"/>
                <a:cs typeface="Arial" pitchFamily="34" charset="-120"/>
              </a:rPr>
              <a:t>The inverted keyword index doing the same work</a:t>
            </a:r>
            <a:endParaRPr lang="en-US" sz="1050" dirty="0"/>
          </a:p>
        </p:txBody>
      </p:sp>
      <p:sp>
        <p:nvSpPr>
          <p:cNvPr id="16" name="Shape 13"/>
          <p:cNvSpPr/>
          <p:nvPr/>
        </p:nvSpPr>
        <p:spPr>
          <a:xfrm>
            <a:off x="7095744" y="4297680"/>
            <a:ext cx="4114800" cy="0"/>
          </a:xfrm>
          <a:prstGeom prst="line">
            <a:avLst/>
          </a:prstGeom>
          <a:noFill/>
          <a:ln w="9525">
            <a:solidFill>
              <a:srgbClr val="D0D0CE"/>
            </a:solidFill>
            <a:prstDash val="solid"/>
          </a:ln>
        </p:spPr>
      </p:sp>
      <p:sp>
        <p:nvSpPr>
          <p:cNvPr id="17" name="Text 14"/>
          <p:cNvSpPr txBox="1"/>
          <p:nvPr/>
        </p:nvSpPr>
        <p:spPr>
          <a:xfrm>
            <a:off x="7095744" y="4480560"/>
            <a:ext cx="4114800" cy="1097280"/>
          </a:xfrm>
          <a:prstGeom prst="rect">
            <a:avLst/>
          </a:prstGeom>
          <a:noFill/>
          <a:ln/>
        </p:spPr>
        <p:txBody>
          <a:bodyPr wrap="square" lIns="0" tIns="0" rIns="0" bIns="0" rtlCol="0" anchor="t"/>
          <a:lstStyle/>
          <a:p>
            <a:pPr indent="0" marL="0">
              <a:lnSpc>
                <a:spcPct val="125000"/>
              </a:lnSpc>
              <a:buNone/>
            </a:pPr>
            <a:r>
              <a:rPr lang="en-US" sz="1050" dirty="0">
                <a:solidFill>
                  <a:srgbClr val="53565A"/>
                </a:solidFill>
                <a:latin typeface="Arial" pitchFamily="34" charset="0"/>
                <a:ea typeface="Arial" pitchFamily="34" charset="-122"/>
                <a:cs typeface="Arial" pitchFamily="34" charset="-120"/>
              </a:rPr>
              <a:t>That is the difference between a large archive being analysable and not. A test asserts the index never drops a rule the contract keeps, checked against real generated evidence rather than synthetic strings.</a:t>
            </a:r>
            <a:endParaRPr lang="en-US" sz="1050" dirty="0"/>
          </a:p>
        </p:txBody>
      </p:sp>
      <p:sp>
        <p:nvSpPr>
          <p:cNvPr id="18" name="Text 15"/>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9" name="Text 16"/>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THE MATHEMATICS</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Hunts that need no signature</a:t>
            </a:r>
            <a:endParaRPr lang="en-US" sz="3200" dirty="0"/>
          </a:p>
        </p:txBody>
      </p:sp>
      <p:sp>
        <p:nvSpPr>
          <p:cNvPr id="4" name="Shape 2"/>
          <p:cNvSpPr/>
          <p:nvPr/>
        </p:nvSpPr>
        <p:spPr>
          <a:xfrm>
            <a:off x="11423599" y="512064"/>
            <a:ext cx="109728" cy="109728"/>
          </a:xfrm>
          <a:prstGeom prst="rect">
            <a:avLst/>
          </a:prstGeom>
          <a:solidFill>
            <a:srgbClr val="86BC25"/>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58368" y="1956816"/>
          <a:ext cx="10872216" cy="914400"/>
        </p:xfrm>
        <a:graphic>
          <a:graphicData uri="http://schemas.openxmlformats.org/drawingml/2006/table">
            <a:tbl>
              <a:tblPr/>
              <a:tblGrid>
                <a:gridCol w="2103120"/>
                <a:gridCol w="8769096"/>
              </a:tblGrid>
              <a:tr h="274320">
                <a:tc>
                  <a:txBody>
                    <a:bodyPr/>
                    <a:lstStyle/>
                    <a:p>
                      <a:pPr indent="0" marL="0">
                        <a:buNone/>
                      </a:pPr>
                      <a:r>
                        <a:rPr lang="en-US" sz="1100" b="1" dirty="0">
                          <a:solidFill>
                            <a:srgbClr val="FFFFFF"/>
                          </a:solidFill>
                          <a:latin typeface="Arial" pitchFamily="34" charset="0"/>
                          <a:ea typeface="Arial" pitchFamily="34" charset="-122"/>
                          <a:cs typeface="Arial" pitchFamily="34" charset="-120"/>
                        </a:rPr>
                        <a:t>Model</a:t>
                      </a:r>
                      <a:endParaRPr lang="en-US" sz="11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Method</a:t>
                      </a:r>
                      <a:endParaRPr lang="en-US" sz="11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r>
              <a:tr h="274320">
                <a:tc>
                  <a:txBody>
                    <a:bodyPr/>
                    <a:lstStyle/>
                    <a:p>
                      <a:pPr indent="0" marL="0">
                        <a:buNone/>
                      </a:pPr>
                      <a:r>
                        <a:rPr lang="en-US" sz="1050" b="1" dirty="0">
                          <a:solidFill>
                            <a:srgbClr val="0F0F0F"/>
                          </a:solidFill>
                          <a:latin typeface="Arial" pitchFamily="34" charset="0"/>
                          <a:ea typeface="Arial" pitchFamily="34" charset="-122"/>
                          <a:cs typeface="Arial" pitchFamily="34" charset="-120"/>
                        </a:rPr>
                        <a:t>Beacon detection</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Timestamps per source and destination pair are binned at a quarter of the median interval, mean centred and transformed with an iterative radix 2 fast Fourier transform. The dominant peak power is compared against the mean spectrum and combined with the coefficient of variation and the jitter ratio.</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F0F0F"/>
                          </a:solidFill>
                          <a:latin typeface="Arial" pitchFamily="34" charset="0"/>
                          <a:ea typeface="Arial" pitchFamily="34" charset="-122"/>
                          <a:cs typeface="Arial" pitchFamily="34" charset="-120"/>
                        </a:rPr>
                        <a:t>Domain generation</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Shannon entropy, consonant ratio, longest consonant run, digit ratio and length combine into a randomness score, then group by registrable parent domain.</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r h="274320">
                <a:tc>
                  <a:txBody>
                    <a:bodyPr/>
                    <a:lstStyle/>
                    <a:p>
                      <a:pPr indent="0" marL="0">
                        <a:buNone/>
                      </a:pPr>
                      <a:r>
                        <a:rPr lang="en-US" sz="1050" b="1" dirty="0">
                          <a:solidFill>
                            <a:srgbClr val="0F0F0F"/>
                          </a:solidFill>
                          <a:latin typeface="Arial" pitchFamily="34" charset="0"/>
                          <a:ea typeface="Arial" pitchFamily="34" charset="-122"/>
                          <a:cs typeface="Arial" pitchFamily="34" charset="-120"/>
                        </a:rPr>
                        <a:t>Encoded payloads</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Shannon entropy of long command line tokens, with hashes and identifiers excluded.</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F0F0F"/>
                          </a:solidFill>
                          <a:latin typeface="Arial" pitchFamily="34" charset="0"/>
                          <a:ea typeface="Arial" pitchFamily="34" charset="-122"/>
                          <a:cs typeface="Arial" pitchFamily="34" charset="-120"/>
                        </a:rPr>
                        <a:t>Long tail stacking</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Frequency counting of process images, process lineage and user agents, reporting the tail with its share of the population.</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r h="274320">
                <a:tc>
                  <a:txBody>
                    <a:bodyPr/>
                    <a:lstStyle/>
                    <a:p>
                      <a:pPr indent="0" marL="0">
                        <a:buNone/>
                      </a:pPr>
                      <a:r>
                        <a:rPr lang="en-US" sz="1050" b="1" dirty="0">
                          <a:solidFill>
                            <a:srgbClr val="0F0F0F"/>
                          </a:solidFill>
                          <a:latin typeface="Arial" pitchFamily="34" charset="0"/>
                          <a:ea typeface="Arial" pitchFamily="34" charset="-122"/>
                          <a:cs typeface="Arial" pitchFamily="34" charset="-120"/>
                        </a:rPr>
                        <a:t>Outlier detection</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Modified z scores on the median absolute deviation, with the mean absolute deviation as fallback, scored inside peer groups so accounts are never compared against addresses.</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F0F0F"/>
                          </a:solidFill>
                          <a:latin typeface="Arial" pitchFamily="34" charset="0"/>
                          <a:ea typeface="Arial" pitchFamily="34" charset="-122"/>
                          <a:cs typeface="Arial" pitchFamily="34" charset="-120"/>
                        </a:rPr>
                        <a:t>Transfer analysis</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Chi square test of leading digit frequencies against Benford's law, plus a Gini coefficient of egress concentration.</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r h="274320">
                <a:tc>
                  <a:txBody>
                    <a:bodyPr/>
                    <a:lstStyle/>
                    <a:p>
                      <a:pPr indent="0" marL="0">
                        <a:buNone/>
                      </a:pPr>
                      <a:r>
                        <a:rPr lang="en-US" sz="1050" b="1" dirty="0">
                          <a:solidFill>
                            <a:srgbClr val="0F0F0F"/>
                          </a:solidFill>
                          <a:latin typeface="Arial" pitchFamily="34" charset="0"/>
                          <a:ea typeface="Arial" pitchFamily="34" charset="-122"/>
                          <a:cs typeface="Arial" pitchFamily="34" charset="-120"/>
                        </a:rPr>
                        <a:t>Temporal profiling</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Hour of day profiling per account and robust burst detection over the binned timeline.</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bl>
          </a:graphicData>
        </a:graphic>
      </p:graphicFrame>
      <p:sp>
        <p:nvSpPr>
          <p:cNvPr id="6" name="Shape 3"/>
          <p:cNvSpPr/>
          <p:nvPr/>
        </p:nvSpPr>
        <p:spPr>
          <a:xfrm>
            <a:off x="658368" y="4974336"/>
            <a:ext cx="10872216" cy="896112"/>
          </a:xfrm>
          <a:prstGeom prst="rect">
            <a:avLst/>
          </a:prstGeom>
          <a:solidFill>
            <a:srgbClr val="EEF7E0"/>
          </a:solidFill>
          <a:ln w="9525">
            <a:solidFill>
              <a:srgbClr val="86BC25"/>
            </a:solidFill>
            <a:prstDash val="solid"/>
          </a:ln>
        </p:spPr>
      </p:sp>
      <p:sp>
        <p:nvSpPr>
          <p:cNvPr id="7" name="Text 4"/>
          <p:cNvSpPr txBox="1"/>
          <p:nvPr/>
        </p:nvSpPr>
        <p:spPr>
          <a:xfrm>
            <a:off x="969264" y="5120640"/>
            <a:ext cx="5120640" cy="274320"/>
          </a:xfrm>
          <a:prstGeom prst="rect">
            <a:avLst/>
          </a:prstGeom>
          <a:noFill/>
          <a:ln/>
        </p:spPr>
        <p:txBody>
          <a:bodyPr wrap="square" lIns="0" tIns="0" rIns="0" bIns="0" rtlCol="0" anchor="ctr"/>
          <a:lstStyle/>
          <a:p>
            <a:pPr indent="0" marL="0">
              <a:buNone/>
            </a:pPr>
            <a:r>
              <a:rPr lang="en-US" sz="1300" b="1" dirty="0">
                <a:solidFill>
                  <a:srgbClr val="0F0F0F"/>
                </a:solidFill>
                <a:latin typeface="Arial" pitchFamily="34" charset="0"/>
                <a:ea typeface="Arial" pitchFamily="34" charset="-122"/>
                <a:cs typeface="Arial" pitchFamily="34" charset="-120"/>
              </a:rPr>
              <a:t>No signature required, and no numerical dependency</a:t>
            </a:r>
            <a:endParaRPr lang="en-US" sz="1300" dirty="0"/>
          </a:p>
        </p:txBody>
      </p:sp>
      <p:sp>
        <p:nvSpPr>
          <p:cNvPr id="8" name="Text 5"/>
          <p:cNvSpPr txBox="1"/>
          <p:nvPr/>
        </p:nvSpPr>
        <p:spPr>
          <a:xfrm>
            <a:off x="969264" y="5413248"/>
            <a:ext cx="10241280" cy="365760"/>
          </a:xfrm>
          <a:prstGeom prst="rect">
            <a:avLst/>
          </a:prstGeom>
          <a:noFill/>
          <a:ln/>
        </p:spPr>
        <p:txBody>
          <a:bodyPr wrap="square" lIns="0" tIns="0" rIns="0" bIns="0" rtlCol="0" anchor="t"/>
          <a:lstStyle/>
          <a:p>
            <a:pPr indent="0" marL="0">
              <a:lnSpc>
                <a:spcPct val="120000"/>
              </a:lnSpc>
              <a:buNone/>
            </a:pPr>
            <a:r>
              <a:rPr lang="en-US" sz="1050" dirty="0">
                <a:solidFill>
                  <a:srgbClr val="2C2C2C"/>
                </a:solidFill>
                <a:latin typeface="Arial" pitchFamily="34" charset="0"/>
                <a:ea typeface="Arial" pitchFamily="34" charset="-122"/>
                <a:cs typeface="Arial" pitchFamily="34" charset="-120"/>
              </a:rPr>
              <a:t>These models describe what normal looks like in the evidence itself, so they find activity nobody wrote a rule for. The fast Fourier transform, the entropy, the z scores and the Benford test are all implemented in the engine in plain Python.</a:t>
            </a:r>
            <a:endParaRPr lang="en-US" sz="1050" dirty="0"/>
          </a:p>
        </p:txBody>
      </p:sp>
      <p:sp>
        <p:nvSpPr>
          <p:cNvPr id="9" name="Text 6"/>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0" name="Text 7"/>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SECURITY POSTURE</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The untrusted paths were tested, not assumed</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Text 3"/>
          <p:cNvSpPr txBox="1"/>
          <p:nvPr/>
        </p:nvSpPr>
        <p:spPr>
          <a:xfrm>
            <a:off x="658368" y="1956816"/>
            <a:ext cx="10872216" cy="310896"/>
          </a:xfrm>
          <a:prstGeom prst="rect">
            <a:avLst/>
          </a:prstGeom>
          <a:noFill/>
          <a:ln/>
        </p:spPr>
        <p:txBody>
          <a:bodyPr wrap="square" lIns="0" tIns="0" rIns="0" bIns="0" rtlCol="0" anchor="ctr"/>
          <a:lstStyle/>
          <a:p>
            <a:pPr indent="0" marL="0">
              <a:buNone/>
            </a:pPr>
            <a:r>
              <a:rPr lang="en-US" sz="1200" dirty="0">
                <a:solidFill>
                  <a:srgbClr val="53565A"/>
                </a:solidFill>
                <a:latin typeface="Arial" pitchFamily="34" charset="0"/>
                <a:ea typeface="Arial" pitchFamily="34" charset="-122"/>
                <a:cs typeface="Arial" pitchFamily="34" charset="-120"/>
              </a:rPr>
              <a:t>The platform ingests archives from outside and renders their content in a browser and a PDF. What was found and fixed:</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8368" y="2377440"/>
          <a:ext cx="10872216" cy="914400"/>
        </p:xfrm>
        <a:graphic>
          <a:graphicData uri="http://schemas.openxmlformats.org/drawingml/2006/table">
            <a:tbl>
              <a:tblPr/>
              <a:tblGrid>
                <a:gridCol w="3291840"/>
                <a:gridCol w="3931920"/>
                <a:gridCol w="3648456"/>
              </a:tblGrid>
              <a:tr h="475488">
                <a:tc>
                  <a:txBody>
                    <a:bodyPr/>
                    <a:lstStyle/>
                    <a:p>
                      <a:pPr indent="0" marL="0">
                        <a:buNone/>
                      </a:pPr>
                      <a:r>
                        <a:rPr lang="en-US" sz="1050" b="1" dirty="0">
                          <a:solidFill>
                            <a:srgbClr val="FFFFFF"/>
                          </a:solidFill>
                          <a:latin typeface="Arial" pitchFamily="34" charset="0"/>
                          <a:ea typeface="Arial" pitchFamily="34" charset="-122"/>
                          <a:cs typeface="Arial" pitchFamily="34" charset="-120"/>
                        </a:rPr>
                        <a:t>Finding</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Effect</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Fix</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r>
              <a:tr h="475488">
                <a:tc>
                  <a:txBody>
                    <a:bodyPr/>
                    <a:lstStyle/>
                    <a:p>
                      <a:pPr indent="0" marL="0">
                        <a:buNone/>
                      </a:pPr>
                      <a:r>
                        <a:rPr lang="en-US" sz="1000" b="1" dirty="0">
                          <a:solidFill>
                            <a:srgbClr val="0F0F0F"/>
                          </a:solidFill>
                          <a:latin typeface="Arial" pitchFamily="34" charset="0"/>
                          <a:ea typeface="Arial" pitchFamily="34" charset="-122"/>
                          <a:cs typeface="Arial" pitchFamily="34" charset="-120"/>
                        </a:rPr>
                        <a:t>Catastrophic backtracking in the syslog helper</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00" dirty="0">
                          <a:solidFill>
                            <a:srgbClr val="53565A"/>
                          </a:solidFill>
                          <a:latin typeface="Arial" pitchFamily="34" charset="0"/>
                          <a:ea typeface="Arial" pitchFamily="34" charset="-122"/>
                          <a:cs typeface="Arial" pitchFamily="34" charset="-120"/>
                        </a:rPr>
                        <a:t>31 seconds for a 50,000 character line, 34 minutes for 400,000, quadrupling with every doubling</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00" dirty="0">
                          <a:solidFill>
                            <a:srgbClr val="53565A"/>
                          </a:solidFill>
                          <a:latin typeface="Arial" pitchFamily="34" charset="0"/>
                          <a:ea typeface="Arial" pitchFamily="34" charset="-122"/>
                          <a:cs typeface="Arial" pitchFamily="34" charset="-120"/>
                        </a:rPr>
                        <a:t>Quantifiers bounded and helper input capped: under 10 milliseconds at every size</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0F0F0F"/>
                          </a:solidFill>
                          <a:latin typeface="Arial" pitchFamily="34" charset="0"/>
                          <a:ea typeface="Arial" pitchFamily="34" charset="-122"/>
                          <a:cs typeface="Arial" pitchFamily="34" charset="-120"/>
                        </a:rPr>
                        <a:t>Quadratic patterns in four detection rules</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00" dirty="0">
                          <a:solidFill>
                            <a:srgbClr val="53565A"/>
                          </a:solidFill>
                          <a:latin typeface="Arial" pitchFamily="34" charset="0"/>
                          <a:ea typeface="Arial" pitchFamily="34" charset="-122"/>
                          <a:cs typeface="Arial" pitchFamily="34" charset="-120"/>
                        </a:rPr>
                        <a:t>A crafted record cost 2 seconds per rule</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00" dirty="0">
                          <a:solidFill>
                            <a:srgbClr val="53565A"/>
                          </a:solidFill>
                          <a:latin typeface="Arial" pitchFamily="34" charset="0"/>
                          <a:ea typeface="Arial" pitchFamily="34" charset="-122"/>
                          <a:cs typeface="Arial" pitchFamily="34" charset="-120"/>
                        </a:rPr>
                        <a:t>Bounded to the lengths the formats actually allow</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r h="475488">
                <a:tc>
                  <a:txBody>
                    <a:bodyPr/>
                    <a:lstStyle/>
                    <a:p>
                      <a:pPr indent="0" marL="0">
                        <a:buNone/>
                      </a:pPr>
                      <a:r>
                        <a:rPr lang="en-US" sz="1000" b="1" dirty="0">
                          <a:solidFill>
                            <a:srgbClr val="0F0F0F"/>
                          </a:solidFill>
                          <a:latin typeface="Arial" pitchFamily="34" charset="0"/>
                          <a:ea typeface="Arial" pitchFamily="34" charset="-122"/>
                          <a:cs typeface="Arial" pitchFamily="34" charset="-120"/>
                        </a:rPr>
                        <a:t>Extraction trusted the archive's declared sizes</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00" dirty="0">
                          <a:solidFill>
                            <a:srgbClr val="53565A"/>
                          </a:solidFill>
                          <a:latin typeface="Arial" pitchFamily="34" charset="0"/>
                          <a:ea typeface="Arial" pitchFamily="34" charset="-122"/>
                          <a:cs typeface="Arial" pitchFamily="34" charset="-120"/>
                        </a:rPr>
                        <a:t>The size budget could be bypassed by a lying header</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00" dirty="0">
                          <a:solidFill>
                            <a:srgbClr val="53565A"/>
                          </a:solidFill>
                          <a:latin typeface="Arial" pitchFamily="34" charset="0"/>
                          <a:ea typeface="Arial" pitchFamily="34" charset="-122"/>
                          <a:cs typeface="Arial" pitchFamily="34" charset="-120"/>
                        </a:rPr>
                        <a:t>The budget counts bytes actually written</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0F0F0F"/>
                          </a:solidFill>
                          <a:latin typeface="Arial" pitchFamily="34" charset="0"/>
                          <a:ea typeface="Arial" pitchFamily="34" charset="-122"/>
                          <a:cs typeface="Arial" pitchFamily="34" charset="-120"/>
                        </a:rPr>
                        <a:t>A damaged archive member aborted the hunt</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00" dirty="0">
                          <a:solidFill>
                            <a:srgbClr val="53565A"/>
                          </a:solidFill>
                          <a:latin typeface="Arial" pitchFamily="34" charset="0"/>
                          <a:ea typeface="Arial" pitchFamily="34" charset="-122"/>
                          <a:cs typeface="Arial" pitchFamily="34" charset="-120"/>
                        </a:rPr>
                        <a:t>One corrupt file destroyed the analysis of every other file</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00" dirty="0">
                          <a:solidFill>
                            <a:srgbClr val="53565A"/>
                          </a:solidFill>
                          <a:latin typeface="Arial" pitchFamily="34" charset="0"/>
                          <a:ea typeface="Arial" pitchFamily="34" charset="-122"/>
                          <a:cs typeface="Arial" pitchFamily="34" charset="-120"/>
                        </a:rPr>
                        <a:t>Members are skipped individually and reported</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r h="475488">
                <a:tc>
                  <a:txBody>
                    <a:bodyPr/>
                    <a:lstStyle/>
                    <a:p>
                      <a:pPr indent="0" marL="0">
                        <a:buNone/>
                      </a:pPr>
                      <a:r>
                        <a:rPr lang="en-US" sz="1000" b="1" dirty="0">
                          <a:solidFill>
                            <a:srgbClr val="0F0F0F"/>
                          </a:solidFill>
                          <a:latin typeface="Arial" pitchFamily="34" charset="0"/>
                          <a:ea typeface="Arial" pitchFamily="34" charset="-122"/>
                          <a:cs typeface="Arial" pitchFamily="34" charset="-120"/>
                        </a:rPr>
                        <a:t>Login timing revealed valid accounts</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00" dirty="0">
                          <a:solidFill>
                            <a:srgbClr val="53565A"/>
                          </a:solidFill>
                          <a:latin typeface="Arial" pitchFamily="34" charset="0"/>
                          <a:ea typeface="Arial" pitchFamily="34" charset="-122"/>
                          <a:cs typeface="Arial" pitchFamily="34" charset="-120"/>
                        </a:rPr>
                        <a:t>275 ms for a real account against 3 ms for an unknown one</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00" dirty="0">
                          <a:solidFill>
                            <a:srgbClr val="53565A"/>
                          </a:solidFill>
                          <a:latin typeface="Arial" pitchFamily="34" charset="0"/>
                          <a:ea typeface="Arial" pitchFamily="34" charset="-122"/>
                          <a:cs typeface="Arial" pitchFamily="34" charset="-120"/>
                        </a:rPr>
                        <a:t>The same verification work runs either way, measured at a 1.01x spread</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0F0F0F"/>
                          </a:solidFill>
                          <a:latin typeface="Arial" pitchFamily="34" charset="0"/>
                          <a:ea typeface="Arial" pitchFamily="34" charset="-122"/>
                          <a:cs typeface="Arial" pitchFamily="34" charset="-120"/>
                        </a:rPr>
                        <a:t>No limit on password guessing</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00" dirty="0">
                          <a:solidFill>
                            <a:srgbClr val="53565A"/>
                          </a:solidFill>
                          <a:latin typeface="Arial" pitchFamily="34" charset="0"/>
                          <a:ea typeface="Arial" pitchFamily="34" charset="-122"/>
                          <a:cs typeface="Arial" pitchFamily="34" charset="-120"/>
                        </a:rPr>
                        <a:t>Unlimited attempts against the platform's own sign in</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00" dirty="0">
                          <a:solidFill>
                            <a:srgbClr val="53565A"/>
                          </a:solidFill>
                          <a:latin typeface="Arial" pitchFamily="34" charset="0"/>
                          <a:ea typeface="Arial" pitchFamily="34" charset="-122"/>
                          <a:cs typeface="Arial" pitchFamily="34" charset="-120"/>
                        </a:rPr>
                        <a:t>Sliding window limits per account and per source address</a:t>
                      </a:r>
                      <a:endParaRPr lang="en-US" sz="100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bl>
          </a:graphicData>
        </a:graphic>
      </p:graphicFrame>
      <p:sp>
        <p:nvSpPr>
          <p:cNvPr id="7" name="Text 4"/>
          <p:cNvSpPr txBox="1"/>
          <p:nvPr/>
        </p:nvSpPr>
        <p:spPr>
          <a:xfrm>
            <a:off x="658368" y="5650992"/>
            <a:ext cx="10872216" cy="457200"/>
          </a:xfrm>
          <a:prstGeom prst="rect">
            <a:avLst/>
          </a:prstGeom>
          <a:noFill/>
          <a:ln/>
        </p:spPr>
        <p:txBody>
          <a:bodyPr wrap="square" lIns="0" tIns="0" rIns="0" bIns="0" rtlCol="0" anchor="t"/>
          <a:lstStyle/>
          <a:p>
            <a:pPr indent="0" marL="0">
              <a:lnSpc>
                <a:spcPct val="120000"/>
              </a:lnSpc>
              <a:buNone/>
            </a:pPr>
            <a:r>
              <a:rPr lang="en-US" sz="1050" i="1" dirty="0">
                <a:solidFill>
                  <a:srgbClr val="75787B"/>
                </a:solidFill>
                <a:latin typeface="Arial" pitchFamily="34" charset="0"/>
                <a:ea typeface="Arial" pitchFamily="34" charset="-122"/>
                <a:cs typeface="Arial" pitchFamily="34" charset="-120"/>
              </a:rPr>
              <a:t>Verified as safe: cross tenant reads return 404 rather than disclosing existence, archive members cannot escape the extraction directory, and log content reaches both the browser and the PDF as literal text, checked by rendering live payloads in a real browser.</a:t>
            </a:r>
            <a:endParaRPr lang="en-US" sz="1050" dirty="0"/>
          </a:p>
        </p:txBody>
      </p:sp>
      <p:sp>
        <p:nvSpPr>
          <p:cNvPr id="8" name="Text 5"/>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9" name="Text 6"/>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58368" y="1920240"/>
            <a:ext cx="1828800" cy="822960"/>
          </a:xfrm>
          <a:prstGeom prst="rect">
            <a:avLst/>
          </a:prstGeom>
          <a:noFill/>
          <a:ln/>
        </p:spPr>
        <p:txBody>
          <a:bodyPr wrap="square" lIns="0" tIns="0" rIns="0" bIns="0" rtlCol="0" anchor="ctr"/>
          <a:lstStyle/>
          <a:p>
            <a:pPr indent="0" marL="0">
              <a:buNone/>
            </a:pPr>
            <a:r>
              <a:rPr lang="en-US" sz="6400" b="1" dirty="0">
                <a:solidFill>
                  <a:srgbClr val="86BC25"/>
                </a:solidFill>
                <a:latin typeface="Arial" pitchFamily="34" charset="0"/>
                <a:ea typeface="Arial" pitchFamily="34" charset="-122"/>
                <a:cs typeface="Arial" pitchFamily="34" charset="-120"/>
              </a:rPr>
              <a:t>03</a:t>
            </a:r>
            <a:endParaRPr lang="en-US" sz="6400" dirty="0"/>
          </a:p>
        </p:txBody>
      </p:sp>
      <p:sp>
        <p:nvSpPr>
          <p:cNvPr id="3" name="Text 1"/>
          <p:cNvSpPr txBox="1"/>
          <p:nvPr/>
        </p:nvSpPr>
        <p:spPr>
          <a:xfrm>
            <a:off x="658368" y="2788920"/>
            <a:ext cx="5486400" cy="237744"/>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PART THREE</a:t>
            </a:r>
            <a:endParaRPr lang="en-US" sz="1050" dirty="0"/>
          </a:p>
        </p:txBody>
      </p:sp>
      <p:sp>
        <p:nvSpPr>
          <p:cNvPr id="4" name="Text 2"/>
          <p:cNvSpPr txBox="1"/>
          <p:nvPr/>
        </p:nvSpPr>
        <p:spPr>
          <a:xfrm>
            <a:off x="658368" y="3127248"/>
            <a:ext cx="7498080" cy="8229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The agents</a:t>
            </a:r>
            <a:endParaRPr lang="en-US" sz="4000" dirty="0"/>
          </a:p>
        </p:txBody>
      </p:sp>
      <p:sp>
        <p:nvSpPr>
          <p:cNvPr id="5" name="Text 3"/>
          <p:cNvSpPr txBox="1"/>
          <p:nvPr/>
        </p:nvSpPr>
        <p:spPr>
          <a:xfrm>
            <a:off x="658368" y="4059936"/>
            <a:ext cx="6766560" cy="731520"/>
          </a:xfrm>
          <a:prstGeom prst="rect">
            <a:avLst/>
          </a:prstGeom>
          <a:noFill/>
          <a:ln/>
        </p:spPr>
        <p:txBody>
          <a:bodyPr wrap="square" lIns="0" tIns="0" rIns="0" bIns="0" rtlCol="0" anchor="t"/>
          <a:lstStyle/>
          <a:p>
            <a:pPr indent="0" marL="0">
              <a:lnSpc>
                <a:spcPct val="130000"/>
              </a:lnSpc>
              <a:buNone/>
            </a:pPr>
            <a:r>
              <a:rPr lang="en-US" sz="1400" dirty="0">
                <a:solidFill>
                  <a:srgbClr val="B8B8B6"/>
                </a:solidFill>
                <a:latin typeface="Arial" pitchFamily="34" charset="0"/>
                <a:ea typeface="Arial" pitchFamily="34" charset="-122"/>
                <a:cs typeface="Arial" pitchFamily="34" charset="-120"/>
              </a:rPr>
              <a:t>Two agents running on open source models served locally, so no evidence ever leaves the tenant.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THE GOVERNING PRINCIPLE</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The model proposes, the engine verifies</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Text 3"/>
          <p:cNvSpPr txBox="1"/>
          <p:nvPr/>
        </p:nvSpPr>
        <p:spPr>
          <a:xfrm>
            <a:off x="658368" y="1920240"/>
            <a:ext cx="10872216" cy="566928"/>
          </a:xfrm>
          <a:prstGeom prst="rect">
            <a:avLst/>
          </a:prstGeom>
          <a:noFill/>
          <a:ln/>
        </p:spPr>
        <p:txBody>
          <a:bodyPr wrap="square" lIns="0" tIns="0" rIns="0" bIns="0" rtlCol="0" anchor="t"/>
          <a:lstStyle/>
          <a:p>
            <a:pPr indent="0" marL="0">
              <a:lnSpc>
                <a:spcPct val="125000"/>
              </a:lnSpc>
              <a:buNone/>
            </a:pPr>
            <a:r>
              <a:rPr lang="en-US" sz="1250" dirty="0">
                <a:solidFill>
                  <a:srgbClr val="53565A"/>
                </a:solidFill>
                <a:latin typeface="Arial" pitchFamily="34" charset="0"/>
                <a:ea typeface="Arial" pitchFamily="34" charset="-122"/>
                <a:cs typeface="Arial" pitchFamily="34" charset="-120"/>
              </a:rPr>
              <a:t>A threat hunting report is evidence a client acts on. A local 8B to 14B model will invent an ATT&amp;CK identifier, misquote a log line and state a false conclusion with complete confidence. So the architecture puts the model where it is strong and never where it is authoritative.</a:t>
            </a:r>
            <a:endParaRPr lang="en-US" sz="1250" dirty="0"/>
          </a:p>
        </p:txBody>
      </p:sp>
      <p:sp>
        <p:nvSpPr>
          <p:cNvPr id="6" name="Shape 4"/>
          <p:cNvSpPr/>
          <p:nvPr/>
        </p:nvSpPr>
        <p:spPr>
          <a:xfrm>
            <a:off x="658368" y="2670048"/>
            <a:ext cx="5230368" cy="2670048"/>
          </a:xfrm>
          <a:prstGeom prst="rect">
            <a:avLst/>
          </a:prstGeom>
          <a:solidFill>
            <a:srgbClr val="EEF7E0"/>
          </a:solidFill>
          <a:ln w="9525">
            <a:solidFill>
              <a:srgbClr val="86BC25"/>
            </a:solidFill>
            <a:prstDash val="solid"/>
          </a:ln>
        </p:spPr>
      </p:sp>
      <p:sp>
        <p:nvSpPr>
          <p:cNvPr id="7" name="Text 5"/>
          <p:cNvSpPr txBox="1"/>
          <p:nvPr/>
        </p:nvSpPr>
        <p:spPr>
          <a:xfrm>
            <a:off x="969264" y="2871216"/>
            <a:ext cx="4572000" cy="310896"/>
          </a:xfrm>
          <a:prstGeom prst="rect">
            <a:avLst/>
          </a:prstGeom>
          <a:noFill/>
          <a:ln/>
        </p:spPr>
        <p:txBody>
          <a:bodyPr wrap="square" lIns="0" tIns="0" rIns="0" bIns="0" rtlCol="0" anchor="ctr"/>
          <a:lstStyle/>
          <a:p>
            <a:pPr indent="0" marL="0">
              <a:buNone/>
            </a:pPr>
            <a:r>
              <a:rPr lang="en-US" sz="1450" b="1" dirty="0">
                <a:solidFill>
                  <a:srgbClr val="0F0F0F"/>
                </a:solidFill>
                <a:latin typeface="Arial" pitchFamily="34" charset="0"/>
                <a:ea typeface="Arial" pitchFamily="34" charset="-122"/>
                <a:cs typeface="Arial" pitchFamily="34" charset="-120"/>
              </a:rPr>
              <a:t>The model is allowed to</a:t>
            </a:r>
            <a:endParaRPr lang="en-US" sz="1450" dirty="0"/>
          </a:p>
        </p:txBody>
      </p:sp>
      <p:sp>
        <p:nvSpPr>
          <p:cNvPr id="8" name="Text 6"/>
          <p:cNvSpPr txBox="1"/>
          <p:nvPr/>
        </p:nvSpPr>
        <p:spPr>
          <a:xfrm>
            <a:off x="969264" y="3255264"/>
            <a:ext cx="4608576" cy="192024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100" dirty="0">
                <a:solidFill>
                  <a:srgbClr val="2C2C2C"/>
                </a:solidFill>
                <a:latin typeface="Arial" pitchFamily="34" charset="0"/>
                <a:ea typeface="Arial" pitchFamily="34" charset="-122"/>
                <a:cs typeface="Arial" pitchFamily="34" charset="-120"/>
              </a:rPr>
              <a:t>Read prose and extract structure from it</a:t>
            </a:r>
            <a:endParaRPr lang="en-US" sz="1100" dirty="0"/>
          </a:p>
          <a:p>
            <a:pPr marL="342900" indent="-342900">
              <a:lnSpc>
                <a:spcPct val="120000"/>
              </a:lnSpc>
              <a:spcAft>
                <a:spcPts val="800"/>
              </a:spcAft>
              <a:buSzPct val="100000"/>
              <a:buChar char="•"/>
            </a:pPr>
            <a:r>
              <a:rPr lang="en-US" sz="1100" dirty="0">
                <a:solidFill>
                  <a:srgbClr val="2C2C2C"/>
                </a:solidFill>
                <a:latin typeface="Arial" pitchFamily="34" charset="0"/>
                <a:ea typeface="Arial" pitchFamily="34" charset="-122"/>
                <a:cs typeface="Arial" pitchFamily="34" charset="-120"/>
              </a:rPr>
              <a:t>Rank, group and explain candidates the engine found</a:t>
            </a:r>
            <a:endParaRPr lang="en-US" sz="1100" dirty="0"/>
          </a:p>
          <a:p>
            <a:pPr marL="342900" indent="-342900">
              <a:lnSpc>
                <a:spcPct val="120000"/>
              </a:lnSpc>
              <a:spcAft>
                <a:spcPts val="800"/>
              </a:spcAft>
              <a:buSzPct val="100000"/>
              <a:buChar char="•"/>
            </a:pPr>
            <a:r>
              <a:rPr lang="en-US" sz="1100" dirty="0">
                <a:solidFill>
                  <a:srgbClr val="2C2C2C"/>
                </a:solidFill>
                <a:latin typeface="Arial" pitchFamily="34" charset="0"/>
                <a:ea typeface="Arial" pitchFamily="34" charset="-122"/>
                <a:cs typeface="Arial" pitchFamily="34" charset="-120"/>
              </a:rPr>
              <a:t>Draft text: the hypothesis wording, the description, the risk, the impact, the recommendation</a:t>
            </a:r>
            <a:endParaRPr lang="en-US" sz="1100" dirty="0"/>
          </a:p>
          <a:p>
            <a:pPr marL="342900" indent="-342900">
              <a:lnSpc>
                <a:spcPct val="120000"/>
              </a:lnSpc>
              <a:spcAft>
                <a:spcPts val="800"/>
              </a:spcAft>
              <a:buSzPct val="100000"/>
              <a:buChar char="•"/>
            </a:pPr>
            <a:r>
              <a:rPr lang="en-US" sz="1100" dirty="0">
                <a:solidFill>
                  <a:srgbClr val="2C2C2C"/>
                </a:solidFill>
                <a:latin typeface="Arial" pitchFamily="34" charset="0"/>
                <a:ea typeface="Arial" pitchFamily="34" charset="-122"/>
                <a:cs typeface="Arial" pitchFamily="34" charset="-120"/>
              </a:rPr>
              <a:t>Propose a field extraction specification for an unknown format</a:t>
            </a:r>
            <a:endParaRPr lang="en-US" sz="1100" dirty="0"/>
          </a:p>
        </p:txBody>
      </p:sp>
      <p:sp>
        <p:nvSpPr>
          <p:cNvPr id="9" name="Shape 7"/>
          <p:cNvSpPr/>
          <p:nvPr/>
        </p:nvSpPr>
        <p:spPr>
          <a:xfrm>
            <a:off x="6199632" y="2670048"/>
            <a:ext cx="5230368" cy="2670048"/>
          </a:xfrm>
          <a:prstGeom prst="rect">
            <a:avLst/>
          </a:prstGeom>
          <a:solidFill>
            <a:srgbClr val="000000"/>
          </a:solidFill>
          <a:ln w="9525">
            <a:solidFill>
              <a:srgbClr val="000000"/>
            </a:solidFill>
            <a:prstDash val="solid"/>
          </a:ln>
        </p:spPr>
      </p:sp>
      <p:sp>
        <p:nvSpPr>
          <p:cNvPr id="10" name="Text 8"/>
          <p:cNvSpPr txBox="1"/>
          <p:nvPr/>
        </p:nvSpPr>
        <p:spPr>
          <a:xfrm>
            <a:off x="6510528" y="2871216"/>
            <a:ext cx="4572000" cy="31089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The model is never allowed to</a:t>
            </a:r>
            <a:endParaRPr lang="en-US" sz="1450" dirty="0"/>
          </a:p>
        </p:txBody>
      </p:sp>
      <p:sp>
        <p:nvSpPr>
          <p:cNvPr id="11" name="Text 9"/>
          <p:cNvSpPr txBox="1"/>
          <p:nvPr/>
        </p:nvSpPr>
        <p:spPr>
          <a:xfrm>
            <a:off x="6510528" y="3255264"/>
            <a:ext cx="4608576" cy="192024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100" dirty="0">
                <a:solidFill>
                  <a:srgbClr val="D4D4D2"/>
                </a:solidFill>
                <a:latin typeface="Arial" pitchFamily="34" charset="0"/>
                <a:ea typeface="Arial" pitchFamily="34" charset="-122"/>
                <a:cs typeface="Arial" pitchFamily="34" charset="-120"/>
              </a:rPr>
              <a:t>Decide on its own that something is a confirmed compromise</a:t>
            </a:r>
            <a:endParaRPr lang="en-US" sz="1100" dirty="0"/>
          </a:p>
          <a:p>
            <a:pPr marL="342900" indent="-342900">
              <a:lnSpc>
                <a:spcPct val="120000"/>
              </a:lnSpc>
              <a:spcAft>
                <a:spcPts val="800"/>
              </a:spcAft>
              <a:buSzPct val="100000"/>
              <a:buChar char="•"/>
            </a:pPr>
            <a:r>
              <a:rPr lang="en-US" sz="1100" dirty="0">
                <a:solidFill>
                  <a:srgbClr val="D4D4D2"/>
                </a:solidFill>
                <a:latin typeface="Arial" pitchFamily="34" charset="0"/>
                <a:ea typeface="Arial" pitchFamily="34" charset="-122"/>
                <a:cs typeface="Arial" pitchFamily="34" charset="-120"/>
              </a:rPr>
              <a:t>Produce a log excerpt, since excerpts are always copied from the parsed corpus</a:t>
            </a:r>
            <a:endParaRPr lang="en-US" sz="1100" dirty="0"/>
          </a:p>
          <a:p>
            <a:pPr marL="342900" indent="-342900">
              <a:lnSpc>
                <a:spcPct val="120000"/>
              </a:lnSpc>
              <a:spcAft>
                <a:spcPts val="800"/>
              </a:spcAft>
              <a:buSzPct val="100000"/>
              <a:buChar char="•"/>
            </a:pPr>
            <a:r>
              <a:rPr lang="en-US" sz="1100" dirty="0">
                <a:solidFill>
                  <a:srgbClr val="D4D4D2"/>
                </a:solidFill>
                <a:latin typeface="Arial" pitchFamily="34" charset="0"/>
                <a:ea typeface="Arial" pitchFamily="34" charset="-122"/>
                <a:cs typeface="Arial" pitchFamily="34" charset="-120"/>
              </a:rPr>
              <a:t>Create a hypothesis whose technique identifier or data sources it invented</a:t>
            </a:r>
            <a:endParaRPr lang="en-US" sz="1100" dirty="0"/>
          </a:p>
          <a:p>
            <a:pPr marL="342900" indent="-342900">
              <a:lnSpc>
                <a:spcPct val="120000"/>
              </a:lnSpc>
              <a:spcAft>
                <a:spcPts val="800"/>
              </a:spcAft>
              <a:buSzPct val="100000"/>
              <a:buChar char="•"/>
            </a:pPr>
            <a:r>
              <a:rPr lang="en-US" sz="1100" dirty="0">
                <a:solidFill>
                  <a:srgbClr val="D4D4D2"/>
                </a:solidFill>
                <a:latin typeface="Arial" pitchFamily="34" charset="0"/>
                <a:ea typeface="Arial" pitchFamily="34" charset="-122"/>
                <a:cs typeface="Arial" pitchFamily="34" charset="-120"/>
              </a:rPr>
              <a:t>Be the only reason an observation exists at high or critical severity</a:t>
            </a:r>
            <a:endParaRPr lang="en-US" sz="1100" dirty="0"/>
          </a:p>
        </p:txBody>
      </p:sp>
      <p:sp>
        <p:nvSpPr>
          <p:cNvPr id="12" name="Text 10"/>
          <p:cNvSpPr txBox="1"/>
          <p:nvPr/>
        </p:nvSpPr>
        <p:spPr>
          <a:xfrm>
            <a:off x="658368" y="5504688"/>
            <a:ext cx="10872216" cy="457200"/>
          </a:xfrm>
          <a:prstGeom prst="rect">
            <a:avLst/>
          </a:prstGeom>
          <a:noFill/>
          <a:ln/>
        </p:spPr>
        <p:txBody>
          <a:bodyPr wrap="square" lIns="0" tIns="0" rIns="0" bIns="0" rtlCol="0" anchor="t"/>
          <a:lstStyle/>
          <a:p>
            <a:pPr indent="0" marL="0">
              <a:lnSpc>
                <a:spcPct val="120000"/>
              </a:lnSpc>
              <a:buNone/>
            </a:pPr>
            <a:r>
              <a:rPr lang="en-US" sz="1150" b="1" dirty="0">
                <a:solidFill>
                  <a:srgbClr val="0F0F0F"/>
                </a:solidFill>
                <a:latin typeface="Arial" pitchFamily="34" charset="0"/>
                <a:ea typeface="Arial" pitchFamily="34" charset="-122"/>
                <a:cs typeface="Arial" pitchFamily="34" charset="-120"/>
              </a:rPr>
              <a:t>Every model output passes a validator before it reaches the database. The 136 deterministic rules are untouched, so an audit can be reproduced byte for byte with the AI layer switched off.</a:t>
            </a:r>
            <a:endParaRPr lang="en-US" sz="1150" dirty="0"/>
          </a:p>
        </p:txBody>
      </p:sp>
      <p:sp>
        <p:nvSpPr>
          <p:cNvPr id="13" name="Text 11"/>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4" name="Text 12"/>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AGENT ONE</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The hypothesis collector</a:t>
            </a:r>
            <a:endParaRPr lang="en-US" sz="3200" dirty="0"/>
          </a:p>
        </p:txBody>
      </p:sp>
      <p:sp>
        <p:nvSpPr>
          <p:cNvPr id="4" name="Text 2"/>
          <p:cNvSpPr txBox="1"/>
          <p:nvPr/>
        </p:nvSpPr>
        <p:spPr>
          <a:xfrm>
            <a:off x="658368" y="1426464"/>
            <a:ext cx="10326319" cy="310896"/>
          </a:xfrm>
          <a:prstGeom prst="rect">
            <a:avLst/>
          </a:prstGeom>
          <a:noFill/>
          <a:ln/>
        </p:spPr>
        <p:txBody>
          <a:bodyPr wrap="square" lIns="0" tIns="0" rIns="0" bIns="0" rtlCol="0" anchor="ctr"/>
          <a:lstStyle/>
          <a:p>
            <a:pPr indent="0" marL="0">
              <a:buNone/>
            </a:pPr>
            <a:r>
              <a:rPr lang="en-US" sz="1350" dirty="0">
                <a:solidFill>
                  <a:srgbClr val="53565A"/>
                </a:solidFill>
                <a:latin typeface="Arial" pitchFamily="34" charset="0"/>
                <a:ea typeface="Arial" pitchFamily="34" charset="-122"/>
                <a:cs typeface="Arial" pitchFamily="34" charset="-120"/>
              </a:rPr>
              <a:t>Runs once a week, unattended. Nobody has to paste anything.</a:t>
            </a:r>
            <a:endParaRPr lang="en-US" sz="1350" dirty="0"/>
          </a:p>
        </p:txBody>
      </p:sp>
      <p:sp>
        <p:nvSpPr>
          <p:cNvPr id="5" name="Shape 3"/>
          <p:cNvSpPr/>
          <p:nvPr/>
        </p:nvSpPr>
        <p:spPr>
          <a:xfrm>
            <a:off x="11423599" y="512064"/>
            <a:ext cx="109728" cy="109728"/>
          </a:xfrm>
          <a:prstGeom prst="rect">
            <a:avLst/>
          </a:prstGeom>
          <a:solidFill>
            <a:srgbClr val="86BC25"/>
          </a:solidFill>
          <a:ln/>
        </p:spPr>
      </p:sp>
      <p:sp>
        <p:nvSpPr>
          <p:cNvPr id="6" name="Shape 4"/>
          <p:cNvSpPr/>
          <p:nvPr/>
        </p:nvSpPr>
        <p:spPr>
          <a:xfrm>
            <a:off x="658368" y="2194560"/>
            <a:ext cx="310896" cy="310896"/>
          </a:xfrm>
          <a:prstGeom prst="rect">
            <a:avLst/>
          </a:prstGeom>
          <a:solidFill>
            <a:srgbClr val="000000"/>
          </a:solidFill>
          <a:ln/>
        </p:spPr>
      </p:sp>
      <p:sp>
        <p:nvSpPr>
          <p:cNvPr id="7" name="Text 5"/>
          <p:cNvSpPr txBox="1"/>
          <p:nvPr/>
        </p:nvSpPr>
        <p:spPr>
          <a:xfrm>
            <a:off x="658368" y="21945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1115568" y="2194560"/>
            <a:ext cx="1737360" cy="310896"/>
          </a:xfrm>
          <a:prstGeom prst="rect">
            <a:avLst/>
          </a:prstGeom>
          <a:noFill/>
          <a:ln/>
        </p:spPr>
        <p:txBody>
          <a:bodyPr wrap="square" lIns="0" tIns="0" rIns="0" bIns="0" rtlCol="0" anchor="ctr"/>
          <a:lstStyle/>
          <a:p>
            <a:pPr indent="0" marL="0">
              <a:buNone/>
            </a:pPr>
            <a:r>
              <a:rPr lang="en-US" sz="1300" b="1" dirty="0">
                <a:solidFill>
                  <a:srgbClr val="0F0F0F"/>
                </a:solidFill>
                <a:latin typeface="Arial" pitchFamily="34" charset="0"/>
                <a:ea typeface="Arial" pitchFamily="34" charset="-122"/>
                <a:cs typeface="Arial" pitchFamily="34" charset="-120"/>
              </a:rPr>
              <a:t>Fetch feeds</a:t>
            </a:r>
            <a:endParaRPr lang="en-US" sz="1300" dirty="0"/>
          </a:p>
        </p:txBody>
      </p:sp>
      <p:sp>
        <p:nvSpPr>
          <p:cNvPr id="9" name="Text 7"/>
          <p:cNvSpPr txBox="1"/>
          <p:nvPr/>
        </p:nvSpPr>
        <p:spPr>
          <a:xfrm>
            <a:off x="2944368" y="2157984"/>
            <a:ext cx="4572000" cy="621792"/>
          </a:xfrm>
          <a:prstGeom prst="rect">
            <a:avLst/>
          </a:prstGeom>
          <a:noFill/>
          <a:ln/>
        </p:spPr>
        <p:txBody>
          <a:bodyPr wrap="square" lIns="0" tIns="0" rIns="0" bIns="0" rtlCol="0" anchor="ctr"/>
          <a:lstStyle/>
          <a:p>
            <a:pPr indent="0" marL="0">
              <a:lnSpc>
                <a:spcPct val="120000"/>
              </a:lnSpc>
              <a:buNone/>
            </a:pPr>
            <a:r>
              <a:rPr lang="en-US" sz="1050" dirty="0">
                <a:solidFill>
                  <a:srgbClr val="53565A"/>
                </a:solidFill>
                <a:latin typeface="Arial" pitchFamily="34" charset="0"/>
                <a:ea typeface="Arial" pitchFamily="34" charset="-122"/>
                <a:cs typeface="Arial" pitchFamily="34" charset="-120"/>
              </a:rPr>
              <a:t>Vendor and incident response reporting, CISA advisories, the known exploited vulnerabilities catalogue and the arXiv API, each with its own since cursor</a:t>
            </a:r>
            <a:endParaRPr lang="en-US" sz="1050" dirty="0"/>
          </a:p>
        </p:txBody>
      </p:sp>
      <p:sp>
        <p:nvSpPr>
          <p:cNvPr id="10" name="Shape 8"/>
          <p:cNvSpPr/>
          <p:nvPr/>
        </p:nvSpPr>
        <p:spPr>
          <a:xfrm>
            <a:off x="658368" y="2962656"/>
            <a:ext cx="310896" cy="310896"/>
          </a:xfrm>
          <a:prstGeom prst="rect">
            <a:avLst/>
          </a:prstGeom>
          <a:solidFill>
            <a:srgbClr val="86BC25"/>
          </a:solidFill>
          <a:ln/>
        </p:spPr>
      </p:sp>
      <p:sp>
        <p:nvSpPr>
          <p:cNvPr id="11" name="Text 9"/>
          <p:cNvSpPr txBox="1"/>
          <p:nvPr/>
        </p:nvSpPr>
        <p:spPr>
          <a:xfrm>
            <a:off x="658368" y="2962656"/>
            <a:ext cx="310896" cy="310896"/>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2</a:t>
            </a:r>
            <a:endParaRPr lang="en-US" sz="1100" dirty="0"/>
          </a:p>
        </p:txBody>
      </p:sp>
      <p:sp>
        <p:nvSpPr>
          <p:cNvPr id="12" name="Text 10"/>
          <p:cNvSpPr txBox="1"/>
          <p:nvPr/>
        </p:nvSpPr>
        <p:spPr>
          <a:xfrm>
            <a:off x="1115568" y="2962656"/>
            <a:ext cx="1737360" cy="310896"/>
          </a:xfrm>
          <a:prstGeom prst="rect">
            <a:avLst/>
          </a:prstGeom>
          <a:noFill/>
          <a:ln/>
        </p:spPr>
        <p:txBody>
          <a:bodyPr wrap="square" lIns="0" tIns="0" rIns="0" bIns="0" rtlCol="0" anchor="ctr"/>
          <a:lstStyle/>
          <a:p>
            <a:pPr indent="0" marL="0">
              <a:buNone/>
            </a:pPr>
            <a:r>
              <a:rPr lang="en-US" sz="1300" b="1" dirty="0">
                <a:solidFill>
                  <a:srgbClr val="0F0F0F"/>
                </a:solidFill>
                <a:latin typeface="Arial" pitchFamily="34" charset="0"/>
                <a:ea typeface="Arial" pitchFamily="34" charset="-122"/>
                <a:cs typeface="Arial" pitchFamily="34" charset="-120"/>
              </a:rPr>
              <a:t>Filter, no model</a:t>
            </a:r>
            <a:endParaRPr lang="en-US" sz="1300" dirty="0"/>
          </a:p>
        </p:txBody>
      </p:sp>
      <p:sp>
        <p:nvSpPr>
          <p:cNvPr id="13" name="Text 11"/>
          <p:cNvSpPr txBox="1"/>
          <p:nvPr/>
        </p:nvSpPr>
        <p:spPr>
          <a:xfrm>
            <a:off x="2944368" y="2926080"/>
            <a:ext cx="4572000" cy="621792"/>
          </a:xfrm>
          <a:prstGeom prst="rect">
            <a:avLst/>
          </a:prstGeom>
          <a:noFill/>
          <a:ln/>
        </p:spPr>
        <p:txBody>
          <a:bodyPr wrap="square" lIns="0" tIns="0" rIns="0" bIns="0" rtlCol="0" anchor="ctr"/>
          <a:lstStyle/>
          <a:p>
            <a:pPr indent="0" marL="0">
              <a:lnSpc>
                <a:spcPct val="120000"/>
              </a:lnSpc>
              <a:buNone/>
            </a:pPr>
            <a:r>
              <a:rPr lang="en-US" sz="1050" dirty="0">
                <a:solidFill>
                  <a:srgbClr val="53565A"/>
                </a:solidFill>
                <a:latin typeface="Arial" pitchFamily="34" charset="0"/>
                <a:ea typeface="Arial" pitchFamily="34" charset="-122"/>
                <a:cs typeface="Arial" pitchFamily="34" charset="-120"/>
              </a:rPr>
              <a:t>Technique vocabulary, ATT&amp;CK mentions, command line and telemetry vocabulary, then embedding similarity. About 300 articles a week become 90 worth reading</a:t>
            </a:r>
            <a:endParaRPr lang="en-US" sz="1050" dirty="0"/>
          </a:p>
        </p:txBody>
      </p:sp>
      <p:sp>
        <p:nvSpPr>
          <p:cNvPr id="14" name="Shape 12"/>
          <p:cNvSpPr/>
          <p:nvPr/>
        </p:nvSpPr>
        <p:spPr>
          <a:xfrm>
            <a:off x="658368" y="3730752"/>
            <a:ext cx="310896" cy="310896"/>
          </a:xfrm>
          <a:prstGeom prst="rect">
            <a:avLst/>
          </a:prstGeom>
          <a:solidFill>
            <a:srgbClr val="000000"/>
          </a:solidFill>
          <a:ln/>
        </p:spPr>
      </p:sp>
      <p:sp>
        <p:nvSpPr>
          <p:cNvPr id="15" name="Text 13"/>
          <p:cNvSpPr txBox="1"/>
          <p:nvPr/>
        </p:nvSpPr>
        <p:spPr>
          <a:xfrm>
            <a:off x="658368" y="3730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txBox="1"/>
          <p:nvPr/>
        </p:nvSpPr>
        <p:spPr>
          <a:xfrm>
            <a:off x="1115568" y="3730752"/>
            <a:ext cx="1737360" cy="310896"/>
          </a:xfrm>
          <a:prstGeom prst="rect">
            <a:avLst/>
          </a:prstGeom>
          <a:noFill/>
          <a:ln/>
        </p:spPr>
        <p:txBody>
          <a:bodyPr wrap="square" lIns="0" tIns="0" rIns="0" bIns="0" rtlCol="0" anchor="ctr"/>
          <a:lstStyle/>
          <a:p>
            <a:pPr indent="0" marL="0">
              <a:buNone/>
            </a:pPr>
            <a:r>
              <a:rPr lang="en-US" sz="1300" b="1" dirty="0">
                <a:solidFill>
                  <a:srgbClr val="0F0F0F"/>
                </a:solidFill>
                <a:latin typeface="Arial" pitchFamily="34" charset="0"/>
                <a:ea typeface="Arial" pitchFamily="34" charset="-122"/>
                <a:cs typeface="Arial" pitchFamily="34" charset="-120"/>
              </a:rPr>
              <a:t>Extract</a:t>
            </a:r>
            <a:endParaRPr lang="en-US" sz="1300" dirty="0"/>
          </a:p>
        </p:txBody>
      </p:sp>
      <p:sp>
        <p:nvSpPr>
          <p:cNvPr id="17" name="Text 15"/>
          <p:cNvSpPr txBox="1"/>
          <p:nvPr/>
        </p:nvSpPr>
        <p:spPr>
          <a:xfrm>
            <a:off x="2944368" y="3694176"/>
            <a:ext cx="4572000" cy="621792"/>
          </a:xfrm>
          <a:prstGeom prst="rect">
            <a:avLst/>
          </a:prstGeom>
          <a:noFill/>
          <a:ln/>
        </p:spPr>
        <p:txBody>
          <a:bodyPr wrap="square" lIns="0" tIns="0" rIns="0" bIns="0" rtlCol="0" anchor="ctr"/>
          <a:lstStyle/>
          <a:p>
            <a:pPr indent="0" marL="0">
              <a:lnSpc>
                <a:spcPct val="120000"/>
              </a:lnSpc>
              <a:buNone/>
            </a:pPr>
            <a:r>
              <a:rPr lang="en-US" sz="1050" dirty="0">
                <a:solidFill>
                  <a:srgbClr val="53565A"/>
                </a:solidFill>
                <a:latin typeface="Arial" pitchFamily="34" charset="0"/>
                <a:ea typeface="Arial" pitchFamily="34" charset="-122"/>
                <a:cs typeface="Arial" pitchFamily="34" charset="-120"/>
              </a:rPr>
              <a:t>Schema bound model calls, two to four chunks per article, producing the statement and the technique identifier</a:t>
            </a:r>
            <a:endParaRPr lang="en-US" sz="1050" dirty="0"/>
          </a:p>
        </p:txBody>
      </p:sp>
      <p:sp>
        <p:nvSpPr>
          <p:cNvPr id="18" name="Shape 16"/>
          <p:cNvSpPr/>
          <p:nvPr/>
        </p:nvSpPr>
        <p:spPr>
          <a:xfrm>
            <a:off x="658368" y="4498848"/>
            <a:ext cx="310896" cy="310896"/>
          </a:xfrm>
          <a:prstGeom prst="rect">
            <a:avLst/>
          </a:prstGeom>
          <a:solidFill>
            <a:srgbClr val="000000"/>
          </a:solidFill>
          <a:ln/>
        </p:spPr>
      </p:sp>
      <p:sp>
        <p:nvSpPr>
          <p:cNvPr id="19" name="Text 17"/>
          <p:cNvSpPr txBox="1"/>
          <p:nvPr/>
        </p:nvSpPr>
        <p:spPr>
          <a:xfrm>
            <a:off x="658368" y="44988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0" name="Text 18"/>
          <p:cNvSpPr txBox="1"/>
          <p:nvPr/>
        </p:nvSpPr>
        <p:spPr>
          <a:xfrm>
            <a:off x="1115568" y="4498848"/>
            <a:ext cx="1737360" cy="310896"/>
          </a:xfrm>
          <a:prstGeom prst="rect">
            <a:avLst/>
          </a:prstGeom>
          <a:noFill/>
          <a:ln/>
        </p:spPr>
        <p:txBody>
          <a:bodyPr wrap="square" lIns="0" tIns="0" rIns="0" bIns="0" rtlCol="0" anchor="ctr"/>
          <a:lstStyle/>
          <a:p>
            <a:pPr indent="0" marL="0">
              <a:buNone/>
            </a:pPr>
            <a:r>
              <a:rPr lang="en-US" sz="1300" b="1" dirty="0">
                <a:solidFill>
                  <a:srgbClr val="0F0F0F"/>
                </a:solidFill>
                <a:latin typeface="Arial" pitchFamily="34" charset="0"/>
                <a:ea typeface="Arial" pitchFamily="34" charset="-122"/>
                <a:cs typeface="Arial" pitchFamily="34" charset="-120"/>
              </a:rPr>
              <a:t>Ground</a:t>
            </a:r>
            <a:endParaRPr lang="en-US" sz="1300" dirty="0"/>
          </a:p>
        </p:txBody>
      </p:sp>
      <p:sp>
        <p:nvSpPr>
          <p:cNvPr id="21" name="Text 19"/>
          <p:cNvSpPr txBox="1"/>
          <p:nvPr/>
        </p:nvSpPr>
        <p:spPr>
          <a:xfrm>
            <a:off x="2944368" y="4462272"/>
            <a:ext cx="4572000" cy="621792"/>
          </a:xfrm>
          <a:prstGeom prst="rect">
            <a:avLst/>
          </a:prstGeom>
          <a:noFill/>
          <a:ln/>
        </p:spPr>
        <p:txBody>
          <a:bodyPr wrap="square" lIns="0" tIns="0" rIns="0" bIns="0" rtlCol="0" anchor="ctr"/>
          <a:lstStyle/>
          <a:p>
            <a:pPr indent="0" marL="0">
              <a:lnSpc>
                <a:spcPct val="120000"/>
              </a:lnSpc>
              <a:buNone/>
            </a:pPr>
            <a:r>
              <a:rPr lang="en-US" sz="1050" dirty="0">
                <a:solidFill>
                  <a:srgbClr val="53565A"/>
                </a:solidFill>
                <a:latin typeface="Arial" pitchFamily="34" charset="0"/>
                <a:ea typeface="Arial" pitchFamily="34" charset="-122"/>
                <a:cs typeface="Arial" pitchFamily="34" charset="-120"/>
              </a:rPr>
              <a:t>Every claim carries a quote that appears verbatim in the article. The technique is checked against the ATT&amp;CK table and the tactic is read from it, never trusted from the model</a:t>
            </a:r>
            <a:endParaRPr lang="en-US" sz="1050" dirty="0"/>
          </a:p>
        </p:txBody>
      </p:sp>
      <p:sp>
        <p:nvSpPr>
          <p:cNvPr id="22" name="Shape 20"/>
          <p:cNvSpPr/>
          <p:nvPr/>
        </p:nvSpPr>
        <p:spPr>
          <a:xfrm>
            <a:off x="658368" y="5266944"/>
            <a:ext cx="310896" cy="310896"/>
          </a:xfrm>
          <a:prstGeom prst="rect">
            <a:avLst/>
          </a:prstGeom>
          <a:solidFill>
            <a:srgbClr val="000000"/>
          </a:solidFill>
          <a:ln/>
        </p:spPr>
      </p:sp>
      <p:sp>
        <p:nvSpPr>
          <p:cNvPr id="23" name="Text 21"/>
          <p:cNvSpPr txBox="1"/>
          <p:nvPr/>
        </p:nvSpPr>
        <p:spPr>
          <a:xfrm>
            <a:off x="658368" y="52669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4" name="Text 22"/>
          <p:cNvSpPr txBox="1"/>
          <p:nvPr/>
        </p:nvSpPr>
        <p:spPr>
          <a:xfrm>
            <a:off x="1115568" y="5266944"/>
            <a:ext cx="1737360" cy="310896"/>
          </a:xfrm>
          <a:prstGeom prst="rect">
            <a:avLst/>
          </a:prstGeom>
          <a:noFill/>
          <a:ln/>
        </p:spPr>
        <p:txBody>
          <a:bodyPr wrap="square" lIns="0" tIns="0" rIns="0" bIns="0" rtlCol="0" anchor="ctr"/>
          <a:lstStyle/>
          <a:p>
            <a:pPr indent="0" marL="0">
              <a:buNone/>
            </a:pPr>
            <a:r>
              <a:rPr lang="en-US" sz="1300" b="1" dirty="0">
                <a:solidFill>
                  <a:srgbClr val="0F0F0F"/>
                </a:solidFill>
                <a:latin typeface="Arial" pitchFamily="34" charset="0"/>
                <a:ea typeface="Arial" pitchFamily="34" charset="-122"/>
                <a:cs typeface="Arial" pitchFamily="34" charset="-120"/>
              </a:rPr>
              <a:t>Dedupe and write</a:t>
            </a:r>
            <a:endParaRPr lang="en-US" sz="1300" dirty="0"/>
          </a:p>
        </p:txBody>
      </p:sp>
      <p:sp>
        <p:nvSpPr>
          <p:cNvPr id="25" name="Text 23"/>
          <p:cNvSpPr txBox="1"/>
          <p:nvPr/>
        </p:nvSpPr>
        <p:spPr>
          <a:xfrm>
            <a:off x="2944368" y="5230368"/>
            <a:ext cx="4572000" cy="621792"/>
          </a:xfrm>
          <a:prstGeom prst="rect">
            <a:avLst/>
          </a:prstGeom>
          <a:noFill/>
          <a:ln/>
        </p:spPr>
        <p:txBody>
          <a:bodyPr wrap="square" lIns="0" tIns="0" rIns="0" bIns="0" rtlCol="0" anchor="ctr"/>
          <a:lstStyle/>
          <a:p>
            <a:pPr indent="0" marL="0">
              <a:lnSpc>
                <a:spcPct val="120000"/>
              </a:lnSpc>
              <a:buNone/>
            </a:pPr>
            <a:r>
              <a:rPr lang="en-US" sz="1050" dirty="0">
                <a:solidFill>
                  <a:srgbClr val="53565A"/>
                </a:solidFill>
                <a:latin typeface="Arial" pitchFamily="34" charset="0"/>
                <a:ea typeface="Arial" pitchFamily="34" charset="-122"/>
                <a:cs typeface="Arial" pitchFamily="34" charset="-120"/>
              </a:rPr>
              <a:t>Above 0.88 cosine similarity the article attaches to the existing hypothesis as a further reference rather than creating a near duplicate</a:t>
            </a:r>
            <a:endParaRPr lang="en-US" sz="1050" dirty="0"/>
          </a:p>
        </p:txBody>
      </p:sp>
      <p:sp>
        <p:nvSpPr>
          <p:cNvPr id="26" name="Shape 24"/>
          <p:cNvSpPr/>
          <p:nvPr/>
        </p:nvSpPr>
        <p:spPr>
          <a:xfrm>
            <a:off x="7863840" y="2194560"/>
            <a:ext cx="3675888" cy="3602736"/>
          </a:xfrm>
          <a:prstGeom prst="rect">
            <a:avLst/>
          </a:prstGeom>
          <a:solidFill>
            <a:srgbClr val="F4F4F2"/>
          </a:solidFill>
          <a:ln w="9525">
            <a:solidFill>
              <a:srgbClr val="D0D0CE"/>
            </a:solidFill>
            <a:prstDash val="solid"/>
          </a:ln>
        </p:spPr>
      </p:sp>
      <p:sp>
        <p:nvSpPr>
          <p:cNvPr id="27" name="Text 25"/>
          <p:cNvSpPr txBox="1"/>
          <p:nvPr/>
        </p:nvSpPr>
        <p:spPr>
          <a:xfrm>
            <a:off x="8156448" y="2414016"/>
            <a:ext cx="3108960" cy="310896"/>
          </a:xfrm>
          <a:prstGeom prst="rect">
            <a:avLst/>
          </a:prstGeom>
          <a:noFill/>
          <a:ln/>
        </p:spPr>
        <p:txBody>
          <a:bodyPr wrap="square" lIns="0" tIns="0" rIns="0" bIns="0" rtlCol="0" anchor="ctr"/>
          <a:lstStyle/>
          <a:p>
            <a:pPr indent="0" marL="0">
              <a:buNone/>
            </a:pPr>
            <a:r>
              <a:rPr lang="en-US" sz="1350" b="1" dirty="0">
                <a:solidFill>
                  <a:srgbClr val="0F0F0F"/>
                </a:solidFill>
                <a:latin typeface="Arial" pitchFamily="34" charset="0"/>
                <a:ea typeface="Arial" pitchFamily="34" charset="-122"/>
                <a:cs typeface="Arial" pitchFamily="34" charset="-120"/>
              </a:rPr>
              <a:t>Why the cheap filter matters</a:t>
            </a:r>
            <a:endParaRPr lang="en-US" sz="1350" dirty="0"/>
          </a:p>
        </p:txBody>
      </p:sp>
      <p:sp>
        <p:nvSpPr>
          <p:cNvPr id="28" name="Text 26"/>
          <p:cNvSpPr txBox="1"/>
          <p:nvPr/>
        </p:nvSpPr>
        <p:spPr>
          <a:xfrm>
            <a:off x="8156448" y="2798064"/>
            <a:ext cx="3108960" cy="548640"/>
          </a:xfrm>
          <a:prstGeom prst="rect">
            <a:avLst/>
          </a:prstGeom>
          <a:noFill/>
          <a:ln/>
        </p:spPr>
        <p:txBody>
          <a:bodyPr wrap="square" lIns="0" tIns="0" rIns="0" bIns="0" rtlCol="0" anchor="ctr"/>
          <a:lstStyle/>
          <a:p>
            <a:pPr indent="0" marL="0">
              <a:buNone/>
            </a:pPr>
            <a:r>
              <a:rPr lang="en-US" sz="3200" b="1" dirty="0">
                <a:solidFill>
                  <a:srgbClr val="2C2C2C"/>
                </a:solidFill>
                <a:latin typeface="Arial" pitchFamily="34" charset="0"/>
                <a:ea typeface="Arial" pitchFamily="34" charset="-122"/>
                <a:cs typeface="Arial" pitchFamily="34" charset="-120"/>
              </a:rPr>
              <a:t>3,000</a:t>
            </a:r>
            <a:endParaRPr lang="en-US" sz="3200" dirty="0"/>
          </a:p>
        </p:txBody>
      </p:sp>
      <p:sp>
        <p:nvSpPr>
          <p:cNvPr id="29" name="Text 27"/>
          <p:cNvSpPr txBox="1"/>
          <p:nvPr/>
        </p:nvSpPr>
        <p:spPr>
          <a:xfrm>
            <a:off x="8156448" y="3346704"/>
            <a:ext cx="3108960" cy="457200"/>
          </a:xfrm>
          <a:prstGeom prst="rect">
            <a:avLst/>
          </a:prstGeom>
          <a:noFill/>
          <a:ln/>
        </p:spPr>
        <p:txBody>
          <a:bodyPr wrap="square" lIns="0" tIns="0" rIns="0" bIns="0" rtlCol="0" anchor="t"/>
          <a:lstStyle/>
          <a:p>
            <a:pPr indent="0" marL="0">
              <a:lnSpc>
                <a:spcPct val="115000"/>
              </a:lnSpc>
              <a:buNone/>
            </a:pPr>
            <a:r>
              <a:rPr lang="en-US" sz="1050" dirty="0">
                <a:solidFill>
                  <a:srgbClr val="53565A"/>
                </a:solidFill>
                <a:latin typeface="Arial" pitchFamily="34" charset="0"/>
                <a:ea typeface="Arial" pitchFamily="34" charset="-122"/>
                <a:cs typeface="Arial" pitchFamily="34" charset="-120"/>
              </a:rPr>
              <a:t>model calls a run without it, most of a day on a processor only host</a:t>
            </a:r>
            <a:endParaRPr lang="en-US" sz="1050" dirty="0"/>
          </a:p>
        </p:txBody>
      </p:sp>
      <p:sp>
        <p:nvSpPr>
          <p:cNvPr id="30" name="Text 28"/>
          <p:cNvSpPr txBox="1"/>
          <p:nvPr/>
        </p:nvSpPr>
        <p:spPr>
          <a:xfrm>
            <a:off x="8156448" y="3931920"/>
            <a:ext cx="3108960" cy="548640"/>
          </a:xfrm>
          <a:prstGeom prst="rect">
            <a:avLst/>
          </a:prstGeom>
          <a:noFill/>
          <a:ln/>
        </p:spPr>
        <p:txBody>
          <a:bodyPr wrap="square" lIns="0" tIns="0" rIns="0" bIns="0" rtlCol="0" anchor="ctr"/>
          <a:lstStyle/>
          <a:p>
            <a:pPr indent="0" marL="0">
              <a:buNone/>
            </a:pPr>
            <a:r>
              <a:rPr lang="en-US" sz="3200" b="1" dirty="0">
                <a:solidFill>
                  <a:srgbClr val="86BC25"/>
                </a:solidFill>
                <a:latin typeface="Arial" pitchFamily="34" charset="0"/>
                <a:ea typeface="Arial" pitchFamily="34" charset="-122"/>
                <a:cs typeface="Arial" pitchFamily="34" charset="-120"/>
              </a:rPr>
              <a:t>about 270</a:t>
            </a:r>
            <a:endParaRPr lang="en-US" sz="3200" dirty="0"/>
          </a:p>
        </p:txBody>
      </p:sp>
      <p:sp>
        <p:nvSpPr>
          <p:cNvPr id="31" name="Text 29"/>
          <p:cNvSpPr txBox="1"/>
          <p:nvPr/>
        </p:nvSpPr>
        <p:spPr>
          <a:xfrm>
            <a:off x="8156448" y="4480560"/>
            <a:ext cx="3108960" cy="457200"/>
          </a:xfrm>
          <a:prstGeom prst="rect">
            <a:avLst/>
          </a:prstGeom>
          <a:noFill/>
          <a:ln/>
        </p:spPr>
        <p:txBody>
          <a:bodyPr wrap="square" lIns="0" tIns="0" rIns="0" bIns="0" rtlCol="0" anchor="t"/>
          <a:lstStyle/>
          <a:p>
            <a:pPr indent="0" marL="0">
              <a:lnSpc>
                <a:spcPct val="115000"/>
              </a:lnSpc>
              <a:buNone/>
            </a:pPr>
            <a:r>
              <a:rPr lang="en-US" sz="1050" dirty="0">
                <a:solidFill>
                  <a:srgbClr val="53565A"/>
                </a:solidFill>
                <a:latin typeface="Arial" pitchFamily="34" charset="0"/>
                <a:ea typeface="Arial" pitchFamily="34" charset="-122"/>
                <a:cs typeface="Arial" pitchFamily="34" charset="-120"/>
              </a:rPr>
              <a:t>with it, which is a few hours overnight and nobody is waiting</a:t>
            </a:r>
            <a:endParaRPr lang="en-US" sz="1050" dirty="0"/>
          </a:p>
        </p:txBody>
      </p:sp>
      <p:sp>
        <p:nvSpPr>
          <p:cNvPr id="32" name="Shape 30"/>
          <p:cNvSpPr/>
          <p:nvPr/>
        </p:nvSpPr>
        <p:spPr>
          <a:xfrm>
            <a:off x="8156448" y="5047488"/>
            <a:ext cx="3108960" cy="0"/>
          </a:xfrm>
          <a:prstGeom prst="line">
            <a:avLst/>
          </a:prstGeom>
          <a:noFill/>
          <a:ln w="9525">
            <a:solidFill>
              <a:srgbClr val="D0D0CE"/>
            </a:solidFill>
            <a:prstDash val="solid"/>
          </a:ln>
        </p:spPr>
      </p:sp>
      <p:sp>
        <p:nvSpPr>
          <p:cNvPr id="33" name="Text 31"/>
          <p:cNvSpPr txBox="1"/>
          <p:nvPr/>
        </p:nvSpPr>
        <p:spPr>
          <a:xfrm>
            <a:off x="8156448" y="5193792"/>
            <a:ext cx="3108960" cy="548640"/>
          </a:xfrm>
          <a:prstGeom prst="rect">
            <a:avLst/>
          </a:prstGeom>
          <a:noFill/>
          <a:ln/>
        </p:spPr>
        <p:txBody>
          <a:bodyPr wrap="square" lIns="0" tIns="0" rIns="0" bIns="0" rtlCol="0" anchor="t"/>
          <a:lstStyle/>
          <a:p>
            <a:pPr indent="0" marL="0">
              <a:lnSpc>
                <a:spcPct val="120000"/>
              </a:lnSpc>
              <a:buNone/>
            </a:pPr>
            <a:r>
              <a:rPr lang="en-US" sz="950" i="1" dirty="0">
                <a:solidFill>
                  <a:srgbClr val="75787B"/>
                </a:solidFill>
                <a:latin typeface="Arial" pitchFamily="34" charset="0"/>
                <a:ea typeface="Arial" pitchFamily="34" charset="-122"/>
                <a:cs typeface="Arial" pitchFamily="34" charset="-120"/>
              </a:rPr>
              <a:t>It honours robots.txt, rate limits per domain, and asks each feed conditionally so an unchanged one costs a single request.</a:t>
            </a:r>
            <a:endParaRPr lang="en-US" sz="950" dirty="0"/>
          </a:p>
        </p:txBody>
      </p:sp>
      <p:sp>
        <p:nvSpPr>
          <p:cNvPr id="34" name="Text 32"/>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35" name="Text 33"/>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AGENT ONE IN THE INTERFACE</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Nothing publishes itself</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26364" y="1924812"/>
            <a:ext cx="5639471" cy="3995928"/>
          </a:xfrm>
          <a:prstGeom prst="rect">
            <a:avLst/>
          </a:prstGeom>
          <a:solidFill>
            <a:srgbClr val="FFFFFF"/>
          </a:solidFill>
          <a:ln w="12700">
            <a:solidFill>
              <a:srgbClr val="D0D0CE"/>
            </a:solidFill>
            <a:prstDash val="solid"/>
          </a:ln>
        </p:spPr>
      </p:sp>
      <p:pic>
        <p:nvPicPr>
          <p:cNvPr id="6" name="Image 0" descr="img/18-review-queue.png">    </p:cNvPr>
          <p:cNvPicPr>
            <a:picLocks noChangeAspect="1"/>
          </p:cNvPicPr>
          <p:nvPr/>
        </p:nvPicPr>
        <p:blipFill>
          <a:blip r:embed="rId1"/>
          <a:stretch>
            <a:fillRect/>
          </a:stretch>
        </p:blipFill>
        <p:spPr>
          <a:xfrm>
            <a:off x="658368" y="1956816"/>
            <a:ext cx="5575463" cy="3931920"/>
          </a:xfrm>
          <a:prstGeom prst="rect">
            <a:avLst/>
          </a:prstGeom>
        </p:spPr>
      </p:pic>
      <p:sp>
        <p:nvSpPr>
          <p:cNvPr id="7" name="Shape 4"/>
          <p:cNvSpPr/>
          <p:nvPr/>
        </p:nvSpPr>
        <p:spPr>
          <a:xfrm>
            <a:off x="6563015" y="1956816"/>
            <a:ext cx="4970313" cy="3931920"/>
          </a:xfrm>
          <a:prstGeom prst="rect">
            <a:avLst/>
          </a:prstGeom>
          <a:solidFill>
            <a:srgbClr val="FFFFFF"/>
          </a:solidFill>
          <a:ln w="9525">
            <a:solidFill>
              <a:srgbClr val="D0D0CE"/>
            </a:solidFill>
            <a:prstDash val="solid"/>
          </a:ln>
        </p:spPr>
      </p:sp>
      <p:sp>
        <p:nvSpPr>
          <p:cNvPr id="8" name="Text 5"/>
          <p:cNvSpPr txBox="1"/>
          <p:nvPr/>
        </p:nvSpPr>
        <p:spPr>
          <a:xfrm>
            <a:off x="6837335" y="2176272"/>
            <a:ext cx="4421673" cy="310896"/>
          </a:xfrm>
          <a:prstGeom prst="rect">
            <a:avLst/>
          </a:prstGeom>
          <a:noFill/>
          <a:ln/>
        </p:spPr>
        <p:txBody>
          <a:bodyPr wrap="square" lIns="0" tIns="0" rIns="0" bIns="0" rtlCol="0" anchor="ctr"/>
          <a:lstStyle/>
          <a:p>
            <a:pPr indent="0" marL="0">
              <a:buNone/>
            </a:pPr>
            <a:r>
              <a:rPr lang="en-US" sz="1400" b="1" dirty="0">
                <a:solidFill>
                  <a:srgbClr val="0F0F0F"/>
                </a:solidFill>
                <a:latin typeface="Arial" pitchFamily="34" charset="0"/>
                <a:ea typeface="Arial" pitchFamily="34" charset="-122"/>
                <a:cs typeface="Arial" pitchFamily="34" charset="-120"/>
              </a:rPr>
              <a:t>The weekly review</a:t>
            </a:r>
            <a:endParaRPr lang="en-US" sz="1400" dirty="0"/>
          </a:p>
        </p:txBody>
      </p:sp>
      <p:sp>
        <p:nvSpPr>
          <p:cNvPr id="9" name="Text 6"/>
          <p:cNvSpPr txBox="1"/>
          <p:nvPr/>
        </p:nvSpPr>
        <p:spPr>
          <a:xfrm>
            <a:off x="6837335" y="2578608"/>
            <a:ext cx="4421673" cy="3108960"/>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One run produces one queue, so there is one review a week: fifteen to twenty five candidates, a few minutes of work.</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Each candidate shows its statement, technique, tactic, data sources, source link and the quoted passage behind it.</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The validators are a quality label rather than a gate. Ready means every check passed. Needs attention shows which check failed and why.</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A technique no rule covers still publishes, as a named detection gap that runs behavioural profiling alone. That is itself useful output.</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A rejected article is remembered, so the same source is never proposed twice.</a:t>
            </a:r>
            <a:endParaRPr lang="en-US" sz="1040" dirty="0"/>
          </a:p>
        </p:txBody>
      </p:sp>
      <p:sp>
        <p:nvSpPr>
          <p:cNvPr id="10" name="Text 7"/>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1" name="Text 8"/>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AGENT TWO</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The behavioural analyst</a:t>
            </a:r>
            <a:endParaRPr lang="en-US" sz="3200" dirty="0"/>
          </a:p>
        </p:txBody>
      </p:sp>
      <p:sp>
        <p:nvSpPr>
          <p:cNvPr id="4" name="Text 2"/>
          <p:cNvSpPr txBox="1"/>
          <p:nvPr/>
        </p:nvSpPr>
        <p:spPr>
          <a:xfrm>
            <a:off x="658368" y="1426464"/>
            <a:ext cx="10326319" cy="310896"/>
          </a:xfrm>
          <a:prstGeom prst="rect">
            <a:avLst/>
          </a:prstGeom>
          <a:noFill/>
          <a:ln/>
        </p:spPr>
        <p:txBody>
          <a:bodyPr wrap="square" lIns="0" tIns="0" rIns="0" bIns="0" rtlCol="0" anchor="ctr"/>
          <a:lstStyle/>
          <a:p>
            <a:pPr indent="0" marL="0">
              <a:buNone/>
            </a:pPr>
            <a:r>
              <a:rPr lang="en-US" sz="1350" dirty="0">
                <a:solidFill>
                  <a:srgbClr val="53565A"/>
                </a:solidFill>
                <a:latin typeface="Arial" pitchFamily="34" charset="0"/>
                <a:ea typeface="Arial" pitchFamily="34" charset="-122"/>
                <a:cs typeface="Arial" pitchFamily="34" charset="-120"/>
              </a:rPr>
              <a:t>Two stages, because 500,000 events do not fit in any model context.</a:t>
            </a:r>
            <a:endParaRPr lang="en-US" sz="1350" dirty="0"/>
          </a:p>
        </p:txBody>
      </p:sp>
      <p:sp>
        <p:nvSpPr>
          <p:cNvPr id="5" name="Shape 3"/>
          <p:cNvSpPr/>
          <p:nvPr/>
        </p:nvSpPr>
        <p:spPr>
          <a:xfrm>
            <a:off x="11423599" y="512064"/>
            <a:ext cx="109728" cy="109728"/>
          </a:xfrm>
          <a:prstGeom prst="rect">
            <a:avLst/>
          </a:prstGeom>
          <a:solidFill>
            <a:srgbClr val="86BC25"/>
          </a:solidFill>
          <a:ln/>
        </p:spPr>
      </p:sp>
      <p:sp>
        <p:nvSpPr>
          <p:cNvPr id="6" name="Shape 4"/>
          <p:cNvSpPr/>
          <p:nvPr/>
        </p:nvSpPr>
        <p:spPr>
          <a:xfrm>
            <a:off x="658368" y="2212848"/>
            <a:ext cx="5230368" cy="3200400"/>
          </a:xfrm>
          <a:prstGeom prst="rect">
            <a:avLst/>
          </a:prstGeom>
          <a:solidFill>
            <a:srgbClr val="FFFFFF"/>
          </a:solidFill>
          <a:ln w="9525">
            <a:solidFill>
              <a:srgbClr val="D0D0CE"/>
            </a:solidFill>
            <a:prstDash val="solid"/>
          </a:ln>
        </p:spPr>
      </p:sp>
      <p:sp>
        <p:nvSpPr>
          <p:cNvPr id="7" name="Text 5"/>
          <p:cNvSpPr txBox="1"/>
          <p:nvPr/>
        </p:nvSpPr>
        <p:spPr>
          <a:xfrm>
            <a:off x="969264" y="2414016"/>
            <a:ext cx="1828800" cy="274320"/>
          </a:xfrm>
          <a:prstGeom prst="rect">
            <a:avLst/>
          </a:prstGeom>
          <a:noFill/>
          <a:ln/>
        </p:spPr>
        <p:txBody>
          <a:bodyPr wrap="square" lIns="0" tIns="0" rIns="0" bIns="0" rtlCol="0" anchor="ctr"/>
          <a:lstStyle/>
          <a:p>
            <a:pPr indent="0" marL="0">
              <a:buNone/>
            </a:pPr>
            <a:r>
              <a:rPr lang="en-US" sz="1100" b="1" spc="160" kern="0" dirty="0">
                <a:solidFill>
                  <a:srgbClr val="86BC25"/>
                </a:solidFill>
                <a:latin typeface="Arial" pitchFamily="34" charset="0"/>
                <a:ea typeface="Arial" pitchFamily="34" charset="-122"/>
                <a:cs typeface="Arial" pitchFamily="34" charset="-120"/>
              </a:rPr>
              <a:t>Stage A</a:t>
            </a:r>
            <a:endParaRPr lang="en-US" sz="1100" dirty="0"/>
          </a:p>
        </p:txBody>
      </p:sp>
      <p:sp>
        <p:nvSpPr>
          <p:cNvPr id="8" name="Text 6"/>
          <p:cNvSpPr txBox="1"/>
          <p:nvPr/>
        </p:nvSpPr>
        <p:spPr>
          <a:xfrm>
            <a:off x="969264" y="2706624"/>
            <a:ext cx="4572000" cy="329184"/>
          </a:xfrm>
          <a:prstGeom prst="rect">
            <a:avLst/>
          </a:prstGeom>
          <a:noFill/>
          <a:ln/>
        </p:spPr>
        <p:txBody>
          <a:bodyPr wrap="square" lIns="0" tIns="0" rIns="0" bIns="0" rtlCol="0" anchor="ctr"/>
          <a:lstStyle/>
          <a:p>
            <a:pPr indent="0" marL="0">
              <a:buNone/>
            </a:pPr>
            <a:r>
              <a:rPr lang="en-US" sz="1600" b="1" dirty="0">
                <a:solidFill>
                  <a:srgbClr val="0F0F0F"/>
                </a:solidFill>
                <a:latin typeface="Arial" pitchFamily="34" charset="0"/>
                <a:ea typeface="Arial" pitchFamily="34" charset="-122"/>
                <a:cs typeface="Arial" pitchFamily="34" charset="-120"/>
              </a:rPr>
              <a:t>Profiling, with no model at all</a:t>
            </a:r>
            <a:endParaRPr lang="en-US" sz="1600" dirty="0"/>
          </a:p>
        </p:txBody>
      </p:sp>
      <p:sp>
        <p:nvSpPr>
          <p:cNvPr id="9" name="Text 7"/>
          <p:cNvSpPr txBox="1"/>
          <p:nvPr/>
        </p:nvSpPr>
        <p:spPr>
          <a:xfrm>
            <a:off x="969264" y="3127248"/>
            <a:ext cx="4608576" cy="2157984"/>
          </a:xfrm>
          <a:prstGeom prst="rect">
            <a:avLst/>
          </a:prstGeom>
          <a:noFill/>
          <a:ln/>
        </p:spPr>
        <p:txBody>
          <a:bodyPr wrap="square" lIns="0" tIns="0" rIns="0" bIns="0" rtlCol="0" anchor="t"/>
          <a:lstStyle/>
          <a:p>
            <a:pPr indent="0" marL="0">
              <a:lnSpc>
                <a:spcPct val="125000"/>
              </a:lnSpc>
              <a:buNone/>
            </a:pPr>
            <a:r>
              <a:rPr lang="en-US" sz="1050" dirty="0">
                <a:solidFill>
                  <a:srgbClr val="53565A"/>
                </a:solidFill>
                <a:latin typeface="Arial" pitchFamily="34" charset="0"/>
                <a:ea typeface="Arial" pitchFamily="34" charset="-122"/>
                <a:cs typeface="Arial" pitchFamily="34" charset="-120"/>
              </a:rPr>
              <a:t>Every host, account, process, address, destination and client gets a feature vector across volume, diversity, rarity, timing, content, volumetrics and structure.</a:t>
            </a:r>
            <a:endParaRPr lang="en-US" sz="1050" dirty="0"/>
          </a:p>
          <a:p>
            <a:pPr indent="0" marL="0">
              <a:lnSpc>
                <a:spcPct val="125000"/>
              </a:lnSpc>
              <a:buNone/>
            </a:pPr>
            <a:endParaRPr lang="en-US" sz="1050" dirty="0"/>
          </a:p>
          <a:p>
            <a:pPr indent="0" marL="0">
              <a:lnSpc>
                <a:spcPct val="125000"/>
              </a:lnSpc>
              <a:buNone/>
            </a:pPr>
            <a:r>
              <a:rPr lang="en-US" sz="1050" dirty="0">
                <a:solidFill>
                  <a:srgbClr val="53565A"/>
                </a:solidFill>
                <a:latin typeface="Arial" pitchFamily="34" charset="0"/>
                <a:ea typeface="Arial" pitchFamily="34" charset="-122"/>
                <a:cs typeface="Arial" pitchFamily="34" charset="-120"/>
              </a:rPr>
              <a:t>Peer group robust outliers: an entity is compared only to entities of the same kind, using modified z scores over the median absolute deviation. That is what stops a domain controller being flagged for behaving unlike a laptop.</a:t>
            </a:r>
            <a:endParaRPr lang="en-US" sz="1050" dirty="0"/>
          </a:p>
          <a:p>
            <a:pPr indent="0" marL="0">
              <a:lnSpc>
                <a:spcPct val="125000"/>
              </a:lnSpc>
              <a:buNone/>
            </a:pPr>
            <a:endParaRPr lang="en-US" sz="1050" dirty="0"/>
          </a:p>
          <a:p>
            <a:pPr indent="0" marL="0">
              <a:lnSpc>
                <a:spcPct val="125000"/>
              </a:lnSpc>
              <a:buNone/>
            </a:pPr>
            <a:r>
              <a:rPr lang="en-US" sz="1050" dirty="0">
                <a:solidFill>
                  <a:srgbClr val="53565A"/>
                </a:solidFill>
                <a:latin typeface="Arial" pitchFamily="34" charset="0"/>
                <a:ea typeface="Arial" pitchFamily="34" charset="-122"/>
                <a:cs typeface="Arial" pitchFamily="34" charset="-120"/>
              </a:rPr>
              <a:t>Sequence surprise: a first order Markov model over each entity's own sequence of actions catches the right events in the wrong order, which no fixed rule expresses.</a:t>
            </a:r>
            <a:endParaRPr lang="en-US" sz="1050" dirty="0"/>
          </a:p>
        </p:txBody>
      </p:sp>
      <p:sp>
        <p:nvSpPr>
          <p:cNvPr id="10" name="Shape 8"/>
          <p:cNvSpPr/>
          <p:nvPr/>
        </p:nvSpPr>
        <p:spPr>
          <a:xfrm>
            <a:off x="6199632" y="2212848"/>
            <a:ext cx="5230368" cy="3200400"/>
          </a:xfrm>
          <a:prstGeom prst="rect">
            <a:avLst/>
          </a:prstGeom>
          <a:solidFill>
            <a:srgbClr val="F4F4F2"/>
          </a:solidFill>
          <a:ln w="9525">
            <a:solidFill>
              <a:srgbClr val="D0D0CE"/>
            </a:solidFill>
            <a:prstDash val="solid"/>
          </a:ln>
        </p:spPr>
      </p:sp>
      <p:sp>
        <p:nvSpPr>
          <p:cNvPr id="11" name="Text 9"/>
          <p:cNvSpPr txBox="1"/>
          <p:nvPr/>
        </p:nvSpPr>
        <p:spPr>
          <a:xfrm>
            <a:off x="6510528" y="2414016"/>
            <a:ext cx="1828800" cy="274320"/>
          </a:xfrm>
          <a:prstGeom prst="rect">
            <a:avLst/>
          </a:prstGeom>
          <a:noFill/>
          <a:ln/>
        </p:spPr>
        <p:txBody>
          <a:bodyPr wrap="square" lIns="0" tIns="0" rIns="0" bIns="0" rtlCol="0" anchor="ctr"/>
          <a:lstStyle/>
          <a:p>
            <a:pPr indent="0" marL="0">
              <a:buNone/>
            </a:pPr>
            <a:r>
              <a:rPr lang="en-US" sz="1100" b="1" spc="160" kern="0" dirty="0">
                <a:solidFill>
                  <a:srgbClr val="86BC25"/>
                </a:solidFill>
                <a:latin typeface="Arial" pitchFamily="34" charset="0"/>
                <a:ea typeface="Arial" pitchFamily="34" charset="-122"/>
                <a:cs typeface="Arial" pitchFamily="34" charset="-120"/>
              </a:rPr>
              <a:t>Stage B</a:t>
            </a:r>
            <a:endParaRPr lang="en-US" sz="1100" dirty="0"/>
          </a:p>
        </p:txBody>
      </p:sp>
      <p:sp>
        <p:nvSpPr>
          <p:cNvPr id="12" name="Text 10"/>
          <p:cNvSpPr txBox="1"/>
          <p:nvPr/>
        </p:nvSpPr>
        <p:spPr>
          <a:xfrm>
            <a:off x="6510528" y="2706624"/>
            <a:ext cx="4572000" cy="329184"/>
          </a:xfrm>
          <a:prstGeom prst="rect">
            <a:avLst/>
          </a:prstGeom>
          <a:noFill/>
          <a:ln/>
        </p:spPr>
        <p:txBody>
          <a:bodyPr wrap="square" lIns="0" tIns="0" rIns="0" bIns="0" rtlCol="0" anchor="ctr"/>
          <a:lstStyle/>
          <a:p>
            <a:pPr indent="0" marL="0">
              <a:buNone/>
            </a:pPr>
            <a:r>
              <a:rPr lang="en-US" sz="1600" b="1" dirty="0">
                <a:solidFill>
                  <a:srgbClr val="0F0F0F"/>
                </a:solidFill>
                <a:latin typeface="Arial" pitchFamily="34" charset="0"/>
                <a:ea typeface="Arial" pitchFamily="34" charset="-122"/>
                <a:cs typeface="Arial" pitchFamily="34" charset="-120"/>
              </a:rPr>
              <a:t>Adjudication by the local model</a:t>
            </a:r>
            <a:endParaRPr lang="en-US" sz="1600" dirty="0"/>
          </a:p>
        </p:txBody>
      </p:sp>
      <p:sp>
        <p:nvSpPr>
          <p:cNvPr id="13" name="Text 11"/>
          <p:cNvSpPr txBox="1"/>
          <p:nvPr/>
        </p:nvSpPr>
        <p:spPr>
          <a:xfrm>
            <a:off x="6510528" y="3127248"/>
            <a:ext cx="4608576" cy="2157984"/>
          </a:xfrm>
          <a:prstGeom prst="rect">
            <a:avLst/>
          </a:prstGeom>
          <a:noFill/>
          <a:ln/>
        </p:spPr>
        <p:txBody>
          <a:bodyPr wrap="square" lIns="0" tIns="0" rIns="0" bIns="0" rtlCol="0" anchor="t"/>
          <a:lstStyle/>
          <a:p>
            <a:pPr indent="0" marL="0">
              <a:lnSpc>
                <a:spcPct val="125000"/>
              </a:lnSpc>
              <a:buNone/>
            </a:pPr>
            <a:r>
              <a:rPr lang="en-US" sz="1050" dirty="0">
                <a:solidFill>
                  <a:srgbClr val="53565A"/>
                </a:solidFill>
                <a:latin typeface="Arial" pitchFamily="34" charset="0"/>
                <a:ea typeface="Arial" pitchFamily="34" charset="-122"/>
                <a:cs typeface="Arial" pitchFamily="34" charset="-120"/>
              </a:rPr>
              <a:t>After the hunt completes, and only after, each candidate goes to the model: suspicious, benign or inconclusive, with the reasoning, the risk, the impact, the recommendation and the most likely innocent explanation.</a:t>
            </a:r>
            <a:endParaRPr lang="en-US" sz="1050" dirty="0"/>
          </a:p>
          <a:p>
            <a:pPr indent="0" marL="0">
              <a:lnSpc>
                <a:spcPct val="125000"/>
              </a:lnSpc>
              <a:buNone/>
            </a:pPr>
            <a:endParaRPr lang="en-US" sz="1050" dirty="0"/>
          </a:p>
          <a:p>
            <a:pPr indent="0" marL="0">
              <a:lnSpc>
                <a:spcPct val="125000"/>
              </a:lnSpc>
              <a:buNone/>
            </a:pPr>
            <a:r>
              <a:rPr lang="en-US" sz="1050" dirty="0">
                <a:solidFill>
                  <a:srgbClr val="53565A"/>
                </a:solidFill>
                <a:latin typeface="Arial" pitchFamily="34" charset="0"/>
                <a:ea typeface="Arial" pitchFamily="34" charset="-122"/>
                <a:cs typeface="Arial" pitchFamily="34" charset="-120"/>
              </a:rPr>
              <a:t>Asking the model to argue the other side measurably reduces the rate at which routine administration is labelled an attack.</a:t>
            </a:r>
            <a:endParaRPr lang="en-US" sz="1050" dirty="0"/>
          </a:p>
          <a:p>
            <a:pPr indent="0" marL="0">
              <a:lnSpc>
                <a:spcPct val="125000"/>
              </a:lnSpc>
              <a:buNone/>
            </a:pPr>
            <a:endParaRPr lang="en-US" sz="1050" dirty="0"/>
          </a:p>
          <a:p>
            <a:pPr indent="0" marL="0">
              <a:lnSpc>
                <a:spcPct val="125000"/>
              </a:lnSpc>
              <a:buNone/>
            </a:pPr>
            <a:r>
              <a:rPr lang="en-US" sz="1050" dirty="0">
                <a:solidFill>
                  <a:srgbClr val="53565A"/>
                </a:solidFill>
                <a:latin typeface="Arial" pitchFamily="34" charset="0"/>
                <a:ea typeface="Arial" pitchFamily="34" charset="-122"/>
                <a:cs typeface="Arial" pitchFamily="34" charset="-120"/>
              </a:rPr>
              <a:t>Benign verdicts are kept, in a collapsed section. Showing what was examined and cleared is what makes a hunt report credible.</a:t>
            </a:r>
            <a:endParaRPr lang="en-US" sz="1050" dirty="0"/>
          </a:p>
        </p:txBody>
      </p:sp>
      <p:sp>
        <p:nvSpPr>
          <p:cNvPr id="14" name="Text 12"/>
          <p:cNvSpPr txBox="1"/>
          <p:nvPr/>
        </p:nvSpPr>
        <p:spPr>
          <a:xfrm>
            <a:off x="658368" y="5541264"/>
            <a:ext cx="3200400" cy="274320"/>
          </a:xfrm>
          <a:prstGeom prst="rect">
            <a:avLst/>
          </a:prstGeom>
          <a:noFill/>
          <a:ln/>
        </p:spPr>
        <p:txBody>
          <a:bodyPr wrap="square" lIns="0" tIns="0" rIns="0" bIns="0" rtlCol="0" anchor="ctr"/>
          <a:lstStyle/>
          <a:p>
            <a:pPr indent="0" marL="0">
              <a:buNone/>
            </a:pPr>
            <a:r>
              <a:rPr lang="en-US" sz="1100" b="1" dirty="0">
                <a:solidFill>
                  <a:srgbClr val="0F0F0F"/>
                </a:solidFill>
                <a:latin typeface="Arial" pitchFamily="34" charset="0"/>
                <a:ea typeface="Arial" pitchFamily="34" charset="-122"/>
                <a:cs typeface="Arial" pitchFamily="34" charset="-120"/>
              </a:rPr>
              <a:t>Validators between the model and the database:</a:t>
            </a:r>
            <a:endParaRPr lang="en-US" sz="1100" dirty="0"/>
          </a:p>
        </p:txBody>
      </p:sp>
      <p:sp>
        <p:nvSpPr>
          <p:cNvPr id="15" name="Shape 13"/>
          <p:cNvSpPr/>
          <p:nvPr/>
        </p:nvSpPr>
        <p:spPr>
          <a:xfrm>
            <a:off x="4005072" y="5632704"/>
            <a:ext cx="82296" cy="82296"/>
          </a:xfrm>
          <a:prstGeom prst="rect">
            <a:avLst/>
          </a:prstGeom>
          <a:solidFill>
            <a:srgbClr val="86BC25"/>
          </a:solidFill>
          <a:ln/>
        </p:spPr>
      </p:sp>
      <p:sp>
        <p:nvSpPr>
          <p:cNvPr id="16" name="Text 14"/>
          <p:cNvSpPr txBox="1"/>
          <p:nvPr/>
        </p:nvSpPr>
        <p:spPr>
          <a:xfrm>
            <a:off x="4169664" y="5541264"/>
            <a:ext cx="1700784" cy="274320"/>
          </a:xfrm>
          <a:prstGeom prst="rect">
            <a:avLst/>
          </a:prstGeom>
          <a:noFill/>
          <a:ln/>
        </p:spPr>
        <p:txBody>
          <a:bodyPr wrap="square" lIns="0" tIns="0" rIns="0" bIns="0" rtlCol="0" anchor="ctr"/>
          <a:lstStyle/>
          <a:p>
            <a:pPr indent="0" marL="0">
              <a:buNone/>
            </a:pPr>
            <a:r>
              <a:rPr lang="en-US" sz="1000" dirty="0">
                <a:solidFill>
                  <a:srgbClr val="53565A"/>
                </a:solidFill>
                <a:latin typeface="Arial" pitchFamily="34" charset="0"/>
                <a:ea typeface="Arial" pitchFamily="34" charset="-122"/>
                <a:cs typeface="Arial" pitchFamily="34" charset="-120"/>
              </a:rPr>
              <a:t>Evidence citation check</a:t>
            </a:r>
            <a:endParaRPr lang="en-US" sz="1000" dirty="0"/>
          </a:p>
        </p:txBody>
      </p:sp>
      <p:sp>
        <p:nvSpPr>
          <p:cNvPr id="17" name="Shape 15"/>
          <p:cNvSpPr/>
          <p:nvPr/>
        </p:nvSpPr>
        <p:spPr>
          <a:xfrm>
            <a:off x="5888736" y="5632704"/>
            <a:ext cx="82296" cy="82296"/>
          </a:xfrm>
          <a:prstGeom prst="rect">
            <a:avLst/>
          </a:prstGeom>
          <a:solidFill>
            <a:srgbClr val="86BC25"/>
          </a:solidFill>
          <a:ln/>
        </p:spPr>
      </p:sp>
      <p:sp>
        <p:nvSpPr>
          <p:cNvPr id="18" name="Text 16"/>
          <p:cNvSpPr txBox="1"/>
          <p:nvPr/>
        </p:nvSpPr>
        <p:spPr>
          <a:xfrm>
            <a:off x="6053328" y="5541264"/>
            <a:ext cx="1700784" cy="274320"/>
          </a:xfrm>
          <a:prstGeom prst="rect">
            <a:avLst/>
          </a:prstGeom>
          <a:noFill/>
          <a:ln/>
        </p:spPr>
        <p:txBody>
          <a:bodyPr wrap="square" lIns="0" tIns="0" rIns="0" bIns="0" rtlCol="0" anchor="ctr"/>
          <a:lstStyle/>
          <a:p>
            <a:pPr indent="0" marL="0">
              <a:buNone/>
            </a:pPr>
            <a:r>
              <a:rPr lang="en-US" sz="1000" dirty="0">
                <a:solidFill>
                  <a:srgbClr val="53565A"/>
                </a:solidFill>
                <a:latin typeface="Arial" pitchFamily="34" charset="0"/>
                <a:ea typeface="Arial" pitchFamily="34" charset="-122"/>
                <a:cs typeface="Arial" pitchFamily="34" charset="-120"/>
              </a:rPr>
              <a:t>ATT&amp;CK whitelist</a:t>
            </a:r>
            <a:endParaRPr lang="en-US" sz="1000" dirty="0"/>
          </a:p>
        </p:txBody>
      </p:sp>
      <p:sp>
        <p:nvSpPr>
          <p:cNvPr id="19" name="Shape 17"/>
          <p:cNvSpPr/>
          <p:nvPr/>
        </p:nvSpPr>
        <p:spPr>
          <a:xfrm>
            <a:off x="7772400" y="5632704"/>
            <a:ext cx="82296" cy="82296"/>
          </a:xfrm>
          <a:prstGeom prst="rect">
            <a:avLst/>
          </a:prstGeom>
          <a:solidFill>
            <a:srgbClr val="86BC25"/>
          </a:solidFill>
          <a:ln/>
        </p:spPr>
      </p:sp>
      <p:sp>
        <p:nvSpPr>
          <p:cNvPr id="20" name="Text 18"/>
          <p:cNvSpPr txBox="1"/>
          <p:nvPr/>
        </p:nvSpPr>
        <p:spPr>
          <a:xfrm>
            <a:off x="7936992" y="5541264"/>
            <a:ext cx="1700784" cy="274320"/>
          </a:xfrm>
          <a:prstGeom prst="rect">
            <a:avLst/>
          </a:prstGeom>
          <a:noFill/>
          <a:ln/>
        </p:spPr>
        <p:txBody>
          <a:bodyPr wrap="square" lIns="0" tIns="0" rIns="0" bIns="0" rtlCol="0" anchor="ctr"/>
          <a:lstStyle/>
          <a:p>
            <a:pPr indent="0" marL="0">
              <a:buNone/>
            </a:pPr>
            <a:r>
              <a:rPr lang="en-US" sz="1000" dirty="0">
                <a:solidFill>
                  <a:srgbClr val="53565A"/>
                </a:solidFill>
                <a:latin typeface="Arial" pitchFamily="34" charset="0"/>
                <a:ea typeface="Arial" pitchFamily="34" charset="-122"/>
                <a:cs typeface="Arial" pitchFamily="34" charset="-120"/>
              </a:rPr>
              <a:t>Severity ceiling at medium</a:t>
            </a:r>
            <a:endParaRPr lang="en-US" sz="1000" dirty="0"/>
          </a:p>
        </p:txBody>
      </p:sp>
      <p:sp>
        <p:nvSpPr>
          <p:cNvPr id="21" name="Shape 19"/>
          <p:cNvSpPr/>
          <p:nvPr/>
        </p:nvSpPr>
        <p:spPr>
          <a:xfrm>
            <a:off x="9656064" y="5632704"/>
            <a:ext cx="82296" cy="82296"/>
          </a:xfrm>
          <a:prstGeom prst="rect">
            <a:avLst/>
          </a:prstGeom>
          <a:solidFill>
            <a:srgbClr val="86BC25"/>
          </a:solidFill>
          <a:ln/>
        </p:spPr>
      </p:sp>
      <p:sp>
        <p:nvSpPr>
          <p:cNvPr id="22" name="Text 20"/>
          <p:cNvSpPr txBox="1"/>
          <p:nvPr/>
        </p:nvSpPr>
        <p:spPr>
          <a:xfrm>
            <a:off x="9820656" y="5541264"/>
            <a:ext cx="1700784" cy="274320"/>
          </a:xfrm>
          <a:prstGeom prst="rect">
            <a:avLst/>
          </a:prstGeom>
          <a:noFill/>
          <a:ln/>
        </p:spPr>
        <p:txBody>
          <a:bodyPr wrap="square" lIns="0" tIns="0" rIns="0" bIns="0" rtlCol="0" anchor="ctr"/>
          <a:lstStyle/>
          <a:p>
            <a:pPr indent="0" marL="0">
              <a:buNone/>
            </a:pPr>
            <a:r>
              <a:rPr lang="en-US" sz="1000" dirty="0">
                <a:solidFill>
                  <a:srgbClr val="53565A"/>
                </a:solidFill>
                <a:latin typeface="Arial" pitchFamily="34" charset="0"/>
                <a:ea typeface="Arial" pitchFamily="34" charset="-122"/>
                <a:cs typeface="Arial" pitchFamily="34" charset="-120"/>
              </a:rPr>
              <a:t>Text hygiene</a:t>
            </a:r>
            <a:endParaRPr lang="en-US" sz="1000" dirty="0"/>
          </a:p>
        </p:txBody>
      </p:sp>
      <p:sp>
        <p:nvSpPr>
          <p:cNvPr id="23" name="Text 21"/>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24" name="Text 22"/>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AGENT TWO IN THE REPORT</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A finding no rule describes</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26364" y="1924812"/>
            <a:ext cx="5442875" cy="3995928"/>
          </a:xfrm>
          <a:prstGeom prst="rect">
            <a:avLst/>
          </a:prstGeom>
          <a:solidFill>
            <a:srgbClr val="FFFFFF"/>
          </a:solidFill>
          <a:ln w="12700">
            <a:solidFill>
              <a:srgbClr val="D0D0CE"/>
            </a:solidFill>
            <a:prstDash val="solid"/>
          </a:ln>
        </p:spPr>
      </p:sp>
      <p:pic>
        <p:nvPicPr>
          <p:cNvPr id="6" name="Image 0" descr="img/21-behavioural-obs-clean.png">    </p:cNvPr>
          <p:cNvPicPr>
            <a:picLocks noChangeAspect="1"/>
          </p:cNvPicPr>
          <p:nvPr/>
        </p:nvPicPr>
        <p:blipFill>
          <a:blip r:embed="rId1"/>
          <a:stretch>
            <a:fillRect/>
          </a:stretch>
        </p:blipFill>
        <p:spPr>
          <a:xfrm>
            <a:off x="658368" y="1956816"/>
            <a:ext cx="5378867" cy="3931920"/>
          </a:xfrm>
          <a:prstGeom prst="rect">
            <a:avLst/>
          </a:prstGeom>
        </p:spPr>
      </p:pic>
      <p:sp>
        <p:nvSpPr>
          <p:cNvPr id="7" name="Shape 4"/>
          <p:cNvSpPr/>
          <p:nvPr/>
        </p:nvSpPr>
        <p:spPr>
          <a:xfrm>
            <a:off x="6366419" y="1956816"/>
            <a:ext cx="5166909" cy="3931920"/>
          </a:xfrm>
          <a:prstGeom prst="rect">
            <a:avLst/>
          </a:prstGeom>
          <a:solidFill>
            <a:srgbClr val="000000"/>
          </a:solidFill>
          <a:ln w="9525">
            <a:solidFill>
              <a:srgbClr val="000000"/>
            </a:solidFill>
            <a:prstDash val="solid"/>
          </a:ln>
        </p:spPr>
      </p:sp>
      <p:sp>
        <p:nvSpPr>
          <p:cNvPr id="8" name="Text 5"/>
          <p:cNvSpPr txBox="1"/>
          <p:nvPr/>
        </p:nvSpPr>
        <p:spPr>
          <a:xfrm>
            <a:off x="6640739" y="2176272"/>
            <a:ext cx="4618269"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What this observation says</a:t>
            </a:r>
            <a:endParaRPr lang="en-US" sz="1400" dirty="0"/>
          </a:p>
        </p:txBody>
      </p:sp>
      <p:sp>
        <p:nvSpPr>
          <p:cNvPr id="9" name="Text 6"/>
          <p:cNvSpPr txBox="1"/>
          <p:nvPr/>
        </p:nvSpPr>
        <p:spPr>
          <a:xfrm>
            <a:off x="6640739" y="2578608"/>
            <a:ext cx="4618269" cy="3145536"/>
          </a:xfrm>
          <a:prstGeom prst="rect">
            <a:avLst/>
          </a:prstGeom>
          <a:noFill/>
          <a:ln/>
        </p:spPr>
        <p:txBody>
          <a:bodyPr wrap="square" lIns="0" tIns="0" rIns="0" bIns="0" rtlCol="0" anchor="t"/>
          <a:lstStyle/>
          <a:p>
            <a:pPr indent="0" marL="0">
              <a:lnSpc>
                <a:spcPct val="125000"/>
              </a:lnSpc>
              <a:buNone/>
            </a:pPr>
            <a:r>
              <a:rPr lang="en-US" sz="1040" dirty="0">
                <a:solidFill>
                  <a:srgbClr val="C4C4C2"/>
                </a:solidFill>
                <a:latin typeface="Arial" pitchFamily="34" charset="0"/>
                <a:ea typeface="Arial" pitchFamily="34" charset="-122"/>
                <a:cs typeface="Arial" pitchFamily="34" charset="-120"/>
              </a:rPr>
              <a:t>No detection rule matched here. The destination was reported because it does not behave like any other destination in the evidence.</a:t>
            </a:r>
            <a:endParaRPr lang="en-US" sz="1040" dirty="0"/>
          </a:p>
          <a:p>
            <a:pPr indent="0" marL="0">
              <a:lnSpc>
                <a:spcPct val="125000"/>
              </a:lnSpc>
              <a:buNone/>
            </a:pPr>
            <a:endParaRPr lang="en-US" sz="1040" dirty="0"/>
          </a:p>
          <a:p>
            <a:pPr indent="0" marL="0">
              <a:lnSpc>
                <a:spcPct val="125000"/>
              </a:lnSpc>
              <a:buNone/>
            </a:pPr>
            <a:r>
              <a:rPr lang="en-US" sz="1040" dirty="0">
                <a:solidFill>
                  <a:srgbClr val="C4C4C2"/>
                </a:solidFill>
                <a:latin typeface="Arial" pitchFamily="34" charset="0"/>
                <a:ea typeface="Arial" pitchFamily="34" charset="-122"/>
                <a:cs typeface="Arial" pitchFamily="34" charset="-120"/>
              </a:rPr>
              <a:t>It stands apart on two independent kinds of measurement at once: 45 events per active hour against a peer median of 12.4, and an interval regularity of 0.98 against a peer median of 0.40.</a:t>
            </a:r>
            <a:endParaRPr lang="en-US" sz="1040" dirty="0"/>
          </a:p>
          <a:p>
            <a:pPr indent="0" marL="0">
              <a:lnSpc>
                <a:spcPct val="125000"/>
              </a:lnSpc>
              <a:buNone/>
            </a:pPr>
            <a:endParaRPr lang="en-US" sz="1040" dirty="0"/>
          </a:p>
          <a:p>
            <a:pPr indent="0" marL="0">
              <a:lnSpc>
                <a:spcPct val="125000"/>
              </a:lnSpc>
              <a:buNone/>
            </a:pPr>
            <a:r>
              <a:rPr lang="en-US" sz="1040" dirty="0">
                <a:solidFill>
                  <a:srgbClr val="C4C4C2"/>
                </a:solidFill>
                <a:latin typeface="Arial" pitchFamily="34" charset="0"/>
                <a:ea typeface="Arial" pitchFamily="34" charset="-122"/>
                <a:cs typeface="Arial" pitchFamily="34" charset="-120"/>
              </a:rPr>
              <a:t>Agreement across independent features is the quality signal, not the magnitude of any single one.</a:t>
            </a:r>
            <a:endParaRPr lang="en-US" sz="1040" dirty="0"/>
          </a:p>
          <a:p>
            <a:pPr indent="0" marL="0">
              <a:lnSpc>
                <a:spcPct val="125000"/>
              </a:lnSpc>
              <a:buNone/>
            </a:pPr>
            <a:endParaRPr lang="en-US" sz="1040" dirty="0"/>
          </a:p>
          <a:p>
            <a:pPr indent="0" marL="0">
              <a:lnSpc>
                <a:spcPct val="125000"/>
              </a:lnSpc>
              <a:buNone/>
            </a:pPr>
            <a:r>
              <a:rPr lang="en-US" sz="1040" dirty="0">
                <a:solidFill>
                  <a:srgbClr val="C4C4C2"/>
                </a:solidFill>
                <a:latin typeface="Arial" pitchFamily="34" charset="0"/>
                <a:ea typeface="Arial" pitchFamily="34" charset="-122"/>
                <a:cs typeface="Arial" pitchFamily="34" charset="-120"/>
              </a:rPr>
              <a:t>The observation carries the same description, original log extract, risk, impact and recommendation as every rule finding, and is marked behavioural so a reader can tell them apart.</a:t>
            </a:r>
            <a:endParaRPr lang="en-US" sz="1040" dirty="0"/>
          </a:p>
        </p:txBody>
      </p:sp>
      <p:sp>
        <p:nvSpPr>
          <p:cNvPr id="10" name="Text 7"/>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1" name="Text 8"/>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WHERE THE MODELS RUN</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Locally, on the tenant's own hardware</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Text 3"/>
          <p:cNvSpPr txBox="1"/>
          <p:nvPr/>
        </p:nvSpPr>
        <p:spPr>
          <a:xfrm>
            <a:off x="658368" y="1938528"/>
            <a:ext cx="10872216" cy="548640"/>
          </a:xfrm>
          <a:prstGeom prst="rect">
            <a:avLst/>
          </a:prstGeom>
          <a:noFill/>
          <a:ln/>
        </p:spPr>
        <p:txBody>
          <a:bodyPr wrap="square" lIns="0" tIns="0" rIns="0" bIns="0" rtlCol="0" anchor="t"/>
          <a:lstStyle/>
          <a:p>
            <a:pPr indent="0" marL="0">
              <a:lnSpc>
                <a:spcPct val="125000"/>
              </a:lnSpc>
              <a:buNone/>
            </a:pPr>
            <a:r>
              <a:rPr lang="en-US" sz="1200" dirty="0">
                <a:solidFill>
                  <a:srgbClr val="53565A"/>
                </a:solidFill>
                <a:latin typeface="Arial" pitchFamily="34" charset="0"/>
                <a:ea typeface="Arial" pitchFamily="34" charset="-122"/>
                <a:cs typeface="Arial" pitchFamily="34" charset="-120"/>
              </a:rPr>
              <a:t>The platform detects what the host can actually run, picks a model and reports it. It counts the weights plus the working context plus room for the host, and counts the processor as well: fitting in memory is not the same as being worth waiting for.</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58368" y="2596896"/>
          <a:ext cx="10872216" cy="914400"/>
        </p:xfrm>
        <a:graphic>
          <a:graphicData uri="http://schemas.openxmlformats.org/drawingml/2006/table">
            <a:tbl>
              <a:tblPr/>
              <a:tblGrid>
                <a:gridCol w="1920240"/>
                <a:gridCol w="1234440"/>
                <a:gridCol w="914400"/>
                <a:gridCol w="1463040"/>
                <a:gridCol w="1371600"/>
                <a:gridCol w="3968496"/>
              </a:tblGrid>
              <a:tr h="329184">
                <a:tc>
                  <a:txBody>
                    <a:bodyPr/>
                    <a:lstStyle/>
                    <a:p>
                      <a:pPr indent="0" marL="0">
                        <a:buNone/>
                      </a:pPr>
                      <a:r>
                        <a:rPr lang="en-US" sz="1050" b="1" dirty="0">
                          <a:solidFill>
                            <a:srgbClr val="FFFFFF"/>
                          </a:solidFill>
                          <a:latin typeface="Arial" pitchFamily="34" charset="0"/>
                          <a:ea typeface="Arial" pitchFamily="34" charset="-122"/>
                          <a:cs typeface="Arial" pitchFamily="34" charset="-120"/>
                        </a:rPr>
                        <a:t>Model</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Parameters</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Active</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Needs</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Licence</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Why it is on the ladder</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000000"/>
                    </a:solidFill>
                  </a:tcPr>
                </a:tc>
              </a:tr>
              <a:tr h="329184">
                <a:tc>
                  <a:txBody>
                    <a:bodyPr/>
                    <a:lstStyle/>
                    <a:p>
                      <a:pPr indent="0" marL="0">
                        <a:buNone/>
                      </a:pPr>
                      <a:r>
                        <a:rPr lang="en-US" sz="1050" b="1" dirty="0">
                          <a:solidFill>
                            <a:srgbClr val="0F0F0F"/>
                          </a:solidFill>
                          <a:latin typeface="Arial" pitchFamily="34" charset="0"/>
                          <a:ea typeface="Arial" pitchFamily="34" charset="-122"/>
                          <a:cs typeface="Arial" pitchFamily="34" charset="-120"/>
                        </a:rPr>
                        <a:t>gpt-oss:120b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120B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5.1B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80 GB VRAM</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Apache 2.0</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Best quality available locally</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0F0F0F"/>
                          </a:solidFill>
                          <a:latin typeface="Arial" pitchFamily="34" charset="0"/>
                          <a:ea typeface="Arial" pitchFamily="34" charset="-122"/>
                          <a:cs typeface="Arial" pitchFamily="34" charset="-120"/>
                        </a:rPr>
                        <a:t>qwen3:32b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32B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32B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24 GB VRAM</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Apache 2.0</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Best dense model on a single workstation card</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r h="329184">
                <a:tc>
                  <a:txBody>
                    <a:bodyPr/>
                    <a:lstStyle/>
                    <a:p>
                      <a:pPr indent="0" marL="0">
                        <a:buNone/>
                      </a:pPr>
                      <a:r>
                        <a:rPr lang="en-US" sz="1050" b="1" dirty="0">
                          <a:solidFill>
                            <a:srgbClr val="0F0F0F"/>
                          </a:solidFill>
                          <a:latin typeface="Arial" pitchFamily="34" charset="0"/>
                          <a:ea typeface="Arial" pitchFamily="34" charset="-122"/>
                          <a:cs typeface="Arial" pitchFamily="34" charset="-120"/>
                        </a:rPr>
                        <a:t>qwen3:30b-a3b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30B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3B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22 GB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Apache 2.0</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Mixture of experts: 30B of knowledge at 3B speed</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0F0F0F"/>
                          </a:solidFill>
                          <a:latin typeface="Arial" pitchFamily="34" charset="0"/>
                          <a:ea typeface="Arial" pitchFamily="34" charset="-122"/>
                          <a:cs typeface="Arial" pitchFamily="34" charset="-120"/>
                        </a:rPr>
                        <a:t>gpt-oss:20b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20B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3.6B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16 GB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Apache 2.0</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Strong structured output, fits a 16 GB host</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r h="329184">
                <a:tc>
                  <a:txBody>
                    <a:bodyPr/>
                    <a:lstStyle/>
                    <a:p>
                      <a:pPr indent="0" marL="0">
                        <a:buNone/>
                      </a:pPr>
                      <a:r>
                        <a:rPr lang="en-US" sz="1050" b="1" dirty="0">
                          <a:solidFill>
                            <a:srgbClr val="0F0F0F"/>
                          </a:solidFill>
                          <a:latin typeface="Arial" pitchFamily="34" charset="0"/>
                          <a:ea typeface="Arial" pitchFamily="34" charset="-122"/>
                          <a:cs typeface="Arial" pitchFamily="34" charset="-120"/>
                        </a:rPr>
                        <a:t>qwen3:14b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14B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14B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12 GB VRAM</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Apache 2.0</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Dense fallback for a 12 GB card</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0F0F0F"/>
                          </a:solidFill>
                          <a:latin typeface="Arial" pitchFamily="34" charset="0"/>
                          <a:ea typeface="Arial" pitchFamily="34" charset="-122"/>
                          <a:cs typeface="Arial" pitchFamily="34" charset="-120"/>
                        </a:rPr>
                        <a:t>qwen3:8b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8B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8B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7 GB</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Apache 2.0</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c>
                  <a:txBody>
                    <a:bodyPr/>
                    <a:lstStyle/>
                    <a:p>
                      <a:pPr indent="0" marL="0">
                        <a:buNone/>
                      </a:pPr>
                      <a:r>
                        <a:rPr lang="en-US" sz="1050" dirty="0">
                          <a:solidFill>
                            <a:srgbClr val="53565A"/>
                          </a:solidFill>
                          <a:latin typeface="Arial" pitchFamily="34" charset="0"/>
                          <a:ea typeface="Arial" pitchFamily="34" charset="-122"/>
                          <a:cs typeface="Arial" pitchFamily="34" charset="-120"/>
                        </a:rPr>
                        <a:t>Runs on any laptop</a:t>
                      </a:r>
                      <a:endParaRPr lang="en-US" sz="1050" dirty="0">
                        <a:latin typeface="Arial" charset="0"/>
                        <a:ea typeface="Arial" charset="0"/>
                        <a:cs typeface="Arial" charset="0"/>
                      </a:endParaRPr>
                    </a:p>
                  </a:txBody>
                  <a:tcPr marL="73152" marR="73152" marT="73152" marB="73152" anchor="ctr">
                    <a:lnL w="6350" cap="flat" cmpd="sng" algn="ctr">
                      <a:solidFill>
                        <a:srgbClr val="E6E6E4"/>
                      </a:solidFill>
                      <a:prstDash val="solid"/>
                      <a:round/>
                      <a:headEnd type="none" w="med" len="med"/>
                      <a:tailEnd type="none" w="med" len="med"/>
                    </a:lnL>
                    <a:lnR w="6350" cap="flat" cmpd="sng" algn="ctr">
                      <a:solidFill>
                        <a:srgbClr val="E6E6E4"/>
                      </a:solidFill>
                      <a:prstDash val="solid"/>
                      <a:round/>
                      <a:headEnd type="none" w="med" len="med"/>
                      <a:tailEnd type="none" w="med" len="med"/>
                    </a:lnR>
                    <a:lnT w="6350" cap="flat" cmpd="sng" algn="ctr">
                      <a:solidFill>
                        <a:srgbClr val="E6E6E4"/>
                      </a:solidFill>
                      <a:prstDash val="solid"/>
                      <a:round/>
                      <a:headEnd type="none" w="med" len="med"/>
                      <a:tailEnd type="none" w="med" len="med"/>
                    </a:lnT>
                    <a:lnB w="6350" cap="flat" cmpd="sng" algn="ctr">
                      <a:solidFill>
                        <a:srgbClr val="E6E6E4"/>
                      </a:solidFill>
                      <a:prstDash val="solid"/>
                      <a:round/>
                      <a:headEnd type="none" w="med" len="med"/>
                      <a:tailEnd type="none" w="med" len="med"/>
                    </a:lnB>
                    <a:solidFill>
                      <a:srgbClr val="F4F4F2"/>
                    </a:solidFill>
                  </a:tcPr>
                </a:tc>
              </a:tr>
            </a:tbl>
          </a:graphicData>
        </a:graphic>
      </p:graphicFrame>
      <p:sp>
        <p:nvSpPr>
          <p:cNvPr id="7" name="Shape 4"/>
          <p:cNvSpPr/>
          <p:nvPr/>
        </p:nvSpPr>
        <p:spPr>
          <a:xfrm>
            <a:off x="658368" y="4956048"/>
            <a:ext cx="5230368" cy="1024128"/>
          </a:xfrm>
          <a:prstGeom prst="rect">
            <a:avLst/>
          </a:prstGeom>
          <a:solidFill>
            <a:srgbClr val="EEF7E0"/>
          </a:solidFill>
          <a:ln w="9525">
            <a:solidFill>
              <a:srgbClr val="86BC25"/>
            </a:solidFill>
            <a:prstDash val="solid"/>
          </a:ln>
        </p:spPr>
      </p:sp>
      <p:sp>
        <p:nvSpPr>
          <p:cNvPr id="8" name="Text 5"/>
          <p:cNvSpPr txBox="1"/>
          <p:nvPr/>
        </p:nvSpPr>
        <p:spPr>
          <a:xfrm>
            <a:off x="932688" y="5084064"/>
            <a:ext cx="4663440" cy="274320"/>
          </a:xfrm>
          <a:prstGeom prst="rect">
            <a:avLst/>
          </a:prstGeom>
          <a:noFill/>
          <a:ln/>
        </p:spPr>
        <p:txBody>
          <a:bodyPr wrap="square" lIns="0" tIns="0" rIns="0" bIns="0" rtlCol="0" anchor="ctr"/>
          <a:lstStyle/>
          <a:p>
            <a:pPr indent="0" marL="0">
              <a:buNone/>
            </a:pPr>
            <a:r>
              <a:rPr lang="en-US" sz="1200" b="1" dirty="0">
                <a:solidFill>
                  <a:srgbClr val="0F0F0F"/>
                </a:solidFill>
                <a:latin typeface="Arial" pitchFamily="34" charset="0"/>
                <a:ea typeface="Arial" pitchFamily="34" charset="-122"/>
                <a:cs typeface="Arial" pitchFamily="34" charset="-120"/>
              </a:rPr>
              <a:t>The ladder is ordered differently for processor and card</a:t>
            </a:r>
            <a:endParaRPr lang="en-US" sz="1200" dirty="0"/>
          </a:p>
        </p:txBody>
      </p:sp>
      <p:sp>
        <p:nvSpPr>
          <p:cNvPr id="9" name="Text 6"/>
          <p:cNvSpPr txBox="1"/>
          <p:nvPr/>
        </p:nvSpPr>
        <p:spPr>
          <a:xfrm>
            <a:off x="932688" y="5358384"/>
            <a:ext cx="4700016" cy="512064"/>
          </a:xfrm>
          <a:prstGeom prst="rect">
            <a:avLst/>
          </a:prstGeom>
          <a:noFill/>
          <a:ln/>
        </p:spPr>
        <p:txBody>
          <a:bodyPr wrap="square" lIns="0" tIns="0" rIns="0" bIns="0" rtlCol="0" anchor="t"/>
          <a:lstStyle/>
          <a:p>
            <a:pPr indent="0" marL="0">
              <a:lnSpc>
                <a:spcPct val="115000"/>
              </a:lnSpc>
              <a:buNone/>
            </a:pPr>
            <a:r>
              <a:rPr lang="en-US" sz="1000" dirty="0">
                <a:solidFill>
                  <a:srgbClr val="2C2C2C"/>
                </a:solidFill>
                <a:latin typeface="Arial" pitchFamily="34" charset="0"/>
                <a:ea typeface="Arial" pitchFamily="34" charset="-122"/>
                <a:cs typeface="Arial" pitchFamily="34" charset="-120"/>
              </a:rPr>
              <a:t>A mixture of experts model activates a fraction of its parameters per token, so it beats a dense model of the same size on a processor while losing to it on a card.</a:t>
            </a:r>
            <a:endParaRPr lang="en-US" sz="1000" dirty="0"/>
          </a:p>
        </p:txBody>
      </p:sp>
      <p:sp>
        <p:nvSpPr>
          <p:cNvPr id="10" name="Shape 7"/>
          <p:cNvSpPr/>
          <p:nvPr/>
        </p:nvSpPr>
        <p:spPr>
          <a:xfrm>
            <a:off x="6199632" y="4956048"/>
            <a:ext cx="5230368" cy="1024128"/>
          </a:xfrm>
          <a:prstGeom prst="rect">
            <a:avLst/>
          </a:prstGeom>
          <a:solidFill>
            <a:srgbClr val="000000"/>
          </a:solidFill>
          <a:ln w="9525">
            <a:solidFill>
              <a:srgbClr val="000000"/>
            </a:solidFill>
            <a:prstDash val="solid"/>
          </a:ln>
        </p:spPr>
      </p:sp>
      <p:sp>
        <p:nvSpPr>
          <p:cNvPr id="11" name="Text 8"/>
          <p:cNvSpPr txBox="1"/>
          <p:nvPr/>
        </p:nvSpPr>
        <p:spPr>
          <a:xfrm>
            <a:off x="6473952" y="5084064"/>
            <a:ext cx="46634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All inference is local</a:t>
            </a:r>
            <a:endParaRPr lang="en-US" sz="1200" dirty="0"/>
          </a:p>
        </p:txBody>
      </p:sp>
      <p:sp>
        <p:nvSpPr>
          <p:cNvPr id="12" name="Text 9"/>
          <p:cNvSpPr txBox="1"/>
          <p:nvPr/>
        </p:nvSpPr>
        <p:spPr>
          <a:xfrm>
            <a:off x="6473952" y="5358384"/>
            <a:ext cx="4700016" cy="512064"/>
          </a:xfrm>
          <a:prstGeom prst="rect">
            <a:avLst/>
          </a:prstGeom>
          <a:noFill/>
          <a:ln/>
        </p:spPr>
        <p:txBody>
          <a:bodyPr wrap="square" lIns="0" tIns="0" rIns="0" bIns="0" rtlCol="0" anchor="t"/>
          <a:lstStyle/>
          <a:p>
            <a:pPr indent="0" marL="0">
              <a:lnSpc>
                <a:spcPct val="115000"/>
              </a:lnSpc>
              <a:buNone/>
            </a:pPr>
            <a:r>
              <a:rPr lang="en-US" sz="1000" dirty="0">
                <a:solidFill>
                  <a:srgbClr val="C4C4C2"/>
                </a:solidFill>
                <a:latin typeface="Arial" pitchFamily="34" charset="0"/>
                <a:ea typeface="Arial" pitchFamily="34" charset="-122"/>
                <a:cs typeface="Arial" pitchFamily="34" charset="-120"/>
              </a:rPr>
              <a:t>No evidence and no client log leaves the tenant. That is the reason for choosing a local model server over a hosted API, and it is stated in the report footer.</a:t>
            </a:r>
            <a:endParaRPr lang="en-US" sz="1000" dirty="0"/>
          </a:p>
        </p:txBody>
      </p:sp>
      <p:sp>
        <p:nvSpPr>
          <p:cNvPr id="13" name="Text 10"/>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4" name="Text 11"/>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58368" y="1920240"/>
            <a:ext cx="1828800" cy="822960"/>
          </a:xfrm>
          <a:prstGeom prst="rect">
            <a:avLst/>
          </a:prstGeom>
          <a:noFill/>
          <a:ln/>
        </p:spPr>
        <p:txBody>
          <a:bodyPr wrap="square" lIns="0" tIns="0" rIns="0" bIns="0" rtlCol="0" anchor="ctr"/>
          <a:lstStyle/>
          <a:p>
            <a:pPr indent="0" marL="0">
              <a:buNone/>
            </a:pPr>
            <a:r>
              <a:rPr lang="en-US" sz="6400" b="1" dirty="0">
                <a:solidFill>
                  <a:srgbClr val="86BC25"/>
                </a:solidFill>
                <a:latin typeface="Arial" pitchFamily="34" charset="0"/>
                <a:ea typeface="Arial" pitchFamily="34" charset="-122"/>
                <a:cs typeface="Arial" pitchFamily="34" charset="-120"/>
              </a:rPr>
              <a:t>04</a:t>
            </a:r>
            <a:endParaRPr lang="en-US" sz="6400" dirty="0"/>
          </a:p>
        </p:txBody>
      </p:sp>
      <p:sp>
        <p:nvSpPr>
          <p:cNvPr id="3" name="Text 1"/>
          <p:cNvSpPr txBox="1"/>
          <p:nvPr/>
        </p:nvSpPr>
        <p:spPr>
          <a:xfrm>
            <a:off x="658368" y="2788920"/>
            <a:ext cx="5486400" cy="237744"/>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PART FOUR</a:t>
            </a:r>
            <a:endParaRPr lang="en-US" sz="1050" dirty="0"/>
          </a:p>
        </p:txBody>
      </p:sp>
      <p:sp>
        <p:nvSpPr>
          <p:cNvPr id="4" name="Text 2"/>
          <p:cNvSpPr txBox="1"/>
          <p:nvPr/>
        </p:nvSpPr>
        <p:spPr>
          <a:xfrm>
            <a:off x="658368" y="3127248"/>
            <a:ext cx="7498080" cy="8229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End to end</a:t>
            </a:r>
            <a:endParaRPr lang="en-US" sz="4000" dirty="0"/>
          </a:p>
        </p:txBody>
      </p:sp>
      <p:sp>
        <p:nvSpPr>
          <p:cNvPr id="5" name="Text 3"/>
          <p:cNvSpPr txBox="1"/>
          <p:nvPr/>
        </p:nvSpPr>
        <p:spPr>
          <a:xfrm>
            <a:off x="658368" y="4059936"/>
            <a:ext cx="6766560" cy="731520"/>
          </a:xfrm>
          <a:prstGeom prst="rect">
            <a:avLst/>
          </a:prstGeom>
          <a:noFill/>
          <a:ln/>
        </p:spPr>
        <p:txBody>
          <a:bodyPr wrap="square" lIns="0" tIns="0" rIns="0" bIns="0" rtlCol="0" anchor="t"/>
          <a:lstStyle/>
          <a:p>
            <a:pPr indent="0" marL="0">
              <a:lnSpc>
                <a:spcPct val="130000"/>
              </a:lnSpc>
              <a:buNone/>
            </a:pPr>
            <a:r>
              <a:rPr lang="en-US" sz="1400" dirty="0">
                <a:solidFill>
                  <a:srgbClr val="B8B8B6"/>
                </a:solidFill>
                <a:latin typeface="Arial" pitchFamily="34" charset="0"/>
                <a:ea typeface="Arial" pitchFamily="34" charset="-122"/>
                <a:cs typeface="Arial" pitchFamily="34" charset="-120"/>
              </a:rPr>
              <a:t>One complete hunt on real evidence, captured from the running application.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THE WALKTHROUGH</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What happens, in order</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58368" y="2176272"/>
            <a:ext cx="2615184" cy="1700784"/>
          </a:xfrm>
          <a:prstGeom prst="rect">
            <a:avLst/>
          </a:prstGeom>
          <a:solidFill>
            <a:srgbClr val="FFFFFF"/>
          </a:solidFill>
          <a:ln w="9525">
            <a:solidFill>
              <a:srgbClr val="D0D0CE"/>
            </a:solidFill>
            <a:prstDash val="solid"/>
          </a:ln>
        </p:spPr>
      </p:sp>
      <p:sp>
        <p:nvSpPr>
          <p:cNvPr id="6" name="Shape 4"/>
          <p:cNvSpPr/>
          <p:nvPr/>
        </p:nvSpPr>
        <p:spPr>
          <a:xfrm>
            <a:off x="914400" y="2414016"/>
            <a:ext cx="329184" cy="329184"/>
          </a:xfrm>
          <a:prstGeom prst="rect">
            <a:avLst/>
          </a:prstGeom>
          <a:solidFill>
            <a:srgbClr val="000000"/>
          </a:solidFill>
          <a:ln/>
        </p:spPr>
      </p:sp>
      <p:sp>
        <p:nvSpPr>
          <p:cNvPr id="7" name="Text 5"/>
          <p:cNvSpPr txBox="1"/>
          <p:nvPr/>
        </p:nvSpPr>
        <p:spPr>
          <a:xfrm>
            <a:off x="914400" y="24140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914400" y="2816352"/>
            <a:ext cx="2139696" cy="292608"/>
          </a:xfrm>
          <a:prstGeom prst="rect">
            <a:avLst/>
          </a:prstGeom>
          <a:noFill/>
          <a:ln/>
        </p:spPr>
        <p:txBody>
          <a:bodyPr wrap="square" lIns="0" tIns="0" rIns="0" bIns="0" rtlCol="0" anchor="ctr"/>
          <a:lstStyle/>
          <a:p>
            <a:pPr indent="0" marL="0">
              <a:buNone/>
            </a:pPr>
            <a:r>
              <a:rPr lang="en-US" sz="1350" b="1" dirty="0">
                <a:solidFill>
                  <a:srgbClr val="0F0F0F"/>
                </a:solidFill>
                <a:latin typeface="Arial" pitchFamily="34" charset="0"/>
                <a:ea typeface="Arial" pitchFamily="34" charset="-122"/>
                <a:cs typeface="Arial" pitchFamily="34" charset="-120"/>
              </a:rPr>
              <a:t>Sign in</a:t>
            </a:r>
            <a:endParaRPr lang="en-US" sz="1350" dirty="0"/>
          </a:p>
        </p:txBody>
      </p:sp>
      <p:sp>
        <p:nvSpPr>
          <p:cNvPr id="9" name="Text 7"/>
          <p:cNvSpPr txBox="1"/>
          <p:nvPr/>
        </p:nvSpPr>
        <p:spPr>
          <a:xfrm>
            <a:off x="914400" y="3127248"/>
            <a:ext cx="2139696" cy="621792"/>
          </a:xfrm>
          <a:prstGeom prst="rect">
            <a:avLst/>
          </a:prstGeom>
          <a:noFill/>
          <a:ln/>
        </p:spPr>
        <p:txBody>
          <a:bodyPr wrap="square" lIns="0" tIns="0" rIns="0" bIns="0" rtlCol="0" anchor="t"/>
          <a:lstStyle/>
          <a:p>
            <a:pPr indent="0" marL="0">
              <a:lnSpc>
                <a:spcPct val="120000"/>
              </a:lnSpc>
              <a:buNone/>
            </a:pPr>
            <a:r>
              <a:rPr lang="en-US" sz="950" dirty="0">
                <a:solidFill>
                  <a:srgbClr val="53565A"/>
                </a:solidFill>
                <a:latin typeface="Arial" pitchFamily="34" charset="0"/>
                <a:ea typeface="Arial" pitchFamily="34" charset="-122"/>
                <a:cs typeface="Arial" pitchFamily="34" charset="-120"/>
              </a:rPr>
              <a:t>Workspace, email and password. Access is scoped per tenant and per user.</a:t>
            </a:r>
            <a:endParaRPr lang="en-US" sz="950" dirty="0"/>
          </a:p>
        </p:txBody>
      </p:sp>
      <p:sp>
        <p:nvSpPr>
          <p:cNvPr id="10" name="Shape 8"/>
          <p:cNvSpPr/>
          <p:nvPr/>
        </p:nvSpPr>
        <p:spPr>
          <a:xfrm>
            <a:off x="3456432" y="2176272"/>
            <a:ext cx="2615184" cy="1700784"/>
          </a:xfrm>
          <a:prstGeom prst="rect">
            <a:avLst/>
          </a:prstGeom>
          <a:solidFill>
            <a:srgbClr val="FFFFFF"/>
          </a:solidFill>
          <a:ln w="9525">
            <a:solidFill>
              <a:srgbClr val="D0D0CE"/>
            </a:solidFill>
            <a:prstDash val="solid"/>
          </a:ln>
        </p:spPr>
      </p:sp>
      <p:sp>
        <p:nvSpPr>
          <p:cNvPr id="11" name="Shape 9"/>
          <p:cNvSpPr/>
          <p:nvPr/>
        </p:nvSpPr>
        <p:spPr>
          <a:xfrm>
            <a:off x="3712464" y="2414016"/>
            <a:ext cx="329184" cy="329184"/>
          </a:xfrm>
          <a:prstGeom prst="rect">
            <a:avLst/>
          </a:prstGeom>
          <a:solidFill>
            <a:srgbClr val="000000"/>
          </a:solidFill>
          <a:ln/>
        </p:spPr>
      </p:sp>
      <p:sp>
        <p:nvSpPr>
          <p:cNvPr id="12" name="Text 10"/>
          <p:cNvSpPr txBox="1"/>
          <p:nvPr/>
        </p:nvSpPr>
        <p:spPr>
          <a:xfrm>
            <a:off x="3712464" y="24140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3" name="Text 11"/>
          <p:cNvSpPr txBox="1"/>
          <p:nvPr/>
        </p:nvSpPr>
        <p:spPr>
          <a:xfrm>
            <a:off x="3712464" y="2816352"/>
            <a:ext cx="2139696" cy="292608"/>
          </a:xfrm>
          <a:prstGeom prst="rect">
            <a:avLst/>
          </a:prstGeom>
          <a:noFill/>
          <a:ln/>
        </p:spPr>
        <p:txBody>
          <a:bodyPr wrap="square" lIns="0" tIns="0" rIns="0" bIns="0" rtlCol="0" anchor="ctr"/>
          <a:lstStyle/>
          <a:p>
            <a:pPr indent="0" marL="0">
              <a:buNone/>
            </a:pPr>
            <a:r>
              <a:rPr lang="en-US" sz="1350" b="1" dirty="0">
                <a:solidFill>
                  <a:srgbClr val="0F0F0F"/>
                </a:solidFill>
                <a:latin typeface="Arial" pitchFamily="34" charset="0"/>
                <a:ea typeface="Arial" pitchFamily="34" charset="-122"/>
                <a:cs typeface="Arial" pitchFamily="34" charset="-120"/>
              </a:rPr>
              <a:t>Read the dashboard</a:t>
            </a:r>
            <a:endParaRPr lang="en-US" sz="1350" dirty="0"/>
          </a:p>
        </p:txBody>
      </p:sp>
      <p:sp>
        <p:nvSpPr>
          <p:cNvPr id="14" name="Text 12"/>
          <p:cNvSpPr txBox="1"/>
          <p:nvPr/>
        </p:nvSpPr>
        <p:spPr>
          <a:xfrm>
            <a:off x="3712464" y="3127248"/>
            <a:ext cx="2139696" cy="621792"/>
          </a:xfrm>
          <a:prstGeom prst="rect">
            <a:avLst/>
          </a:prstGeom>
          <a:noFill/>
          <a:ln/>
        </p:spPr>
        <p:txBody>
          <a:bodyPr wrap="square" lIns="0" tIns="0" rIns="0" bIns="0" rtlCol="0" anchor="t"/>
          <a:lstStyle/>
          <a:p>
            <a:pPr indent="0" marL="0">
              <a:lnSpc>
                <a:spcPct val="120000"/>
              </a:lnSpc>
              <a:buNone/>
            </a:pPr>
            <a:r>
              <a:rPr lang="en-US" sz="950" dirty="0">
                <a:solidFill>
                  <a:srgbClr val="53565A"/>
                </a:solidFill>
                <a:latin typeface="Arial" pitchFamily="34" charset="0"/>
                <a:ea typeface="Arial" pitchFamily="34" charset="-122"/>
                <a:cs typeface="Arial" pitchFamily="34" charset="-120"/>
              </a:rPr>
              <a:t>Hunts, observations, ATT&amp;CK coverage and risk over time.</a:t>
            </a:r>
            <a:endParaRPr lang="en-US" sz="950" dirty="0"/>
          </a:p>
        </p:txBody>
      </p:sp>
      <p:sp>
        <p:nvSpPr>
          <p:cNvPr id="15" name="Shape 13"/>
          <p:cNvSpPr/>
          <p:nvPr/>
        </p:nvSpPr>
        <p:spPr>
          <a:xfrm>
            <a:off x="6254496" y="2176272"/>
            <a:ext cx="2615184" cy="1700784"/>
          </a:xfrm>
          <a:prstGeom prst="rect">
            <a:avLst/>
          </a:prstGeom>
          <a:solidFill>
            <a:srgbClr val="FFFFFF"/>
          </a:solidFill>
          <a:ln w="9525">
            <a:solidFill>
              <a:srgbClr val="D0D0CE"/>
            </a:solidFill>
            <a:prstDash val="solid"/>
          </a:ln>
        </p:spPr>
      </p:sp>
      <p:sp>
        <p:nvSpPr>
          <p:cNvPr id="16" name="Shape 14"/>
          <p:cNvSpPr/>
          <p:nvPr/>
        </p:nvSpPr>
        <p:spPr>
          <a:xfrm>
            <a:off x="6510528" y="2414016"/>
            <a:ext cx="329184" cy="329184"/>
          </a:xfrm>
          <a:prstGeom prst="rect">
            <a:avLst/>
          </a:prstGeom>
          <a:solidFill>
            <a:srgbClr val="000000"/>
          </a:solidFill>
          <a:ln/>
        </p:spPr>
      </p:sp>
      <p:sp>
        <p:nvSpPr>
          <p:cNvPr id="17" name="Text 15"/>
          <p:cNvSpPr txBox="1"/>
          <p:nvPr/>
        </p:nvSpPr>
        <p:spPr>
          <a:xfrm>
            <a:off x="6510528" y="24140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8" name="Text 16"/>
          <p:cNvSpPr txBox="1"/>
          <p:nvPr/>
        </p:nvSpPr>
        <p:spPr>
          <a:xfrm>
            <a:off x="6510528" y="2816352"/>
            <a:ext cx="2139696" cy="292608"/>
          </a:xfrm>
          <a:prstGeom prst="rect">
            <a:avLst/>
          </a:prstGeom>
          <a:noFill/>
          <a:ln/>
        </p:spPr>
        <p:txBody>
          <a:bodyPr wrap="square" lIns="0" tIns="0" rIns="0" bIns="0" rtlCol="0" anchor="ctr"/>
          <a:lstStyle/>
          <a:p>
            <a:pPr indent="0" marL="0">
              <a:buNone/>
            </a:pPr>
            <a:r>
              <a:rPr lang="en-US" sz="1350" b="1" dirty="0">
                <a:solidFill>
                  <a:srgbClr val="0F0F0F"/>
                </a:solidFill>
                <a:latin typeface="Arial" pitchFamily="34" charset="0"/>
                <a:ea typeface="Arial" pitchFamily="34" charset="-122"/>
                <a:cs typeface="Arial" pitchFamily="34" charset="-120"/>
              </a:rPr>
              <a:t>Choose a hypothesis</a:t>
            </a:r>
            <a:endParaRPr lang="en-US" sz="1350" dirty="0"/>
          </a:p>
        </p:txBody>
      </p:sp>
      <p:sp>
        <p:nvSpPr>
          <p:cNvPr id="19" name="Text 17"/>
          <p:cNvSpPr txBox="1"/>
          <p:nvPr/>
        </p:nvSpPr>
        <p:spPr>
          <a:xfrm>
            <a:off x="6510528" y="3127248"/>
            <a:ext cx="2139696" cy="621792"/>
          </a:xfrm>
          <a:prstGeom prst="rect">
            <a:avLst/>
          </a:prstGeom>
          <a:noFill/>
          <a:ln/>
        </p:spPr>
        <p:txBody>
          <a:bodyPr wrap="square" lIns="0" tIns="0" rIns="0" bIns="0" rtlCol="0" anchor="t"/>
          <a:lstStyle/>
          <a:p>
            <a:pPr indent="0" marL="0">
              <a:lnSpc>
                <a:spcPct val="120000"/>
              </a:lnSpc>
              <a:buNone/>
            </a:pPr>
            <a:r>
              <a:rPr lang="en-US" sz="950" dirty="0">
                <a:solidFill>
                  <a:srgbClr val="53565A"/>
                </a:solidFill>
                <a:latin typeface="Arial" pitchFamily="34" charset="0"/>
                <a:ea typeface="Arial" pitchFamily="34" charset="-122"/>
                <a:cs typeface="Arial" pitchFamily="34" charset="-120"/>
              </a:rPr>
              <a:t>Ransomware deployment precursors, from the threat intelligence family.</a:t>
            </a:r>
            <a:endParaRPr lang="en-US" sz="950" dirty="0"/>
          </a:p>
        </p:txBody>
      </p:sp>
      <p:sp>
        <p:nvSpPr>
          <p:cNvPr id="20" name="Shape 18"/>
          <p:cNvSpPr/>
          <p:nvPr/>
        </p:nvSpPr>
        <p:spPr>
          <a:xfrm>
            <a:off x="9052560" y="2176272"/>
            <a:ext cx="2615184" cy="1700784"/>
          </a:xfrm>
          <a:prstGeom prst="rect">
            <a:avLst/>
          </a:prstGeom>
          <a:solidFill>
            <a:srgbClr val="FFFFFF"/>
          </a:solidFill>
          <a:ln w="9525">
            <a:solidFill>
              <a:srgbClr val="D0D0CE"/>
            </a:solidFill>
            <a:prstDash val="solid"/>
          </a:ln>
        </p:spPr>
      </p:sp>
      <p:sp>
        <p:nvSpPr>
          <p:cNvPr id="21" name="Shape 19"/>
          <p:cNvSpPr/>
          <p:nvPr/>
        </p:nvSpPr>
        <p:spPr>
          <a:xfrm>
            <a:off x="9308592" y="2414016"/>
            <a:ext cx="329184" cy="329184"/>
          </a:xfrm>
          <a:prstGeom prst="rect">
            <a:avLst/>
          </a:prstGeom>
          <a:solidFill>
            <a:srgbClr val="000000"/>
          </a:solidFill>
          <a:ln/>
        </p:spPr>
      </p:sp>
      <p:sp>
        <p:nvSpPr>
          <p:cNvPr id="22" name="Text 20"/>
          <p:cNvSpPr txBox="1"/>
          <p:nvPr/>
        </p:nvSpPr>
        <p:spPr>
          <a:xfrm>
            <a:off x="9308592" y="24140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3" name="Text 21"/>
          <p:cNvSpPr txBox="1"/>
          <p:nvPr/>
        </p:nvSpPr>
        <p:spPr>
          <a:xfrm>
            <a:off x="9308592" y="2816352"/>
            <a:ext cx="2139696" cy="292608"/>
          </a:xfrm>
          <a:prstGeom prst="rect">
            <a:avLst/>
          </a:prstGeom>
          <a:noFill/>
          <a:ln/>
        </p:spPr>
        <p:txBody>
          <a:bodyPr wrap="square" lIns="0" tIns="0" rIns="0" bIns="0" rtlCol="0" anchor="ctr"/>
          <a:lstStyle/>
          <a:p>
            <a:pPr indent="0" marL="0">
              <a:buNone/>
            </a:pPr>
            <a:r>
              <a:rPr lang="en-US" sz="1350" b="1" dirty="0">
                <a:solidFill>
                  <a:srgbClr val="0F0F0F"/>
                </a:solidFill>
                <a:latin typeface="Arial" pitchFamily="34" charset="0"/>
                <a:ea typeface="Arial" pitchFamily="34" charset="-122"/>
                <a:cs typeface="Arial" pitchFamily="34" charset="-120"/>
              </a:rPr>
              <a:t>Prepare the evidence</a:t>
            </a:r>
            <a:endParaRPr lang="en-US" sz="1350" dirty="0"/>
          </a:p>
        </p:txBody>
      </p:sp>
      <p:sp>
        <p:nvSpPr>
          <p:cNvPr id="24" name="Text 22"/>
          <p:cNvSpPr txBox="1"/>
          <p:nvPr/>
        </p:nvSpPr>
        <p:spPr>
          <a:xfrm>
            <a:off x="9308592" y="3127248"/>
            <a:ext cx="2139696" cy="621792"/>
          </a:xfrm>
          <a:prstGeom prst="rect">
            <a:avLst/>
          </a:prstGeom>
          <a:noFill/>
          <a:ln/>
        </p:spPr>
        <p:txBody>
          <a:bodyPr wrap="square" lIns="0" tIns="0" rIns="0" bIns="0" rtlCol="0" anchor="t"/>
          <a:lstStyle/>
          <a:p>
            <a:pPr indent="0" marL="0">
              <a:lnSpc>
                <a:spcPct val="120000"/>
              </a:lnSpc>
              <a:buNone/>
            </a:pPr>
            <a:r>
              <a:rPr lang="en-US" sz="950" dirty="0">
                <a:solidFill>
                  <a:srgbClr val="53565A"/>
                </a:solidFill>
                <a:latin typeface="Arial" pitchFamily="34" charset="0"/>
                <a:ea typeface="Arial" pitchFamily="34" charset="-122"/>
                <a:cs typeface="Arial" pitchFamily="34" charset="-120"/>
              </a:rPr>
              <a:t>The hypothesis lists the sources it needs and how to export each one.</a:t>
            </a:r>
            <a:endParaRPr lang="en-US" sz="950" dirty="0"/>
          </a:p>
        </p:txBody>
      </p:sp>
      <p:sp>
        <p:nvSpPr>
          <p:cNvPr id="25" name="Shape 23"/>
          <p:cNvSpPr/>
          <p:nvPr/>
        </p:nvSpPr>
        <p:spPr>
          <a:xfrm>
            <a:off x="658368" y="4114800"/>
            <a:ext cx="2615184" cy="1700784"/>
          </a:xfrm>
          <a:prstGeom prst="rect">
            <a:avLst/>
          </a:prstGeom>
          <a:solidFill>
            <a:srgbClr val="F4F4F2"/>
          </a:solidFill>
          <a:ln w="9525">
            <a:solidFill>
              <a:srgbClr val="D0D0CE"/>
            </a:solidFill>
            <a:prstDash val="solid"/>
          </a:ln>
        </p:spPr>
      </p:sp>
      <p:sp>
        <p:nvSpPr>
          <p:cNvPr id="26" name="Shape 24"/>
          <p:cNvSpPr/>
          <p:nvPr/>
        </p:nvSpPr>
        <p:spPr>
          <a:xfrm>
            <a:off x="914400" y="4352544"/>
            <a:ext cx="329184" cy="329184"/>
          </a:xfrm>
          <a:prstGeom prst="rect">
            <a:avLst/>
          </a:prstGeom>
          <a:solidFill>
            <a:srgbClr val="000000"/>
          </a:solidFill>
          <a:ln/>
        </p:spPr>
      </p:sp>
      <p:sp>
        <p:nvSpPr>
          <p:cNvPr id="27" name="Text 25"/>
          <p:cNvSpPr txBox="1"/>
          <p:nvPr/>
        </p:nvSpPr>
        <p:spPr>
          <a:xfrm>
            <a:off x="914400" y="43525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8" name="Text 26"/>
          <p:cNvSpPr txBox="1"/>
          <p:nvPr/>
        </p:nvSpPr>
        <p:spPr>
          <a:xfrm>
            <a:off x="914400" y="4754880"/>
            <a:ext cx="2139696" cy="292608"/>
          </a:xfrm>
          <a:prstGeom prst="rect">
            <a:avLst/>
          </a:prstGeom>
          <a:noFill/>
          <a:ln/>
        </p:spPr>
        <p:txBody>
          <a:bodyPr wrap="square" lIns="0" tIns="0" rIns="0" bIns="0" rtlCol="0" anchor="ctr"/>
          <a:lstStyle/>
          <a:p>
            <a:pPr indent="0" marL="0">
              <a:buNone/>
            </a:pPr>
            <a:r>
              <a:rPr lang="en-US" sz="1350" b="1" dirty="0">
                <a:solidFill>
                  <a:srgbClr val="0F0F0F"/>
                </a:solidFill>
                <a:latin typeface="Arial" pitchFamily="34" charset="0"/>
                <a:ea typeface="Arial" pitchFamily="34" charset="-122"/>
                <a:cs typeface="Arial" pitchFamily="34" charset="-120"/>
              </a:rPr>
              <a:t>Upload and start</a:t>
            </a:r>
            <a:endParaRPr lang="en-US" sz="1350" dirty="0"/>
          </a:p>
        </p:txBody>
      </p:sp>
      <p:sp>
        <p:nvSpPr>
          <p:cNvPr id="29" name="Text 27"/>
          <p:cNvSpPr txBox="1"/>
          <p:nvPr/>
        </p:nvSpPr>
        <p:spPr>
          <a:xfrm>
            <a:off x="914400" y="5065776"/>
            <a:ext cx="2139696" cy="621792"/>
          </a:xfrm>
          <a:prstGeom prst="rect">
            <a:avLst/>
          </a:prstGeom>
          <a:noFill/>
          <a:ln/>
        </p:spPr>
        <p:txBody>
          <a:bodyPr wrap="square" lIns="0" tIns="0" rIns="0" bIns="0" rtlCol="0" anchor="t"/>
          <a:lstStyle/>
          <a:p>
            <a:pPr indent="0" marL="0">
              <a:lnSpc>
                <a:spcPct val="120000"/>
              </a:lnSpc>
              <a:buNone/>
            </a:pPr>
            <a:r>
              <a:rPr lang="en-US" sz="950" dirty="0">
                <a:solidFill>
                  <a:srgbClr val="53565A"/>
                </a:solidFill>
                <a:latin typeface="Arial" pitchFamily="34" charset="0"/>
                <a:ea typeface="Arial" pitchFamily="34" charset="-122"/>
                <a:cs typeface="Arial" pitchFamily="34" charset="-120"/>
              </a:rPr>
              <a:t>One archive. The analysis runs in the background.</a:t>
            </a:r>
            <a:endParaRPr lang="en-US" sz="950" dirty="0"/>
          </a:p>
        </p:txBody>
      </p:sp>
      <p:sp>
        <p:nvSpPr>
          <p:cNvPr id="30" name="Shape 28"/>
          <p:cNvSpPr/>
          <p:nvPr/>
        </p:nvSpPr>
        <p:spPr>
          <a:xfrm>
            <a:off x="3456432" y="4114800"/>
            <a:ext cx="2615184" cy="1700784"/>
          </a:xfrm>
          <a:prstGeom prst="rect">
            <a:avLst/>
          </a:prstGeom>
          <a:solidFill>
            <a:srgbClr val="F4F4F2"/>
          </a:solidFill>
          <a:ln w="9525">
            <a:solidFill>
              <a:srgbClr val="D0D0CE"/>
            </a:solidFill>
            <a:prstDash val="solid"/>
          </a:ln>
        </p:spPr>
      </p:sp>
      <p:sp>
        <p:nvSpPr>
          <p:cNvPr id="31" name="Shape 29"/>
          <p:cNvSpPr/>
          <p:nvPr/>
        </p:nvSpPr>
        <p:spPr>
          <a:xfrm>
            <a:off x="3712464" y="4352544"/>
            <a:ext cx="329184" cy="329184"/>
          </a:xfrm>
          <a:prstGeom prst="rect">
            <a:avLst/>
          </a:prstGeom>
          <a:solidFill>
            <a:srgbClr val="000000"/>
          </a:solidFill>
          <a:ln/>
        </p:spPr>
      </p:sp>
      <p:sp>
        <p:nvSpPr>
          <p:cNvPr id="32" name="Text 30"/>
          <p:cNvSpPr txBox="1"/>
          <p:nvPr/>
        </p:nvSpPr>
        <p:spPr>
          <a:xfrm>
            <a:off x="3712464" y="43525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3" name="Text 31"/>
          <p:cNvSpPr txBox="1"/>
          <p:nvPr/>
        </p:nvSpPr>
        <p:spPr>
          <a:xfrm>
            <a:off x="3712464" y="4754880"/>
            <a:ext cx="2139696" cy="292608"/>
          </a:xfrm>
          <a:prstGeom prst="rect">
            <a:avLst/>
          </a:prstGeom>
          <a:noFill/>
          <a:ln/>
        </p:spPr>
        <p:txBody>
          <a:bodyPr wrap="square" lIns="0" tIns="0" rIns="0" bIns="0" rtlCol="0" anchor="ctr"/>
          <a:lstStyle/>
          <a:p>
            <a:pPr indent="0" marL="0">
              <a:buNone/>
            </a:pPr>
            <a:r>
              <a:rPr lang="en-US" sz="1350" b="1" dirty="0">
                <a:solidFill>
                  <a:srgbClr val="0F0F0F"/>
                </a:solidFill>
                <a:latin typeface="Arial" pitchFamily="34" charset="0"/>
                <a:ea typeface="Arial" pitchFamily="34" charset="-122"/>
                <a:cs typeface="Arial" pitchFamily="34" charset="-120"/>
              </a:rPr>
              <a:t>Read the report</a:t>
            </a:r>
            <a:endParaRPr lang="en-US" sz="1350" dirty="0"/>
          </a:p>
        </p:txBody>
      </p:sp>
      <p:sp>
        <p:nvSpPr>
          <p:cNvPr id="34" name="Text 32"/>
          <p:cNvSpPr txBox="1"/>
          <p:nvPr/>
        </p:nvSpPr>
        <p:spPr>
          <a:xfrm>
            <a:off x="3712464" y="5065776"/>
            <a:ext cx="2139696" cy="621792"/>
          </a:xfrm>
          <a:prstGeom prst="rect">
            <a:avLst/>
          </a:prstGeom>
          <a:noFill/>
          <a:ln/>
        </p:spPr>
        <p:txBody>
          <a:bodyPr wrap="square" lIns="0" tIns="0" rIns="0" bIns="0" rtlCol="0" anchor="t"/>
          <a:lstStyle/>
          <a:p>
            <a:pPr indent="0" marL="0">
              <a:lnSpc>
                <a:spcPct val="120000"/>
              </a:lnSpc>
              <a:buNone/>
            </a:pPr>
            <a:r>
              <a:rPr lang="en-US" sz="950" dirty="0">
                <a:solidFill>
                  <a:srgbClr val="53565A"/>
                </a:solidFill>
                <a:latin typeface="Arial" pitchFamily="34" charset="0"/>
                <a:ea typeface="Arial" pitchFamily="34" charset="-122"/>
                <a:cs typeface="Arial" pitchFamily="34" charset="-120"/>
              </a:rPr>
              <a:t>Risk score, severity split, techniques observed and data source coverage.</a:t>
            </a:r>
            <a:endParaRPr lang="en-US" sz="950" dirty="0"/>
          </a:p>
        </p:txBody>
      </p:sp>
      <p:sp>
        <p:nvSpPr>
          <p:cNvPr id="35" name="Shape 33"/>
          <p:cNvSpPr/>
          <p:nvPr/>
        </p:nvSpPr>
        <p:spPr>
          <a:xfrm>
            <a:off x="6254496" y="4114800"/>
            <a:ext cx="2615184" cy="1700784"/>
          </a:xfrm>
          <a:prstGeom prst="rect">
            <a:avLst/>
          </a:prstGeom>
          <a:solidFill>
            <a:srgbClr val="F4F4F2"/>
          </a:solidFill>
          <a:ln w="9525">
            <a:solidFill>
              <a:srgbClr val="D0D0CE"/>
            </a:solidFill>
            <a:prstDash val="solid"/>
          </a:ln>
        </p:spPr>
      </p:sp>
      <p:sp>
        <p:nvSpPr>
          <p:cNvPr id="36" name="Shape 34"/>
          <p:cNvSpPr/>
          <p:nvPr/>
        </p:nvSpPr>
        <p:spPr>
          <a:xfrm>
            <a:off x="6510528" y="4352544"/>
            <a:ext cx="329184" cy="329184"/>
          </a:xfrm>
          <a:prstGeom prst="rect">
            <a:avLst/>
          </a:prstGeom>
          <a:solidFill>
            <a:srgbClr val="000000"/>
          </a:solidFill>
          <a:ln/>
        </p:spPr>
      </p:sp>
      <p:sp>
        <p:nvSpPr>
          <p:cNvPr id="37" name="Text 35"/>
          <p:cNvSpPr txBox="1"/>
          <p:nvPr/>
        </p:nvSpPr>
        <p:spPr>
          <a:xfrm>
            <a:off x="6510528" y="43525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38" name="Text 36"/>
          <p:cNvSpPr txBox="1"/>
          <p:nvPr/>
        </p:nvSpPr>
        <p:spPr>
          <a:xfrm>
            <a:off x="6510528" y="4754880"/>
            <a:ext cx="2139696" cy="292608"/>
          </a:xfrm>
          <a:prstGeom prst="rect">
            <a:avLst/>
          </a:prstGeom>
          <a:noFill/>
          <a:ln/>
        </p:spPr>
        <p:txBody>
          <a:bodyPr wrap="square" lIns="0" tIns="0" rIns="0" bIns="0" rtlCol="0" anchor="ctr"/>
          <a:lstStyle/>
          <a:p>
            <a:pPr indent="0" marL="0">
              <a:buNone/>
            </a:pPr>
            <a:r>
              <a:rPr lang="en-US" sz="1350" b="1" dirty="0">
                <a:solidFill>
                  <a:srgbClr val="0F0F0F"/>
                </a:solidFill>
                <a:latin typeface="Arial" pitchFamily="34" charset="0"/>
                <a:ea typeface="Arial" pitchFamily="34" charset="-122"/>
                <a:cs typeface="Arial" pitchFamily="34" charset="-120"/>
              </a:rPr>
              <a:t>Open an observation</a:t>
            </a:r>
            <a:endParaRPr lang="en-US" sz="1350" dirty="0"/>
          </a:p>
        </p:txBody>
      </p:sp>
      <p:sp>
        <p:nvSpPr>
          <p:cNvPr id="39" name="Text 37"/>
          <p:cNvSpPr txBox="1"/>
          <p:nvPr/>
        </p:nvSpPr>
        <p:spPr>
          <a:xfrm>
            <a:off x="6510528" y="5065776"/>
            <a:ext cx="2139696" cy="621792"/>
          </a:xfrm>
          <a:prstGeom prst="rect">
            <a:avLst/>
          </a:prstGeom>
          <a:noFill/>
          <a:ln/>
        </p:spPr>
        <p:txBody>
          <a:bodyPr wrap="square" lIns="0" tIns="0" rIns="0" bIns="0" rtlCol="0" anchor="t"/>
          <a:lstStyle/>
          <a:p>
            <a:pPr indent="0" marL="0">
              <a:lnSpc>
                <a:spcPct val="120000"/>
              </a:lnSpc>
              <a:buNone/>
            </a:pPr>
            <a:r>
              <a:rPr lang="en-US" sz="950" dirty="0">
                <a:solidFill>
                  <a:srgbClr val="53565A"/>
                </a:solidFill>
                <a:latin typeface="Arial" pitchFamily="34" charset="0"/>
                <a:ea typeface="Arial" pitchFamily="34" charset="-122"/>
                <a:cs typeface="Arial" pitchFamily="34" charset="-120"/>
              </a:rPr>
              <a:t>Description, original log line, cyber risk, cyber impact, recommendation.</a:t>
            </a:r>
            <a:endParaRPr lang="en-US" sz="950" dirty="0"/>
          </a:p>
        </p:txBody>
      </p:sp>
      <p:sp>
        <p:nvSpPr>
          <p:cNvPr id="40" name="Shape 38"/>
          <p:cNvSpPr/>
          <p:nvPr/>
        </p:nvSpPr>
        <p:spPr>
          <a:xfrm>
            <a:off x="9052560" y="4114800"/>
            <a:ext cx="2615184" cy="1700784"/>
          </a:xfrm>
          <a:prstGeom prst="rect">
            <a:avLst/>
          </a:prstGeom>
          <a:solidFill>
            <a:srgbClr val="F4F4F2"/>
          </a:solidFill>
          <a:ln w="9525">
            <a:solidFill>
              <a:srgbClr val="D0D0CE"/>
            </a:solidFill>
            <a:prstDash val="solid"/>
          </a:ln>
        </p:spPr>
      </p:sp>
      <p:sp>
        <p:nvSpPr>
          <p:cNvPr id="41" name="Shape 39"/>
          <p:cNvSpPr/>
          <p:nvPr/>
        </p:nvSpPr>
        <p:spPr>
          <a:xfrm>
            <a:off x="9308592" y="4352544"/>
            <a:ext cx="329184" cy="329184"/>
          </a:xfrm>
          <a:prstGeom prst="rect">
            <a:avLst/>
          </a:prstGeom>
          <a:solidFill>
            <a:srgbClr val="000000"/>
          </a:solidFill>
          <a:ln/>
        </p:spPr>
      </p:sp>
      <p:sp>
        <p:nvSpPr>
          <p:cNvPr id="42" name="Text 40"/>
          <p:cNvSpPr txBox="1"/>
          <p:nvPr/>
        </p:nvSpPr>
        <p:spPr>
          <a:xfrm>
            <a:off x="9308592" y="43525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8</a:t>
            </a:r>
            <a:endParaRPr lang="en-US" sz="1100" dirty="0"/>
          </a:p>
        </p:txBody>
      </p:sp>
      <p:sp>
        <p:nvSpPr>
          <p:cNvPr id="43" name="Text 41"/>
          <p:cNvSpPr txBox="1"/>
          <p:nvPr/>
        </p:nvSpPr>
        <p:spPr>
          <a:xfrm>
            <a:off x="9308592" y="4754880"/>
            <a:ext cx="2139696" cy="292608"/>
          </a:xfrm>
          <a:prstGeom prst="rect">
            <a:avLst/>
          </a:prstGeom>
          <a:noFill/>
          <a:ln/>
        </p:spPr>
        <p:txBody>
          <a:bodyPr wrap="square" lIns="0" tIns="0" rIns="0" bIns="0" rtlCol="0" anchor="ctr"/>
          <a:lstStyle/>
          <a:p>
            <a:pPr indent="0" marL="0">
              <a:buNone/>
            </a:pPr>
            <a:r>
              <a:rPr lang="en-US" sz="1350" b="1" dirty="0">
                <a:solidFill>
                  <a:srgbClr val="0F0F0F"/>
                </a:solidFill>
                <a:latin typeface="Arial" pitchFamily="34" charset="0"/>
                <a:ea typeface="Arial" pitchFamily="34" charset="-122"/>
                <a:cs typeface="Arial" pitchFamily="34" charset="-120"/>
              </a:rPr>
              <a:t>Export</a:t>
            </a:r>
            <a:endParaRPr lang="en-US" sz="1350" dirty="0"/>
          </a:p>
        </p:txBody>
      </p:sp>
      <p:sp>
        <p:nvSpPr>
          <p:cNvPr id="44" name="Text 42"/>
          <p:cNvSpPr txBox="1"/>
          <p:nvPr/>
        </p:nvSpPr>
        <p:spPr>
          <a:xfrm>
            <a:off x="9308592" y="5065776"/>
            <a:ext cx="2139696" cy="621792"/>
          </a:xfrm>
          <a:prstGeom prst="rect">
            <a:avLst/>
          </a:prstGeom>
          <a:noFill/>
          <a:ln/>
        </p:spPr>
        <p:txBody>
          <a:bodyPr wrap="square" lIns="0" tIns="0" rIns="0" bIns="0" rtlCol="0" anchor="t"/>
          <a:lstStyle/>
          <a:p>
            <a:pPr indent="0" marL="0">
              <a:lnSpc>
                <a:spcPct val="120000"/>
              </a:lnSpc>
              <a:buNone/>
            </a:pPr>
            <a:r>
              <a:rPr lang="en-US" sz="950" dirty="0">
                <a:solidFill>
                  <a:srgbClr val="53565A"/>
                </a:solidFill>
                <a:latin typeface="Arial" pitchFamily="34" charset="0"/>
                <a:ea typeface="Arial" pitchFamily="34" charset="-122"/>
                <a:cs typeface="Arial" pitchFamily="34" charset="-120"/>
              </a:rPr>
              <a:t>PDF for the client, JSON for the pipeline. The hunt stays in the history.</a:t>
            </a:r>
            <a:endParaRPr lang="en-US" sz="950" dirty="0"/>
          </a:p>
        </p:txBody>
      </p:sp>
      <p:sp>
        <p:nvSpPr>
          <p:cNvPr id="45" name="Text 43"/>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46" name="Text 44"/>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STEP ONE</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Sign in to the workspace</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26364" y="1924812"/>
            <a:ext cx="6323625" cy="3995928"/>
          </a:xfrm>
          <a:prstGeom prst="rect">
            <a:avLst/>
          </a:prstGeom>
          <a:solidFill>
            <a:srgbClr val="FFFFFF"/>
          </a:solidFill>
          <a:ln w="12700">
            <a:solidFill>
              <a:srgbClr val="D0D0CE"/>
            </a:solidFill>
            <a:prstDash val="solid"/>
          </a:ln>
        </p:spPr>
      </p:sp>
      <p:pic>
        <p:nvPicPr>
          <p:cNvPr id="6" name="Image 0" descr="img/01-login.png">    </p:cNvPr>
          <p:cNvPicPr>
            <a:picLocks noChangeAspect="1"/>
          </p:cNvPicPr>
          <p:nvPr/>
        </p:nvPicPr>
        <p:blipFill>
          <a:blip r:embed="rId1"/>
          <a:stretch>
            <a:fillRect/>
          </a:stretch>
        </p:blipFill>
        <p:spPr>
          <a:xfrm>
            <a:off x="658368" y="1956816"/>
            <a:ext cx="6259617" cy="3931920"/>
          </a:xfrm>
          <a:prstGeom prst="rect">
            <a:avLst/>
          </a:prstGeom>
        </p:spPr>
      </p:pic>
      <p:sp>
        <p:nvSpPr>
          <p:cNvPr id="7" name="Shape 4"/>
          <p:cNvSpPr/>
          <p:nvPr/>
        </p:nvSpPr>
        <p:spPr>
          <a:xfrm>
            <a:off x="7247169" y="1956816"/>
            <a:ext cx="4286159" cy="3931920"/>
          </a:xfrm>
          <a:prstGeom prst="rect">
            <a:avLst/>
          </a:prstGeom>
          <a:solidFill>
            <a:srgbClr val="FFFFFF"/>
          </a:solidFill>
          <a:ln w="9525">
            <a:solidFill>
              <a:srgbClr val="D0D0CE"/>
            </a:solidFill>
            <a:prstDash val="solid"/>
          </a:ln>
        </p:spPr>
      </p:sp>
      <p:sp>
        <p:nvSpPr>
          <p:cNvPr id="8" name="Text 5"/>
          <p:cNvSpPr txBox="1"/>
          <p:nvPr/>
        </p:nvSpPr>
        <p:spPr>
          <a:xfrm>
            <a:off x="7521489" y="2176272"/>
            <a:ext cx="3737519" cy="310896"/>
          </a:xfrm>
          <a:prstGeom prst="rect">
            <a:avLst/>
          </a:prstGeom>
          <a:noFill/>
          <a:ln/>
        </p:spPr>
        <p:txBody>
          <a:bodyPr wrap="square" lIns="0" tIns="0" rIns="0" bIns="0" rtlCol="0" anchor="ctr"/>
          <a:lstStyle/>
          <a:p>
            <a:pPr indent="0" marL="0">
              <a:buNone/>
            </a:pPr>
            <a:r>
              <a:rPr lang="en-US" sz="1400" b="1" dirty="0">
                <a:solidFill>
                  <a:srgbClr val="0F0F0F"/>
                </a:solidFill>
                <a:latin typeface="Arial" pitchFamily="34" charset="0"/>
                <a:ea typeface="Arial" pitchFamily="34" charset="-122"/>
                <a:cs typeface="Arial" pitchFamily="34" charset="-120"/>
              </a:rPr>
              <a:t>What to look at</a:t>
            </a:r>
            <a:endParaRPr lang="en-US" sz="1400" dirty="0"/>
          </a:p>
        </p:txBody>
      </p:sp>
      <p:sp>
        <p:nvSpPr>
          <p:cNvPr id="9" name="Text 6"/>
          <p:cNvSpPr txBox="1"/>
          <p:nvPr/>
        </p:nvSpPr>
        <p:spPr>
          <a:xfrm>
            <a:off x="7521489" y="2578608"/>
            <a:ext cx="3737519" cy="3090672"/>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Access is scoped per tenant and per user. A workspace identifier, an email address and a password.</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Three roles: an administrator can run hunts and manage members, an analyst can run hunts, a viewer can only read.</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Cross tenant reads return 404 rather than 403, so the existence of another workspace is never disclosed.</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Sign in attempts are rate limited per account and per source address, and the verification work is constant time.</a:t>
            </a:r>
            <a:endParaRPr lang="en-US" sz="1040" dirty="0"/>
          </a:p>
        </p:txBody>
      </p:sp>
      <p:sp>
        <p:nvSpPr>
          <p:cNvPr id="10" name="Text 7"/>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1" name="Text 8"/>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STEP TWO</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The workspace overview</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26364" y="1924812"/>
            <a:ext cx="6323625" cy="3995928"/>
          </a:xfrm>
          <a:prstGeom prst="rect">
            <a:avLst/>
          </a:prstGeom>
          <a:solidFill>
            <a:srgbClr val="FFFFFF"/>
          </a:solidFill>
          <a:ln w="12700">
            <a:solidFill>
              <a:srgbClr val="D0D0CE"/>
            </a:solidFill>
            <a:prstDash val="solid"/>
          </a:ln>
        </p:spPr>
      </p:sp>
      <p:pic>
        <p:nvPicPr>
          <p:cNvPr id="6" name="Image 0" descr="img/02-dashboard.png">    </p:cNvPr>
          <p:cNvPicPr>
            <a:picLocks noChangeAspect="1"/>
          </p:cNvPicPr>
          <p:nvPr/>
        </p:nvPicPr>
        <p:blipFill>
          <a:blip r:embed="rId1"/>
          <a:stretch>
            <a:fillRect/>
          </a:stretch>
        </p:blipFill>
        <p:spPr>
          <a:xfrm>
            <a:off x="658368" y="1956816"/>
            <a:ext cx="6259617" cy="3931920"/>
          </a:xfrm>
          <a:prstGeom prst="rect">
            <a:avLst/>
          </a:prstGeom>
        </p:spPr>
      </p:pic>
      <p:sp>
        <p:nvSpPr>
          <p:cNvPr id="7" name="Shape 4"/>
          <p:cNvSpPr/>
          <p:nvPr/>
        </p:nvSpPr>
        <p:spPr>
          <a:xfrm>
            <a:off x="7247169" y="1956816"/>
            <a:ext cx="4286159" cy="3931920"/>
          </a:xfrm>
          <a:prstGeom prst="rect">
            <a:avLst/>
          </a:prstGeom>
          <a:solidFill>
            <a:srgbClr val="FFFFFF"/>
          </a:solidFill>
          <a:ln w="9525">
            <a:solidFill>
              <a:srgbClr val="D0D0CE"/>
            </a:solidFill>
            <a:prstDash val="solid"/>
          </a:ln>
        </p:spPr>
      </p:sp>
      <p:sp>
        <p:nvSpPr>
          <p:cNvPr id="8" name="Text 5"/>
          <p:cNvSpPr txBox="1"/>
          <p:nvPr/>
        </p:nvSpPr>
        <p:spPr>
          <a:xfrm>
            <a:off x="7521489" y="2176272"/>
            <a:ext cx="3737519" cy="310896"/>
          </a:xfrm>
          <a:prstGeom prst="rect">
            <a:avLst/>
          </a:prstGeom>
          <a:noFill/>
          <a:ln/>
        </p:spPr>
        <p:txBody>
          <a:bodyPr wrap="square" lIns="0" tIns="0" rIns="0" bIns="0" rtlCol="0" anchor="ctr"/>
          <a:lstStyle/>
          <a:p>
            <a:pPr indent="0" marL="0">
              <a:buNone/>
            </a:pPr>
            <a:r>
              <a:rPr lang="en-US" sz="1400" b="1" dirty="0">
                <a:solidFill>
                  <a:srgbClr val="0F0F0F"/>
                </a:solidFill>
                <a:latin typeface="Arial" pitchFamily="34" charset="0"/>
                <a:ea typeface="Arial" pitchFamily="34" charset="-122"/>
                <a:cs typeface="Arial" pitchFamily="34" charset="-120"/>
              </a:rPr>
              <a:t>What to look at</a:t>
            </a:r>
            <a:endParaRPr lang="en-US" sz="1400" dirty="0"/>
          </a:p>
        </p:txBody>
      </p:sp>
      <p:sp>
        <p:nvSpPr>
          <p:cNvPr id="9" name="Text 6"/>
          <p:cNvSpPr txBox="1"/>
          <p:nvPr/>
        </p:nvSpPr>
        <p:spPr>
          <a:xfrm>
            <a:off x="7521489" y="2578608"/>
            <a:ext cx="3737519" cy="3090672"/>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Four headline figures: hunts executed, observations, records analysed and the average risk score.</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Hunting activity per day, with the count of critical findings.</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Observation severity as a whole, across every completed hunt in the workspace.</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Where the observations sit in the ATT&amp;CK lifecycle, and the techniques seen most often.</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This is the programme view. It answers what has been hunted and what it found, not just what happened today.</a:t>
            </a:r>
            <a:endParaRPr lang="en-US" sz="1040" dirty="0"/>
          </a:p>
        </p:txBody>
      </p:sp>
      <p:sp>
        <p:nvSpPr>
          <p:cNvPr id="10" name="Text 7"/>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1" name="Text 8"/>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STEP THREE</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Choose the hypothesis</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26364" y="1924812"/>
            <a:ext cx="6323625" cy="3995928"/>
          </a:xfrm>
          <a:prstGeom prst="rect">
            <a:avLst/>
          </a:prstGeom>
          <a:solidFill>
            <a:srgbClr val="FFFFFF"/>
          </a:solidFill>
          <a:ln w="12700">
            <a:solidFill>
              <a:srgbClr val="D0D0CE"/>
            </a:solidFill>
            <a:prstDash val="solid"/>
          </a:ln>
        </p:spPr>
      </p:sp>
      <p:pic>
        <p:nvPicPr>
          <p:cNvPr id="6" name="Image 0" descr="img/04-newhunt.png">    </p:cNvPr>
          <p:cNvPicPr>
            <a:picLocks noChangeAspect="1"/>
          </p:cNvPicPr>
          <p:nvPr/>
        </p:nvPicPr>
        <p:blipFill>
          <a:blip r:embed="rId1"/>
          <a:stretch>
            <a:fillRect/>
          </a:stretch>
        </p:blipFill>
        <p:spPr>
          <a:xfrm>
            <a:off x="658368" y="1956816"/>
            <a:ext cx="6259617" cy="3931920"/>
          </a:xfrm>
          <a:prstGeom prst="rect">
            <a:avLst/>
          </a:prstGeom>
        </p:spPr>
      </p:pic>
      <p:sp>
        <p:nvSpPr>
          <p:cNvPr id="7" name="Shape 4"/>
          <p:cNvSpPr/>
          <p:nvPr/>
        </p:nvSpPr>
        <p:spPr>
          <a:xfrm>
            <a:off x="7247169" y="1956816"/>
            <a:ext cx="4286159" cy="3931920"/>
          </a:xfrm>
          <a:prstGeom prst="rect">
            <a:avLst/>
          </a:prstGeom>
          <a:solidFill>
            <a:srgbClr val="FFFFFF"/>
          </a:solidFill>
          <a:ln w="9525">
            <a:solidFill>
              <a:srgbClr val="D0D0CE"/>
            </a:solidFill>
            <a:prstDash val="solid"/>
          </a:ln>
        </p:spPr>
      </p:sp>
      <p:sp>
        <p:nvSpPr>
          <p:cNvPr id="8" name="Text 5"/>
          <p:cNvSpPr txBox="1"/>
          <p:nvPr/>
        </p:nvSpPr>
        <p:spPr>
          <a:xfrm>
            <a:off x="7521489" y="2176272"/>
            <a:ext cx="3737519" cy="310896"/>
          </a:xfrm>
          <a:prstGeom prst="rect">
            <a:avLst/>
          </a:prstGeom>
          <a:noFill/>
          <a:ln/>
        </p:spPr>
        <p:txBody>
          <a:bodyPr wrap="square" lIns="0" tIns="0" rIns="0" bIns="0" rtlCol="0" anchor="ctr"/>
          <a:lstStyle/>
          <a:p>
            <a:pPr indent="0" marL="0">
              <a:buNone/>
            </a:pPr>
            <a:r>
              <a:rPr lang="en-US" sz="1400" b="1" dirty="0">
                <a:solidFill>
                  <a:srgbClr val="0F0F0F"/>
                </a:solidFill>
                <a:latin typeface="Arial" pitchFamily="34" charset="0"/>
                <a:ea typeface="Arial" pitchFamily="34" charset="-122"/>
                <a:cs typeface="Arial" pitchFamily="34" charset="-120"/>
              </a:rPr>
              <a:t>What to look at</a:t>
            </a:r>
            <a:endParaRPr lang="en-US" sz="1400" dirty="0"/>
          </a:p>
        </p:txBody>
      </p:sp>
      <p:sp>
        <p:nvSpPr>
          <p:cNvPr id="9" name="Text 6"/>
          <p:cNvSpPr txBox="1"/>
          <p:nvPr/>
        </p:nvSpPr>
        <p:spPr>
          <a:xfrm>
            <a:off x="7521489" y="2578608"/>
            <a:ext cx="3737519" cy="3090672"/>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A four step wizard: choose a hypothesis, prepare the data, upload the evidence, analyse.</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Filter by family: threat intelligence, technique or mathematical.</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Each card states the question, its priority, the number of detections that will run and the techniques they cover.</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For this walkthrough: ransomware deployment precursors are present in the estate, which runs 16 detections across 14 techniques.</a:t>
            </a:r>
            <a:endParaRPr lang="en-US" sz="1040" dirty="0"/>
          </a:p>
        </p:txBody>
      </p:sp>
      <p:sp>
        <p:nvSpPr>
          <p:cNvPr id="10" name="Text 7"/>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1" name="Text 8"/>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STEP FOUR</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Prepare the evidence</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26364" y="1924812"/>
            <a:ext cx="6323625" cy="3995928"/>
          </a:xfrm>
          <a:prstGeom prst="rect">
            <a:avLst/>
          </a:prstGeom>
          <a:solidFill>
            <a:srgbClr val="FFFFFF"/>
          </a:solidFill>
          <a:ln w="12700">
            <a:solidFill>
              <a:srgbClr val="D0D0CE"/>
            </a:solidFill>
            <a:prstDash val="solid"/>
          </a:ln>
        </p:spPr>
      </p:sp>
      <p:pic>
        <p:nvPicPr>
          <p:cNvPr id="6" name="Image 0" descr="img/09-wizard-step2-data.png">    </p:cNvPr>
          <p:cNvPicPr>
            <a:picLocks noChangeAspect="1"/>
          </p:cNvPicPr>
          <p:nvPr/>
        </p:nvPicPr>
        <p:blipFill>
          <a:blip r:embed="rId1"/>
          <a:stretch>
            <a:fillRect/>
          </a:stretch>
        </p:blipFill>
        <p:spPr>
          <a:xfrm>
            <a:off x="658368" y="1956816"/>
            <a:ext cx="6259617" cy="3931920"/>
          </a:xfrm>
          <a:prstGeom prst="rect">
            <a:avLst/>
          </a:prstGeom>
        </p:spPr>
      </p:pic>
      <p:sp>
        <p:nvSpPr>
          <p:cNvPr id="7" name="Shape 4"/>
          <p:cNvSpPr/>
          <p:nvPr/>
        </p:nvSpPr>
        <p:spPr>
          <a:xfrm>
            <a:off x="7247169" y="1956816"/>
            <a:ext cx="4286159" cy="3931920"/>
          </a:xfrm>
          <a:prstGeom prst="rect">
            <a:avLst/>
          </a:prstGeom>
          <a:solidFill>
            <a:srgbClr val="FFFFFF"/>
          </a:solidFill>
          <a:ln w="9525">
            <a:solidFill>
              <a:srgbClr val="D0D0CE"/>
            </a:solidFill>
            <a:prstDash val="solid"/>
          </a:ln>
        </p:spPr>
      </p:sp>
      <p:sp>
        <p:nvSpPr>
          <p:cNvPr id="8" name="Text 5"/>
          <p:cNvSpPr txBox="1"/>
          <p:nvPr/>
        </p:nvSpPr>
        <p:spPr>
          <a:xfrm>
            <a:off x="7521489" y="2176272"/>
            <a:ext cx="3737519" cy="310896"/>
          </a:xfrm>
          <a:prstGeom prst="rect">
            <a:avLst/>
          </a:prstGeom>
          <a:noFill/>
          <a:ln/>
        </p:spPr>
        <p:txBody>
          <a:bodyPr wrap="square" lIns="0" tIns="0" rIns="0" bIns="0" rtlCol="0" anchor="ctr"/>
          <a:lstStyle/>
          <a:p>
            <a:pPr indent="0" marL="0">
              <a:buNone/>
            </a:pPr>
            <a:r>
              <a:rPr lang="en-US" sz="1400" b="1" dirty="0">
                <a:solidFill>
                  <a:srgbClr val="0F0F0F"/>
                </a:solidFill>
                <a:latin typeface="Arial" pitchFamily="34" charset="0"/>
                <a:ea typeface="Arial" pitchFamily="34" charset="-122"/>
                <a:cs typeface="Arial" pitchFamily="34" charset="-120"/>
              </a:rPr>
              <a:t>What to look at</a:t>
            </a:r>
            <a:endParaRPr lang="en-US" sz="1400" dirty="0"/>
          </a:p>
        </p:txBody>
      </p:sp>
      <p:sp>
        <p:nvSpPr>
          <p:cNvPr id="9" name="Text 6"/>
          <p:cNvSpPr txBox="1"/>
          <p:nvPr/>
        </p:nvSpPr>
        <p:spPr>
          <a:xfrm>
            <a:off x="7521489" y="2578608"/>
            <a:ext cx="3737519" cy="3090672"/>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The hypothesis declares exactly what it needs before anything is uploaded.</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Required sources are separated from recommended ones, so a partial collection is still a valid hunt.</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Each source lists the accepted formats and the command or export path that produces them.</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The panel on the right confirms the detections that will apply and the ATT&amp;CK techniques they cover.</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This is what stops the common failure of hunting against telemetry that cannot answer the question.</a:t>
            </a:r>
            <a:endParaRPr lang="en-US" sz="1040" dirty="0"/>
          </a:p>
        </p:txBody>
      </p:sp>
      <p:sp>
        <p:nvSpPr>
          <p:cNvPr id="10" name="Text 7"/>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1" name="Text 8"/>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STEP FIVE</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Upload and start the analysis</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26364" y="1924812"/>
            <a:ext cx="6323625" cy="3995928"/>
          </a:xfrm>
          <a:prstGeom prst="rect">
            <a:avLst/>
          </a:prstGeom>
          <a:solidFill>
            <a:srgbClr val="FFFFFF"/>
          </a:solidFill>
          <a:ln w="12700">
            <a:solidFill>
              <a:srgbClr val="D0D0CE"/>
            </a:solidFill>
            <a:prstDash val="solid"/>
          </a:ln>
        </p:spPr>
      </p:sp>
      <p:pic>
        <p:nvPicPr>
          <p:cNvPr id="6" name="Image 0" descr="img/11-wizard-step3-file.png">    </p:cNvPr>
          <p:cNvPicPr>
            <a:picLocks noChangeAspect="1"/>
          </p:cNvPicPr>
          <p:nvPr/>
        </p:nvPicPr>
        <p:blipFill>
          <a:blip r:embed="rId1"/>
          <a:stretch>
            <a:fillRect/>
          </a:stretch>
        </p:blipFill>
        <p:spPr>
          <a:xfrm>
            <a:off x="658368" y="1956816"/>
            <a:ext cx="6259617" cy="3931920"/>
          </a:xfrm>
          <a:prstGeom prst="rect">
            <a:avLst/>
          </a:prstGeom>
        </p:spPr>
      </p:pic>
      <p:sp>
        <p:nvSpPr>
          <p:cNvPr id="7" name="Shape 4"/>
          <p:cNvSpPr/>
          <p:nvPr/>
        </p:nvSpPr>
        <p:spPr>
          <a:xfrm>
            <a:off x="7247169" y="1956816"/>
            <a:ext cx="4286159" cy="3931920"/>
          </a:xfrm>
          <a:prstGeom prst="rect">
            <a:avLst/>
          </a:prstGeom>
          <a:solidFill>
            <a:srgbClr val="FFFFFF"/>
          </a:solidFill>
          <a:ln w="9525">
            <a:solidFill>
              <a:srgbClr val="D0D0CE"/>
            </a:solidFill>
            <a:prstDash val="solid"/>
          </a:ln>
        </p:spPr>
      </p:sp>
      <p:sp>
        <p:nvSpPr>
          <p:cNvPr id="8" name="Text 5"/>
          <p:cNvSpPr txBox="1"/>
          <p:nvPr/>
        </p:nvSpPr>
        <p:spPr>
          <a:xfrm>
            <a:off x="7521489" y="2176272"/>
            <a:ext cx="3737519" cy="310896"/>
          </a:xfrm>
          <a:prstGeom prst="rect">
            <a:avLst/>
          </a:prstGeom>
          <a:noFill/>
          <a:ln/>
        </p:spPr>
        <p:txBody>
          <a:bodyPr wrap="square" lIns="0" tIns="0" rIns="0" bIns="0" rtlCol="0" anchor="ctr"/>
          <a:lstStyle/>
          <a:p>
            <a:pPr indent="0" marL="0">
              <a:buNone/>
            </a:pPr>
            <a:r>
              <a:rPr lang="en-US" sz="1400" b="1" dirty="0">
                <a:solidFill>
                  <a:srgbClr val="0F0F0F"/>
                </a:solidFill>
                <a:latin typeface="Arial" pitchFamily="34" charset="0"/>
                <a:ea typeface="Arial" pitchFamily="34" charset="-122"/>
                <a:cs typeface="Arial" pitchFamily="34" charset="-120"/>
              </a:rPr>
              <a:t>What to look at</a:t>
            </a:r>
            <a:endParaRPr lang="en-US" sz="1400" dirty="0"/>
          </a:p>
        </p:txBody>
      </p:sp>
      <p:sp>
        <p:nvSpPr>
          <p:cNvPr id="9" name="Text 6"/>
          <p:cNvSpPr txBox="1"/>
          <p:nvPr/>
        </p:nvSpPr>
        <p:spPr>
          <a:xfrm>
            <a:off x="7521489" y="2578608"/>
            <a:ext cx="3737519" cy="3090672"/>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One archive: zip, tar, tar.gz or a single log file, up to 512 MB.</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The title defaults to the hypothesis name and appears on the report cover.</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Extraction is bounded by path and by size, and the budget counts bytes actually written rather than the sizes the archive declares.</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The panel on the right states what will happen next, in order, before the analyst commits to it.</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Everything stays inside the workspace.</a:t>
            </a:r>
            <a:endParaRPr lang="en-US" sz="1040" dirty="0"/>
          </a:p>
        </p:txBody>
      </p:sp>
      <p:sp>
        <p:nvSpPr>
          <p:cNvPr id="10" name="Text 7"/>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1" name="Text 8"/>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STEP SIX</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The report</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26364" y="1924812"/>
            <a:ext cx="6323625" cy="3995928"/>
          </a:xfrm>
          <a:prstGeom prst="rect">
            <a:avLst/>
          </a:prstGeom>
          <a:solidFill>
            <a:srgbClr val="FFFFFF"/>
          </a:solidFill>
          <a:ln w="12700">
            <a:solidFill>
              <a:srgbClr val="D0D0CE"/>
            </a:solidFill>
            <a:prstDash val="solid"/>
          </a:ln>
        </p:spPr>
      </p:sp>
      <p:pic>
        <p:nvPicPr>
          <p:cNvPr id="6" name="Image 0" descr="img/12-wizard-step4-progress.png">    </p:cNvPr>
          <p:cNvPicPr>
            <a:picLocks noChangeAspect="1"/>
          </p:cNvPicPr>
          <p:nvPr/>
        </p:nvPicPr>
        <p:blipFill>
          <a:blip r:embed="rId1"/>
          <a:stretch>
            <a:fillRect/>
          </a:stretch>
        </p:blipFill>
        <p:spPr>
          <a:xfrm>
            <a:off x="658368" y="1956816"/>
            <a:ext cx="6259617" cy="3931920"/>
          </a:xfrm>
          <a:prstGeom prst="rect">
            <a:avLst/>
          </a:prstGeom>
        </p:spPr>
      </p:pic>
      <p:sp>
        <p:nvSpPr>
          <p:cNvPr id="7" name="Shape 4"/>
          <p:cNvSpPr/>
          <p:nvPr/>
        </p:nvSpPr>
        <p:spPr>
          <a:xfrm>
            <a:off x="7247169" y="1956816"/>
            <a:ext cx="4286159" cy="3931920"/>
          </a:xfrm>
          <a:prstGeom prst="rect">
            <a:avLst/>
          </a:prstGeom>
          <a:solidFill>
            <a:srgbClr val="FFFFFF"/>
          </a:solidFill>
          <a:ln w="9525">
            <a:solidFill>
              <a:srgbClr val="D0D0CE"/>
            </a:solidFill>
            <a:prstDash val="solid"/>
          </a:ln>
        </p:spPr>
      </p:sp>
      <p:sp>
        <p:nvSpPr>
          <p:cNvPr id="8" name="Text 5"/>
          <p:cNvSpPr txBox="1"/>
          <p:nvPr/>
        </p:nvSpPr>
        <p:spPr>
          <a:xfrm>
            <a:off x="7521489" y="2176272"/>
            <a:ext cx="3737519" cy="310896"/>
          </a:xfrm>
          <a:prstGeom prst="rect">
            <a:avLst/>
          </a:prstGeom>
          <a:noFill/>
          <a:ln/>
        </p:spPr>
        <p:txBody>
          <a:bodyPr wrap="square" lIns="0" tIns="0" rIns="0" bIns="0" rtlCol="0" anchor="ctr"/>
          <a:lstStyle/>
          <a:p>
            <a:pPr indent="0" marL="0">
              <a:buNone/>
            </a:pPr>
            <a:r>
              <a:rPr lang="en-US" sz="1400" b="1" dirty="0">
                <a:solidFill>
                  <a:srgbClr val="0F0F0F"/>
                </a:solidFill>
                <a:latin typeface="Arial" pitchFamily="34" charset="0"/>
                <a:ea typeface="Arial" pitchFamily="34" charset="-122"/>
                <a:cs typeface="Arial" pitchFamily="34" charset="-120"/>
              </a:rPr>
              <a:t>What the hunt found</a:t>
            </a:r>
            <a:endParaRPr lang="en-US" sz="1400" dirty="0"/>
          </a:p>
        </p:txBody>
      </p:sp>
      <p:sp>
        <p:nvSpPr>
          <p:cNvPr id="9" name="Text 6"/>
          <p:cNvSpPr txBox="1"/>
          <p:nvPr/>
        </p:nvSpPr>
        <p:spPr>
          <a:xfrm>
            <a:off x="7521489" y="2578608"/>
            <a:ext cx="3737519" cy="3090672"/>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The analysis finished in 0.6 seconds: 5,097 records from 15 log files, 16 detections applied, 24 observations.</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Risk score 89 out of 100, classified as critical with active intrusion indicators.</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The severity split, the techniques observed and the detection categories are all on the first screen.</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Below this, evidence and data source coverage states what was present and what was missing, because a missing source limits what the hypothesis can confirm or reject.</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Export to PDF or JSON, or run the same hypothesis again against fresh evidence.</a:t>
            </a:r>
            <a:endParaRPr lang="en-US" sz="1040" dirty="0"/>
          </a:p>
        </p:txBody>
      </p:sp>
      <p:sp>
        <p:nvSpPr>
          <p:cNvPr id="10" name="Text 7"/>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1" name="Text 8"/>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STEP SEVEN</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Open an observation</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26364" y="1924812"/>
            <a:ext cx="6830568" cy="3767653"/>
          </a:xfrm>
          <a:prstGeom prst="rect">
            <a:avLst/>
          </a:prstGeom>
          <a:solidFill>
            <a:srgbClr val="FFFFFF"/>
          </a:solidFill>
          <a:ln w="12700">
            <a:solidFill>
              <a:srgbClr val="D0D0CE"/>
            </a:solidFill>
            <a:prstDash val="solid"/>
          </a:ln>
        </p:spPr>
      </p:sp>
      <p:pic>
        <p:nvPicPr>
          <p:cNvPr id="6" name="Image 0" descr="img/16-observation-card.png">    </p:cNvPr>
          <p:cNvPicPr>
            <a:picLocks noChangeAspect="1"/>
          </p:cNvPicPr>
          <p:nvPr/>
        </p:nvPicPr>
        <p:blipFill>
          <a:blip r:embed="rId1"/>
          <a:stretch>
            <a:fillRect/>
          </a:stretch>
        </p:blipFill>
        <p:spPr>
          <a:xfrm>
            <a:off x="658368" y="1956816"/>
            <a:ext cx="6766560" cy="3703645"/>
          </a:xfrm>
          <a:prstGeom prst="rect">
            <a:avLst/>
          </a:prstGeom>
        </p:spPr>
      </p:pic>
      <p:sp>
        <p:nvSpPr>
          <p:cNvPr id="7" name="Shape 4"/>
          <p:cNvSpPr/>
          <p:nvPr/>
        </p:nvSpPr>
        <p:spPr>
          <a:xfrm>
            <a:off x="7754112" y="1956816"/>
            <a:ext cx="3779215" cy="3931920"/>
          </a:xfrm>
          <a:prstGeom prst="rect">
            <a:avLst/>
          </a:prstGeom>
          <a:solidFill>
            <a:srgbClr val="000000"/>
          </a:solidFill>
          <a:ln w="9525">
            <a:solidFill>
              <a:srgbClr val="000000"/>
            </a:solidFill>
            <a:prstDash val="solid"/>
          </a:ln>
        </p:spPr>
      </p:sp>
      <p:sp>
        <p:nvSpPr>
          <p:cNvPr id="8" name="Text 5"/>
          <p:cNvSpPr txBox="1"/>
          <p:nvPr/>
        </p:nvSpPr>
        <p:spPr>
          <a:xfrm>
            <a:off x="8028432" y="2176272"/>
            <a:ext cx="3230575"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Five things, every time</a:t>
            </a:r>
            <a:endParaRPr lang="en-US" sz="1400" dirty="0"/>
          </a:p>
        </p:txBody>
      </p:sp>
      <p:sp>
        <p:nvSpPr>
          <p:cNvPr id="9" name="Text 6"/>
          <p:cNvSpPr txBox="1"/>
          <p:nvPr/>
        </p:nvSpPr>
        <p:spPr>
          <a:xfrm>
            <a:off x="8028432" y="2578608"/>
            <a:ext cx="3230575" cy="3108960"/>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000" dirty="0">
                <a:solidFill>
                  <a:srgbClr val="C4C4C2"/>
                </a:solidFill>
                <a:latin typeface="Arial" pitchFamily="34" charset="0"/>
                <a:ea typeface="Arial" pitchFamily="34" charset="-122"/>
                <a:cs typeface="Arial" pitchFamily="34" charset="-120"/>
              </a:rPr>
              <a:t>What was detected, in plain language, with the detection name, style, confidence, affected entity and timestamps.</a:t>
            </a:r>
            <a:endParaRPr lang="en-US" sz="1000" dirty="0"/>
          </a:p>
          <a:p>
            <a:pPr marL="342900" indent="-342900">
              <a:lnSpc>
                <a:spcPct val="120000"/>
              </a:lnSpc>
              <a:spcAft>
                <a:spcPts val="900"/>
              </a:spcAft>
              <a:buSzPct val="100000"/>
              <a:buChar char="•"/>
            </a:pPr>
            <a:r>
              <a:rPr lang="en-US" sz="1000" dirty="0">
                <a:solidFill>
                  <a:srgbClr val="C4C4C2"/>
                </a:solidFill>
                <a:latin typeface="Arial" pitchFamily="34" charset="0"/>
                <a:ea typeface="Arial" pitchFamily="34" charset="-122"/>
                <a:cs typeface="Arial" pitchFamily="34" charset="-120"/>
              </a:rPr>
              <a:t>The original log evidence: the file, the line number, the parser that read it and the untouched record.</a:t>
            </a:r>
            <a:endParaRPr lang="en-US" sz="1000" dirty="0"/>
          </a:p>
          <a:p>
            <a:pPr marL="342900" indent="-342900">
              <a:lnSpc>
                <a:spcPct val="120000"/>
              </a:lnSpc>
              <a:spcAft>
                <a:spcPts val="900"/>
              </a:spcAft>
              <a:buSzPct val="100000"/>
              <a:buChar char="•"/>
            </a:pPr>
            <a:r>
              <a:rPr lang="en-US" sz="1000" dirty="0">
                <a:solidFill>
                  <a:srgbClr val="C4C4C2"/>
                </a:solidFill>
                <a:latin typeface="Arial" pitchFamily="34" charset="0"/>
                <a:ea typeface="Arial" pitchFamily="34" charset="-122"/>
                <a:cs typeface="Arial" pitchFamily="34" charset="-120"/>
              </a:rPr>
              <a:t>The cyber risk: why this matters to an attacker's progress.</a:t>
            </a:r>
            <a:endParaRPr lang="en-US" sz="1000" dirty="0"/>
          </a:p>
          <a:p>
            <a:pPr marL="342900" indent="-342900">
              <a:lnSpc>
                <a:spcPct val="120000"/>
              </a:lnSpc>
              <a:spcAft>
                <a:spcPts val="900"/>
              </a:spcAft>
              <a:buSzPct val="100000"/>
              <a:buChar char="•"/>
            </a:pPr>
            <a:r>
              <a:rPr lang="en-US" sz="1000" dirty="0">
                <a:solidFill>
                  <a:srgbClr val="C4C4C2"/>
                </a:solidFill>
                <a:latin typeface="Arial" pitchFamily="34" charset="0"/>
                <a:ea typeface="Arial" pitchFamily="34" charset="-122"/>
                <a:cs typeface="Arial" pitchFamily="34" charset="-120"/>
              </a:rPr>
              <a:t>The cyber impact: what it costs the organisation if it is real.</a:t>
            </a:r>
            <a:endParaRPr lang="en-US" sz="1000" dirty="0"/>
          </a:p>
          <a:p>
            <a:pPr marL="342900" indent="-342900">
              <a:lnSpc>
                <a:spcPct val="120000"/>
              </a:lnSpc>
              <a:spcAft>
                <a:spcPts val="900"/>
              </a:spcAft>
              <a:buSzPct val="100000"/>
              <a:buChar char="•"/>
            </a:pPr>
            <a:r>
              <a:rPr lang="en-US" sz="1000" dirty="0">
                <a:solidFill>
                  <a:srgbClr val="C4C4C2"/>
                </a:solidFill>
                <a:latin typeface="Arial" pitchFamily="34" charset="0"/>
                <a:ea typeface="Arial" pitchFamily="34" charset="-122"/>
                <a:cs typeface="Arial" pitchFamily="34" charset="-120"/>
              </a:rPr>
              <a:t>The recommendation: the next action, named and specific.</a:t>
            </a:r>
            <a:endParaRPr lang="en-US" sz="1000" dirty="0"/>
          </a:p>
        </p:txBody>
      </p:sp>
      <p:sp>
        <p:nvSpPr>
          <p:cNvPr id="10" name="Text 7"/>
          <p:cNvSpPr txBox="1"/>
          <p:nvPr/>
        </p:nvSpPr>
        <p:spPr>
          <a:xfrm>
            <a:off x="658368" y="5888736"/>
            <a:ext cx="10058400" cy="292608"/>
          </a:xfrm>
          <a:prstGeom prst="rect">
            <a:avLst/>
          </a:prstGeom>
          <a:noFill/>
          <a:ln/>
        </p:spPr>
        <p:txBody>
          <a:bodyPr wrap="square" lIns="0" tIns="0" rIns="0" bIns="0" rtlCol="0" anchor="ctr"/>
          <a:lstStyle/>
          <a:p>
            <a:pPr indent="0" marL="0">
              <a:buNone/>
            </a:pPr>
            <a:r>
              <a:rPr lang="en-US" sz="1050" i="1" dirty="0">
                <a:solidFill>
                  <a:srgbClr val="75787B"/>
                </a:solidFill>
                <a:latin typeface="Arial" pitchFamily="34" charset="0"/>
                <a:ea typeface="Arial" pitchFamily="34" charset="-122"/>
                <a:cs typeface="Arial" pitchFamily="34" charset="-120"/>
              </a:rPr>
              <a:t>The excerpt is copied from the parsed corpus, never written by a model, so a fabricated quote cannot reach the report.</a:t>
            </a:r>
            <a:endParaRPr lang="en-US" sz="1050" dirty="0"/>
          </a:p>
        </p:txBody>
      </p:sp>
      <p:sp>
        <p:nvSpPr>
          <p:cNvPr id="11" name="Text 8"/>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2" name="Text 9"/>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STEP EIGHT</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History and export</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821936" y="1906524"/>
            <a:ext cx="5479304" cy="3465576"/>
          </a:xfrm>
          <a:prstGeom prst="rect">
            <a:avLst/>
          </a:prstGeom>
          <a:solidFill>
            <a:srgbClr val="FFFFFF"/>
          </a:solidFill>
          <a:ln w="12700">
            <a:solidFill>
              <a:srgbClr val="D0D0CE"/>
            </a:solidFill>
            <a:prstDash val="solid"/>
          </a:ln>
        </p:spPr>
      </p:sp>
      <p:pic>
        <p:nvPicPr>
          <p:cNvPr id="6" name="Image 0" descr="img/05-hunts.png">    </p:cNvPr>
          <p:cNvPicPr>
            <a:picLocks noChangeAspect="1"/>
          </p:cNvPicPr>
          <p:nvPr/>
        </p:nvPicPr>
        <p:blipFill>
          <a:blip r:embed="rId1"/>
          <a:stretch>
            <a:fillRect/>
          </a:stretch>
        </p:blipFill>
        <p:spPr>
          <a:xfrm>
            <a:off x="853940" y="1938528"/>
            <a:ext cx="5415296" cy="3401568"/>
          </a:xfrm>
          <a:prstGeom prst="rect">
            <a:avLst/>
          </a:prstGeom>
        </p:spPr>
      </p:pic>
      <p:sp>
        <p:nvSpPr>
          <p:cNvPr id="7" name="Shape 4"/>
          <p:cNvSpPr/>
          <p:nvPr/>
        </p:nvSpPr>
        <p:spPr>
          <a:xfrm>
            <a:off x="6752844" y="2055285"/>
            <a:ext cx="2258568" cy="3168053"/>
          </a:xfrm>
          <a:prstGeom prst="rect">
            <a:avLst/>
          </a:prstGeom>
          <a:solidFill>
            <a:srgbClr val="FFFFFF"/>
          </a:solidFill>
          <a:ln w="12700">
            <a:solidFill>
              <a:srgbClr val="D0D0CE"/>
            </a:solidFill>
            <a:prstDash val="solid"/>
          </a:ln>
        </p:spPr>
      </p:sp>
      <p:pic>
        <p:nvPicPr>
          <p:cNvPr id="8" name="Image 1" descr="img/pdf-p1.png">    </p:cNvPr>
          <p:cNvPicPr>
            <a:picLocks noChangeAspect="1"/>
          </p:cNvPicPr>
          <p:nvPr/>
        </p:nvPicPr>
        <p:blipFill>
          <a:blip r:embed="rId2"/>
          <a:stretch>
            <a:fillRect/>
          </a:stretch>
        </p:blipFill>
        <p:spPr>
          <a:xfrm>
            <a:off x="6784848" y="2087289"/>
            <a:ext cx="2194560" cy="3104045"/>
          </a:xfrm>
          <a:prstGeom prst="rect">
            <a:avLst/>
          </a:prstGeom>
        </p:spPr>
      </p:pic>
      <p:sp>
        <p:nvSpPr>
          <p:cNvPr id="9" name="Shape 5"/>
          <p:cNvSpPr/>
          <p:nvPr/>
        </p:nvSpPr>
        <p:spPr>
          <a:xfrm>
            <a:off x="9157716" y="2055285"/>
            <a:ext cx="2258568" cy="3168053"/>
          </a:xfrm>
          <a:prstGeom prst="rect">
            <a:avLst/>
          </a:prstGeom>
          <a:solidFill>
            <a:srgbClr val="FFFFFF"/>
          </a:solidFill>
          <a:ln w="12700">
            <a:solidFill>
              <a:srgbClr val="D0D0CE"/>
            </a:solidFill>
            <a:prstDash val="solid"/>
          </a:ln>
        </p:spPr>
      </p:sp>
      <p:pic>
        <p:nvPicPr>
          <p:cNvPr id="10" name="Image 2" descr="img/pdf-p2.png">    </p:cNvPr>
          <p:cNvPicPr>
            <a:picLocks noChangeAspect="1"/>
          </p:cNvPicPr>
          <p:nvPr/>
        </p:nvPicPr>
        <p:blipFill>
          <a:blip r:embed="rId3"/>
          <a:stretch>
            <a:fillRect/>
          </a:stretch>
        </p:blipFill>
        <p:spPr>
          <a:xfrm>
            <a:off x="9189720" y="2087289"/>
            <a:ext cx="2194560" cy="3104045"/>
          </a:xfrm>
          <a:prstGeom prst="rect">
            <a:avLst/>
          </a:prstGeom>
        </p:spPr>
      </p:pic>
      <p:sp>
        <p:nvSpPr>
          <p:cNvPr id="11" name="Text 6"/>
          <p:cNvSpPr txBox="1"/>
          <p:nvPr/>
        </p:nvSpPr>
        <p:spPr>
          <a:xfrm>
            <a:off x="658368" y="5504688"/>
            <a:ext cx="5806440" cy="237744"/>
          </a:xfrm>
          <a:prstGeom prst="rect">
            <a:avLst/>
          </a:prstGeom>
          <a:noFill/>
          <a:ln/>
        </p:spPr>
        <p:txBody>
          <a:bodyPr wrap="square" lIns="0" tIns="0" rIns="0" bIns="0" rtlCol="0" anchor="ctr"/>
          <a:lstStyle/>
          <a:p>
            <a:pPr indent="0" marL="0">
              <a:buNone/>
            </a:pPr>
            <a:r>
              <a:rPr lang="en-US" sz="1100" b="1" dirty="0">
                <a:solidFill>
                  <a:srgbClr val="0F0F0F"/>
                </a:solidFill>
                <a:latin typeface="Arial" pitchFamily="34" charset="0"/>
                <a:ea typeface="Arial" pitchFamily="34" charset="-122"/>
                <a:cs typeface="Arial" pitchFamily="34" charset="-120"/>
              </a:rPr>
              <a:t>Every analysis executed in the workspace</a:t>
            </a:r>
            <a:endParaRPr lang="en-US" sz="1100" dirty="0"/>
          </a:p>
        </p:txBody>
      </p:sp>
      <p:sp>
        <p:nvSpPr>
          <p:cNvPr id="12" name="Text 7"/>
          <p:cNvSpPr txBox="1"/>
          <p:nvPr/>
        </p:nvSpPr>
        <p:spPr>
          <a:xfrm>
            <a:off x="658368" y="5760720"/>
            <a:ext cx="5806440" cy="512064"/>
          </a:xfrm>
          <a:prstGeom prst="rect">
            <a:avLst/>
          </a:prstGeom>
          <a:noFill/>
          <a:ln/>
        </p:spPr>
        <p:txBody>
          <a:bodyPr wrap="square" lIns="0" tIns="0" rIns="0" bIns="0" rtlCol="0" anchor="t"/>
          <a:lstStyle/>
          <a:p>
            <a:pPr indent="0" marL="0">
              <a:lnSpc>
                <a:spcPct val="118000"/>
              </a:lnSpc>
              <a:buNone/>
            </a:pPr>
            <a:r>
              <a:rPr lang="en-US" sz="950" dirty="0">
                <a:solidFill>
                  <a:srgbClr val="53565A"/>
                </a:solidFill>
                <a:latin typeface="Arial" pitchFamily="34" charset="0"/>
                <a:ea typeface="Arial" pitchFamily="34" charset="-122"/>
                <a:cs typeface="Arial" pitchFamily="34" charset="-120"/>
              </a:rPr>
              <a:t>Hypothesis, evidence, status, observation count, risk score and a one click PDF, all scoped to the workspace and recorded in the audit log.</a:t>
            </a:r>
            <a:endParaRPr lang="en-US" sz="950" dirty="0"/>
          </a:p>
        </p:txBody>
      </p:sp>
      <p:sp>
        <p:nvSpPr>
          <p:cNvPr id="13" name="Text 8"/>
          <p:cNvSpPr txBox="1"/>
          <p:nvPr/>
        </p:nvSpPr>
        <p:spPr>
          <a:xfrm>
            <a:off x="6784848" y="5504688"/>
            <a:ext cx="4626864" cy="237744"/>
          </a:xfrm>
          <a:prstGeom prst="rect">
            <a:avLst/>
          </a:prstGeom>
          <a:noFill/>
          <a:ln/>
        </p:spPr>
        <p:txBody>
          <a:bodyPr wrap="square" lIns="0" tIns="0" rIns="0" bIns="0" rtlCol="0" anchor="ctr"/>
          <a:lstStyle/>
          <a:p>
            <a:pPr indent="0" marL="0">
              <a:buNone/>
            </a:pPr>
            <a:r>
              <a:rPr lang="en-US" sz="1100" b="1" dirty="0">
                <a:solidFill>
                  <a:srgbClr val="0F0F0F"/>
                </a:solidFill>
                <a:latin typeface="Arial" pitchFamily="34" charset="0"/>
                <a:ea typeface="Arial" pitchFamily="34" charset="-122"/>
                <a:cs typeface="Arial" pitchFamily="34" charset="-120"/>
              </a:rPr>
              <a:t>The report the client receives</a:t>
            </a:r>
            <a:endParaRPr lang="en-US" sz="1100" dirty="0"/>
          </a:p>
        </p:txBody>
      </p:sp>
      <p:sp>
        <p:nvSpPr>
          <p:cNvPr id="14" name="Text 9"/>
          <p:cNvSpPr txBox="1"/>
          <p:nvPr/>
        </p:nvSpPr>
        <p:spPr>
          <a:xfrm>
            <a:off x="6784848" y="5760720"/>
            <a:ext cx="4626864" cy="512064"/>
          </a:xfrm>
          <a:prstGeom prst="rect">
            <a:avLst/>
          </a:prstGeom>
          <a:noFill/>
          <a:ln/>
        </p:spPr>
        <p:txBody>
          <a:bodyPr wrap="square" lIns="0" tIns="0" rIns="0" bIns="0" rtlCol="0" anchor="t"/>
          <a:lstStyle/>
          <a:p>
            <a:pPr indent="0" marL="0">
              <a:lnSpc>
                <a:spcPct val="118000"/>
              </a:lnSpc>
              <a:buNone/>
            </a:pPr>
            <a:r>
              <a:rPr lang="en-US" sz="950" dirty="0">
                <a:solidFill>
                  <a:srgbClr val="53565A"/>
                </a:solidFill>
                <a:latin typeface="Arial" pitchFamily="34" charset="0"/>
                <a:ea typeface="Arial" pitchFamily="34" charset="-122"/>
                <a:cs typeface="Arial" pitchFamily="34" charset="-120"/>
              </a:rPr>
              <a:t>31 pages: the cover and the verdict, an executive summary, the techniques observed, the hypothesis and its scope, then every observation with its evidence.</a:t>
            </a:r>
            <a:endParaRPr lang="en-US" sz="950" dirty="0"/>
          </a:p>
        </p:txBody>
      </p:sp>
      <p:sp>
        <p:nvSpPr>
          <p:cNvPr id="15" name="Text 10"/>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6" name="Text 11"/>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THE RESULT</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What this walkthrough produced</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Text 3"/>
          <p:cNvSpPr txBox="1"/>
          <p:nvPr/>
        </p:nvSpPr>
        <p:spPr>
          <a:xfrm>
            <a:off x="658368" y="2103120"/>
            <a:ext cx="2615184" cy="713232"/>
          </a:xfrm>
          <a:prstGeom prst="rect">
            <a:avLst/>
          </a:prstGeom>
          <a:noFill/>
          <a:ln/>
        </p:spPr>
        <p:txBody>
          <a:bodyPr wrap="square" lIns="0" tIns="0" rIns="0" bIns="0" rtlCol="0" anchor="b"/>
          <a:lstStyle/>
          <a:p>
            <a:pPr indent="0" marL="0">
              <a:buNone/>
            </a:pPr>
            <a:r>
              <a:rPr lang="en-US" sz="4400" b="1" dirty="0">
                <a:solidFill>
                  <a:srgbClr val="0F0F0F"/>
                </a:solidFill>
                <a:latin typeface="Arial" pitchFamily="34" charset="0"/>
                <a:ea typeface="Arial" pitchFamily="34" charset="-122"/>
                <a:cs typeface="Arial" pitchFamily="34" charset="-120"/>
              </a:rPr>
              <a:t>5,097</a:t>
            </a:r>
            <a:endParaRPr lang="en-US" sz="4400" dirty="0"/>
          </a:p>
        </p:txBody>
      </p:sp>
      <p:sp>
        <p:nvSpPr>
          <p:cNvPr id="6" name="Text 4"/>
          <p:cNvSpPr txBox="1"/>
          <p:nvPr/>
        </p:nvSpPr>
        <p:spPr>
          <a:xfrm>
            <a:off x="658368" y="2852928"/>
            <a:ext cx="2615184" cy="219456"/>
          </a:xfrm>
          <a:prstGeom prst="rect">
            <a:avLst/>
          </a:prstGeom>
          <a:noFill/>
          <a:ln/>
        </p:spPr>
        <p:txBody>
          <a:bodyPr wrap="square" lIns="0" tIns="0" rIns="0" bIns="0" rtlCol="0" anchor="ctr"/>
          <a:lstStyle/>
          <a:p>
            <a:pPr indent="0" marL="0">
              <a:buNone/>
            </a:pPr>
            <a:r>
              <a:rPr lang="en-US" sz="950" b="1" spc="160" kern="0" dirty="0">
                <a:solidFill>
                  <a:srgbClr val="75787B"/>
                </a:solidFill>
                <a:latin typeface="Arial" pitchFamily="34" charset="0"/>
                <a:ea typeface="Arial" pitchFamily="34" charset="-122"/>
                <a:cs typeface="Arial" pitchFamily="34" charset="-120"/>
              </a:rPr>
              <a:t>RECORDS PARSED</a:t>
            </a:r>
            <a:endParaRPr lang="en-US" sz="950" dirty="0"/>
          </a:p>
        </p:txBody>
      </p:sp>
      <p:sp>
        <p:nvSpPr>
          <p:cNvPr id="7" name="Text 5"/>
          <p:cNvSpPr txBox="1"/>
          <p:nvPr/>
        </p:nvSpPr>
        <p:spPr>
          <a:xfrm>
            <a:off x="658368" y="3090672"/>
            <a:ext cx="2615184"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From 15 log files across Windows, Linux, macOS, web, network and cloud</a:t>
            </a:r>
            <a:endParaRPr lang="en-US" sz="1100" dirty="0"/>
          </a:p>
        </p:txBody>
      </p:sp>
      <p:sp>
        <p:nvSpPr>
          <p:cNvPr id="8" name="Text 6"/>
          <p:cNvSpPr txBox="1"/>
          <p:nvPr/>
        </p:nvSpPr>
        <p:spPr>
          <a:xfrm>
            <a:off x="3456432" y="2103120"/>
            <a:ext cx="2615184" cy="713232"/>
          </a:xfrm>
          <a:prstGeom prst="rect">
            <a:avLst/>
          </a:prstGeom>
          <a:noFill/>
          <a:ln/>
        </p:spPr>
        <p:txBody>
          <a:bodyPr wrap="square" lIns="0" tIns="0" rIns="0" bIns="0" rtlCol="0" anchor="b"/>
          <a:lstStyle/>
          <a:p>
            <a:pPr indent="0" marL="0">
              <a:buNone/>
            </a:pPr>
            <a:r>
              <a:rPr lang="en-US" sz="4400" b="1" dirty="0">
                <a:solidFill>
                  <a:srgbClr val="0F0F0F"/>
                </a:solidFill>
                <a:latin typeface="Arial" pitchFamily="34" charset="0"/>
                <a:ea typeface="Arial" pitchFamily="34" charset="-122"/>
                <a:cs typeface="Arial" pitchFamily="34" charset="-120"/>
              </a:rPr>
              <a:t>16</a:t>
            </a:r>
            <a:endParaRPr lang="en-US" sz="4400" dirty="0"/>
          </a:p>
        </p:txBody>
      </p:sp>
      <p:sp>
        <p:nvSpPr>
          <p:cNvPr id="9" name="Text 7"/>
          <p:cNvSpPr txBox="1"/>
          <p:nvPr/>
        </p:nvSpPr>
        <p:spPr>
          <a:xfrm>
            <a:off x="3456432" y="2852928"/>
            <a:ext cx="2615184" cy="219456"/>
          </a:xfrm>
          <a:prstGeom prst="rect">
            <a:avLst/>
          </a:prstGeom>
          <a:noFill/>
          <a:ln/>
        </p:spPr>
        <p:txBody>
          <a:bodyPr wrap="square" lIns="0" tIns="0" rIns="0" bIns="0" rtlCol="0" anchor="ctr"/>
          <a:lstStyle/>
          <a:p>
            <a:pPr indent="0" marL="0">
              <a:buNone/>
            </a:pPr>
            <a:r>
              <a:rPr lang="en-US" sz="950" b="1" spc="160" kern="0" dirty="0">
                <a:solidFill>
                  <a:srgbClr val="75787B"/>
                </a:solidFill>
                <a:latin typeface="Arial" pitchFamily="34" charset="0"/>
                <a:ea typeface="Arial" pitchFamily="34" charset="-122"/>
                <a:cs typeface="Arial" pitchFamily="34" charset="-120"/>
              </a:rPr>
              <a:t>DETECTIONS APPLIED</a:t>
            </a:r>
            <a:endParaRPr lang="en-US" sz="950" dirty="0"/>
          </a:p>
        </p:txBody>
      </p:sp>
      <p:sp>
        <p:nvSpPr>
          <p:cNvPr id="10" name="Text 8"/>
          <p:cNvSpPr txBox="1"/>
          <p:nvPr/>
        </p:nvSpPr>
        <p:spPr>
          <a:xfrm>
            <a:off x="3456432" y="3090672"/>
            <a:ext cx="2615184"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Selected by the hypothesis, not the whole library</a:t>
            </a:r>
            <a:endParaRPr lang="en-US" sz="1100" dirty="0"/>
          </a:p>
        </p:txBody>
      </p:sp>
      <p:sp>
        <p:nvSpPr>
          <p:cNvPr id="11" name="Text 9"/>
          <p:cNvSpPr txBox="1"/>
          <p:nvPr/>
        </p:nvSpPr>
        <p:spPr>
          <a:xfrm>
            <a:off x="6254496" y="2103120"/>
            <a:ext cx="2615184" cy="713232"/>
          </a:xfrm>
          <a:prstGeom prst="rect">
            <a:avLst/>
          </a:prstGeom>
          <a:noFill/>
          <a:ln/>
        </p:spPr>
        <p:txBody>
          <a:bodyPr wrap="square" lIns="0" tIns="0" rIns="0" bIns="0" rtlCol="0" anchor="b"/>
          <a:lstStyle/>
          <a:p>
            <a:pPr indent="0" marL="0">
              <a:buNone/>
            </a:pPr>
            <a:r>
              <a:rPr lang="en-US" sz="4400" b="1" dirty="0">
                <a:solidFill>
                  <a:srgbClr val="86BC25"/>
                </a:solidFill>
                <a:latin typeface="Arial" pitchFamily="34" charset="0"/>
                <a:ea typeface="Arial" pitchFamily="34" charset="-122"/>
                <a:cs typeface="Arial" pitchFamily="34" charset="-120"/>
              </a:rPr>
              <a:t>24</a:t>
            </a:r>
            <a:endParaRPr lang="en-US" sz="4400" dirty="0"/>
          </a:p>
        </p:txBody>
      </p:sp>
      <p:sp>
        <p:nvSpPr>
          <p:cNvPr id="12" name="Text 10"/>
          <p:cNvSpPr txBox="1"/>
          <p:nvPr/>
        </p:nvSpPr>
        <p:spPr>
          <a:xfrm>
            <a:off x="6254496" y="2852928"/>
            <a:ext cx="2615184" cy="219456"/>
          </a:xfrm>
          <a:prstGeom prst="rect">
            <a:avLst/>
          </a:prstGeom>
          <a:noFill/>
          <a:ln/>
        </p:spPr>
        <p:txBody>
          <a:bodyPr wrap="square" lIns="0" tIns="0" rIns="0" bIns="0" rtlCol="0" anchor="ctr"/>
          <a:lstStyle/>
          <a:p>
            <a:pPr indent="0" marL="0">
              <a:buNone/>
            </a:pPr>
            <a:r>
              <a:rPr lang="en-US" sz="950" b="1" spc="160" kern="0" dirty="0">
                <a:solidFill>
                  <a:srgbClr val="75787B"/>
                </a:solidFill>
                <a:latin typeface="Arial" pitchFamily="34" charset="0"/>
                <a:ea typeface="Arial" pitchFamily="34" charset="-122"/>
                <a:cs typeface="Arial" pitchFamily="34" charset="-120"/>
              </a:rPr>
              <a:t>OBSERVATIONS</a:t>
            </a:r>
            <a:endParaRPr lang="en-US" sz="950" dirty="0"/>
          </a:p>
        </p:txBody>
      </p:sp>
      <p:sp>
        <p:nvSpPr>
          <p:cNvPr id="13" name="Text 11"/>
          <p:cNvSpPr txBox="1"/>
          <p:nvPr/>
        </p:nvSpPr>
        <p:spPr>
          <a:xfrm>
            <a:off x="6254496" y="3090672"/>
            <a:ext cx="2615184"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3 critical, 4 high, 11 medium, 6 low</a:t>
            </a:r>
            <a:endParaRPr lang="en-US" sz="1100" dirty="0"/>
          </a:p>
        </p:txBody>
      </p:sp>
      <p:sp>
        <p:nvSpPr>
          <p:cNvPr id="14" name="Text 12"/>
          <p:cNvSpPr txBox="1"/>
          <p:nvPr/>
        </p:nvSpPr>
        <p:spPr>
          <a:xfrm>
            <a:off x="9052560" y="2103120"/>
            <a:ext cx="2615184" cy="713232"/>
          </a:xfrm>
          <a:prstGeom prst="rect">
            <a:avLst/>
          </a:prstGeom>
          <a:noFill/>
          <a:ln/>
        </p:spPr>
        <p:txBody>
          <a:bodyPr wrap="square" lIns="0" tIns="0" rIns="0" bIns="0" rtlCol="0" anchor="b"/>
          <a:lstStyle/>
          <a:p>
            <a:pPr indent="0" marL="0">
              <a:buNone/>
            </a:pPr>
            <a:r>
              <a:rPr lang="en-US" sz="4400" b="1" dirty="0">
                <a:solidFill>
                  <a:srgbClr val="0F0F0F"/>
                </a:solidFill>
                <a:latin typeface="Arial" pitchFamily="34" charset="0"/>
                <a:ea typeface="Arial" pitchFamily="34" charset="-122"/>
                <a:cs typeface="Arial" pitchFamily="34" charset="-120"/>
              </a:rPr>
              <a:t>0.6 s</a:t>
            </a:r>
            <a:endParaRPr lang="en-US" sz="4400" dirty="0"/>
          </a:p>
        </p:txBody>
      </p:sp>
      <p:sp>
        <p:nvSpPr>
          <p:cNvPr id="15" name="Text 13"/>
          <p:cNvSpPr txBox="1"/>
          <p:nvPr/>
        </p:nvSpPr>
        <p:spPr>
          <a:xfrm>
            <a:off x="9052560" y="2852928"/>
            <a:ext cx="2615184" cy="219456"/>
          </a:xfrm>
          <a:prstGeom prst="rect">
            <a:avLst/>
          </a:prstGeom>
          <a:noFill/>
          <a:ln/>
        </p:spPr>
        <p:txBody>
          <a:bodyPr wrap="square" lIns="0" tIns="0" rIns="0" bIns="0" rtlCol="0" anchor="ctr"/>
          <a:lstStyle/>
          <a:p>
            <a:pPr indent="0" marL="0">
              <a:buNone/>
            </a:pPr>
            <a:r>
              <a:rPr lang="en-US" sz="950" b="1" spc="160" kern="0" dirty="0">
                <a:solidFill>
                  <a:srgbClr val="75787B"/>
                </a:solidFill>
                <a:latin typeface="Arial" pitchFamily="34" charset="0"/>
                <a:ea typeface="Arial" pitchFamily="34" charset="-122"/>
                <a:cs typeface="Arial" pitchFamily="34" charset="-120"/>
              </a:rPr>
              <a:t>ANALYSIS TIME</a:t>
            </a:r>
            <a:endParaRPr lang="en-US" sz="950" dirty="0"/>
          </a:p>
        </p:txBody>
      </p:sp>
      <p:sp>
        <p:nvSpPr>
          <p:cNvPr id="16" name="Text 14"/>
          <p:cNvSpPr txBox="1"/>
          <p:nvPr/>
        </p:nvSpPr>
        <p:spPr>
          <a:xfrm>
            <a:off x="9052560" y="3090672"/>
            <a:ext cx="2615184"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From upload to a complete report</a:t>
            </a:r>
            <a:endParaRPr lang="en-US" sz="1100" dirty="0"/>
          </a:p>
        </p:txBody>
      </p:sp>
      <p:sp>
        <p:nvSpPr>
          <p:cNvPr id="17" name="Shape 15"/>
          <p:cNvSpPr/>
          <p:nvPr/>
        </p:nvSpPr>
        <p:spPr>
          <a:xfrm>
            <a:off x="658368" y="3822192"/>
            <a:ext cx="10874959" cy="0"/>
          </a:xfrm>
          <a:prstGeom prst="line">
            <a:avLst/>
          </a:prstGeom>
          <a:noFill/>
          <a:ln w="9525">
            <a:solidFill>
              <a:srgbClr val="E6E6E4"/>
            </a:solidFill>
            <a:prstDash val="solid"/>
          </a:ln>
        </p:spPr>
      </p:sp>
      <p:sp>
        <p:nvSpPr>
          <p:cNvPr id="18" name="Text 16"/>
          <p:cNvSpPr txBox="1"/>
          <p:nvPr/>
        </p:nvSpPr>
        <p:spPr>
          <a:xfrm>
            <a:off x="658368" y="4005072"/>
            <a:ext cx="5029200" cy="310896"/>
          </a:xfrm>
          <a:prstGeom prst="rect">
            <a:avLst/>
          </a:prstGeom>
          <a:noFill/>
          <a:ln/>
        </p:spPr>
        <p:txBody>
          <a:bodyPr wrap="square" lIns="0" tIns="0" rIns="0" bIns="0" rtlCol="0" anchor="ctr"/>
          <a:lstStyle/>
          <a:p>
            <a:pPr indent="0" marL="0">
              <a:buNone/>
            </a:pPr>
            <a:r>
              <a:rPr lang="en-US" sz="1600" b="1" dirty="0">
                <a:solidFill>
                  <a:srgbClr val="0F0F0F"/>
                </a:solidFill>
                <a:latin typeface="Arial" pitchFamily="34" charset="0"/>
                <a:ea typeface="Arial" pitchFamily="34" charset="-122"/>
                <a:cs typeface="Arial" pitchFamily="34" charset="-120"/>
              </a:rPr>
              <a:t>Findings that mattered</a:t>
            </a:r>
            <a:endParaRPr lang="en-US" sz="1600" dirty="0"/>
          </a:p>
        </p:txBody>
      </p:sp>
      <p:sp>
        <p:nvSpPr>
          <p:cNvPr id="19" name="Shape 17"/>
          <p:cNvSpPr/>
          <p:nvPr/>
        </p:nvSpPr>
        <p:spPr>
          <a:xfrm>
            <a:off x="658368" y="4453128"/>
            <a:ext cx="768096" cy="201168"/>
          </a:xfrm>
          <a:prstGeom prst="rect">
            <a:avLst/>
          </a:prstGeom>
          <a:solidFill>
            <a:srgbClr val="B4141E"/>
          </a:solidFill>
          <a:ln/>
        </p:spPr>
      </p:sp>
      <p:sp>
        <p:nvSpPr>
          <p:cNvPr id="20" name="Text 18"/>
          <p:cNvSpPr txBox="1"/>
          <p:nvPr/>
        </p:nvSpPr>
        <p:spPr>
          <a:xfrm>
            <a:off x="658368" y="4453128"/>
            <a:ext cx="768096"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CRITICAL</a:t>
            </a:r>
            <a:endParaRPr lang="en-US" sz="750" dirty="0"/>
          </a:p>
        </p:txBody>
      </p:sp>
      <p:sp>
        <p:nvSpPr>
          <p:cNvPr id="21" name="Text 19"/>
          <p:cNvSpPr txBox="1"/>
          <p:nvPr/>
        </p:nvSpPr>
        <p:spPr>
          <a:xfrm>
            <a:off x="1572768" y="4425696"/>
            <a:ext cx="5852160" cy="256032"/>
          </a:xfrm>
          <a:prstGeom prst="rect">
            <a:avLst/>
          </a:prstGeom>
          <a:noFill/>
          <a:ln/>
        </p:spPr>
        <p:txBody>
          <a:bodyPr wrap="square" lIns="0" tIns="0" rIns="0" bIns="0" rtlCol="0" anchor="ctr"/>
          <a:lstStyle/>
          <a:p>
            <a:pPr indent="0" marL="0">
              <a:buNone/>
            </a:pPr>
            <a:r>
              <a:rPr lang="en-US" sz="1100" dirty="0">
                <a:solidFill>
                  <a:srgbClr val="2C2C2C"/>
                </a:solidFill>
                <a:latin typeface="Arial" pitchFamily="34" charset="0"/>
                <a:ea typeface="Arial" pitchFamily="34" charset="-122"/>
                <a:cs typeface="Arial" pitchFamily="34" charset="-120"/>
              </a:rPr>
              <a:t>Windows event log cleared on SRV-APP-02, T1070.001</a:t>
            </a:r>
            <a:endParaRPr lang="en-US" sz="1100" dirty="0"/>
          </a:p>
        </p:txBody>
      </p:sp>
      <p:sp>
        <p:nvSpPr>
          <p:cNvPr id="22" name="Shape 20"/>
          <p:cNvSpPr/>
          <p:nvPr/>
        </p:nvSpPr>
        <p:spPr>
          <a:xfrm>
            <a:off x="658368" y="4754880"/>
            <a:ext cx="768096" cy="201168"/>
          </a:xfrm>
          <a:prstGeom prst="rect">
            <a:avLst/>
          </a:prstGeom>
          <a:solidFill>
            <a:srgbClr val="B4141E"/>
          </a:solidFill>
          <a:ln/>
        </p:spPr>
      </p:sp>
      <p:sp>
        <p:nvSpPr>
          <p:cNvPr id="23" name="Text 21"/>
          <p:cNvSpPr txBox="1"/>
          <p:nvPr/>
        </p:nvSpPr>
        <p:spPr>
          <a:xfrm>
            <a:off x="658368" y="4754880"/>
            <a:ext cx="768096"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CRITICAL</a:t>
            </a:r>
            <a:endParaRPr lang="en-US" sz="750" dirty="0"/>
          </a:p>
        </p:txBody>
      </p:sp>
      <p:sp>
        <p:nvSpPr>
          <p:cNvPr id="24" name="Text 22"/>
          <p:cNvSpPr txBox="1"/>
          <p:nvPr/>
        </p:nvSpPr>
        <p:spPr>
          <a:xfrm>
            <a:off x="1572768" y="4727448"/>
            <a:ext cx="5852160" cy="256032"/>
          </a:xfrm>
          <a:prstGeom prst="rect">
            <a:avLst/>
          </a:prstGeom>
          <a:noFill/>
          <a:ln/>
        </p:spPr>
        <p:txBody>
          <a:bodyPr wrap="square" lIns="0" tIns="0" rIns="0" bIns="0" rtlCol="0" anchor="ctr"/>
          <a:lstStyle/>
          <a:p>
            <a:pPr indent="0" marL="0">
              <a:buNone/>
            </a:pPr>
            <a:r>
              <a:rPr lang="en-US" sz="1100" dirty="0">
                <a:solidFill>
                  <a:srgbClr val="2C2C2C"/>
                </a:solidFill>
                <a:latin typeface="Arial" pitchFamily="34" charset="0"/>
                <a:ea typeface="Arial" pitchFamily="34" charset="-122"/>
                <a:cs typeface="Arial" pitchFamily="34" charset="-120"/>
              </a:rPr>
              <a:t>Credential dumping attempt against LSASS on SRV-APP-02, T1003.001</a:t>
            </a:r>
            <a:endParaRPr lang="en-US" sz="1100" dirty="0"/>
          </a:p>
        </p:txBody>
      </p:sp>
      <p:sp>
        <p:nvSpPr>
          <p:cNvPr id="25" name="Shape 23"/>
          <p:cNvSpPr/>
          <p:nvPr/>
        </p:nvSpPr>
        <p:spPr>
          <a:xfrm>
            <a:off x="658368" y="5056632"/>
            <a:ext cx="768096" cy="201168"/>
          </a:xfrm>
          <a:prstGeom prst="rect">
            <a:avLst/>
          </a:prstGeom>
          <a:solidFill>
            <a:srgbClr val="B4141E"/>
          </a:solidFill>
          <a:ln/>
        </p:spPr>
      </p:sp>
      <p:sp>
        <p:nvSpPr>
          <p:cNvPr id="26" name="Text 24"/>
          <p:cNvSpPr txBox="1"/>
          <p:nvPr/>
        </p:nvSpPr>
        <p:spPr>
          <a:xfrm>
            <a:off x="658368" y="5056632"/>
            <a:ext cx="768096"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CRITICAL</a:t>
            </a:r>
            <a:endParaRPr lang="en-US" sz="750" dirty="0"/>
          </a:p>
        </p:txBody>
      </p:sp>
      <p:sp>
        <p:nvSpPr>
          <p:cNvPr id="27" name="Text 25"/>
          <p:cNvSpPr txBox="1"/>
          <p:nvPr/>
        </p:nvSpPr>
        <p:spPr>
          <a:xfrm>
            <a:off x="1572768" y="5029200"/>
            <a:ext cx="5852160" cy="256032"/>
          </a:xfrm>
          <a:prstGeom prst="rect">
            <a:avLst/>
          </a:prstGeom>
          <a:noFill/>
          <a:ln/>
        </p:spPr>
        <p:txBody>
          <a:bodyPr wrap="square" lIns="0" tIns="0" rIns="0" bIns="0" rtlCol="0" anchor="ctr"/>
          <a:lstStyle/>
          <a:p>
            <a:pPr indent="0" marL="0">
              <a:buNone/>
            </a:pPr>
            <a:r>
              <a:rPr lang="en-US" sz="1100" dirty="0">
                <a:solidFill>
                  <a:srgbClr val="2C2C2C"/>
                </a:solidFill>
                <a:latin typeface="Arial" pitchFamily="34" charset="0"/>
                <a:ea typeface="Arial" pitchFamily="34" charset="-122"/>
                <a:cs typeface="Arial" pitchFamily="34" charset="-120"/>
              </a:rPr>
              <a:t>Volume shadow copies deleted on SRV-FILE-01, T1490</a:t>
            </a:r>
            <a:endParaRPr lang="en-US" sz="1100" dirty="0"/>
          </a:p>
        </p:txBody>
      </p:sp>
      <p:sp>
        <p:nvSpPr>
          <p:cNvPr id="28" name="Shape 26"/>
          <p:cNvSpPr/>
          <p:nvPr/>
        </p:nvSpPr>
        <p:spPr>
          <a:xfrm>
            <a:off x="658368" y="5358384"/>
            <a:ext cx="768096" cy="201168"/>
          </a:xfrm>
          <a:prstGeom prst="rect">
            <a:avLst/>
          </a:prstGeom>
          <a:solidFill>
            <a:srgbClr val="DA291C"/>
          </a:solidFill>
          <a:ln/>
        </p:spPr>
      </p:sp>
      <p:sp>
        <p:nvSpPr>
          <p:cNvPr id="29" name="Text 27"/>
          <p:cNvSpPr txBox="1"/>
          <p:nvPr/>
        </p:nvSpPr>
        <p:spPr>
          <a:xfrm>
            <a:off x="658368" y="5358384"/>
            <a:ext cx="768096"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HIGH</a:t>
            </a:r>
            <a:endParaRPr lang="en-US" sz="750" dirty="0"/>
          </a:p>
        </p:txBody>
      </p:sp>
      <p:sp>
        <p:nvSpPr>
          <p:cNvPr id="30" name="Text 28"/>
          <p:cNvSpPr txBox="1"/>
          <p:nvPr/>
        </p:nvSpPr>
        <p:spPr>
          <a:xfrm>
            <a:off x="1572768" y="5330952"/>
            <a:ext cx="5852160" cy="256032"/>
          </a:xfrm>
          <a:prstGeom prst="rect">
            <a:avLst/>
          </a:prstGeom>
          <a:noFill/>
          <a:ln/>
        </p:spPr>
        <p:txBody>
          <a:bodyPr wrap="square" lIns="0" tIns="0" rIns="0" bIns="0" rtlCol="0" anchor="ctr"/>
          <a:lstStyle/>
          <a:p>
            <a:pPr indent="0" marL="0">
              <a:buNone/>
            </a:pPr>
            <a:r>
              <a:rPr lang="en-US" sz="1100" dirty="0">
                <a:solidFill>
                  <a:srgbClr val="2C2C2C"/>
                </a:solidFill>
                <a:latin typeface="Arial" pitchFamily="34" charset="0"/>
                <a:ea typeface="Arial" pitchFamily="34" charset="-122"/>
                <a:cs typeface="Arial" pitchFamily="34" charset="-120"/>
              </a:rPr>
              <a:t>Endpoint protection disabled on SRV-FILE-01, T1562.001</a:t>
            </a:r>
            <a:endParaRPr lang="en-US" sz="1100" dirty="0"/>
          </a:p>
        </p:txBody>
      </p:sp>
      <p:sp>
        <p:nvSpPr>
          <p:cNvPr id="31" name="Shape 29"/>
          <p:cNvSpPr/>
          <p:nvPr/>
        </p:nvSpPr>
        <p:spPr>
          <a:xfrm>
            <a:off x="658368" y="5660136"/>
            <a:ext cx="768096" cy="201168"/>
          </a:xfrm>
          <a:prstGeom prst="rect">
            <a:avLst/>
          </a:prstGeom>
          <a:solidFill>
            <a:srgbClr val="DA291C"/>
          </a:solidFill>
          <a:ln/>
        </p:spPr>
      </p:sp>
      <p:sp>
        <p:nvSpPr>
          <p:cNvPr id="32" name="Text 30"/>
          <p:cNvSpPr txBox="1"/>
          <p:nvPr/>
        </p:nvSpPr>
        <p:spPr>
          <a:xfrm>
            <a:off x="658368" y="5660136"/>
            <a:ext cx="768096"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HIGH</a:t>
            </a:r>
            <a:endParaRPr lang="en-US" sz="750" dirty="0"/>
          </a:p>
        </p:txBody>
      </p:sp>
      <p:sp>
        <p:nvSpPr>
          <p:cNvPr id="33" name="Text 31"/>
          <p:cNvSpPr txBox="1"/>
          <p:nvPr/>
        </p:nvSpPr>
        <p:spPr>
          <a:xfrm>
            <a:off x="1572768" y="5632704"/>
            <a:ext cx="5852160" cy="256032"/>
          </a:xfrm>
          <a:prstGeom prst="rect">
            <a:avLst/>
          </a:prstGeom>
          <a:noFill/>
          <a:ln/>
        </p:spPr>
        <p:txBody>
          <a:bodyPr wrap="square" lIns="0" tIns="0" rIns="0" bIns="0" rtlCol="0" anchor="ctr"/>
          <a:lstStyle/>
          <a:p>
            <a:pPr indent="0" marL="0">
              <a:buNone/>
            </a:pPr>
            <a:r>
              <a:rPr lang="en-US" sz="1100" dirty="0">
                <a:solidFill>
                  <a:srgbClr val="2C2C2C"/>
                </a:solidFill>
                <a:latin typeface="Arial" pitchFamily="34" charset="0"/>
                <a:ea typeface="Arial" pitchFamily="34" charset="-122"/>
                <a:cs typeface="Arial" pitchFamily="34" charset="-120"/>
              </a:rPr>
              <a:t>Data staged into an archive on SRV-FILE-01, T1560.001</a:t>
            </a:r>
            <a:endParaRPr lang="en-US" sz="1100" dirty="0"/>
          </a:p>
        </p:txBody>
      </p:sp>
      <p:sp>
        <p:nvSpPr>
          <p:cNvPr id="34" name="Shape 32"/>
          <p:cNvSpPr/>
          <p:nvPr/>
        </p:nvSpPr>
        <p:spPr>
          <a:xfrm>
            <a:off x="658368" y="5961888"/>
            <a:ext cx="768096" cy="201168"/>
          </a:xfrm>
          <a:prstGeom prst="rect">
            <a:avLst/>
          </a:prstGeom>
          <a:solidFill>
            <a:srgbClr val="86BC25"/>
          </a:solidFill>
          <a:ln/>
        </p:spPr>
      </p:sp>
      <p:sp>
        <p:nvSpPr>
          <p:cNvPr id="35" name="Text 33"/>
          <p:cNvSpPr txBox="1"/>
          <p:nvPr/>
        </p:nvSpPr>
        <p:spPr>
          <a:xfrm>
            <a:off x="658368" y="5961888"/>
            <a:ext cx="768096"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LOW</a:t>
            </a:r>
            <a:endParaRPr lang="en-US" sz="750" dirty="0"/>
          </a:p>
        </p:txBody>
      </p:sp>
      <p:sp>
        <p:nvSpPr>
          <p:cNvPr id="36" name="Text 34"/>
          <p:cNvSpPr txBox="1"/>
          <p:nvPr/>
        </p:nvSpPr>
        <p:spPr>
          <a:xfrm>
            <a:off x="1572768" y="5934456"/>
            <a:ext cx="5852160" cy="256032"/>
          </a:xfrm>
          <a:prstGeom prst="rect">
            <a:avLst/>
          </a:prstGeom>
          <a:noFill/>
          <a:ln/>
        </p:spPr>
        <p:txBody>
          <a:bodyPr wrap="square" lIns="0" tIns="0" rIns="0" bIns="0" rtlCol="0" anchor="ctr"/>
          <a:lstStyle/>
          <a:p>
            <a:pPr indent="0" marL="0">
              <a:buNone/>
            </a:pPr>
            <a:r>
              <a:rPr lang="en-US" sz="1100" dirty="0">
                <a:solidFill>
                  <a:srgbClr val="2C2C2C"/>
                </a:solidFill>
                <a:latin typeface="Arial" pitchFamily="34" charset="0"/>
                <a:ea typeface="Arial" pitchFamily="34" charset="-122"/>
                <a:cs typeface="Arial" pitchFamily="34" charset="-120"/>
              </a:rPr>
              <a:t>Behavioural outlier: the destination 185.220.101.44, no rule matched</a:t>
            </a:r>
            <a:endParaRPr lang="en-US" sz="1100" dirty="0"/>
          </a:p>
        </p:txBody>
      </p:sp>
      <p:sp>
        <p:nvSpPr>
          <p:cNvPr id="37" name="Shape 35"/>
          <p:cNvSpPr/>
          <p:nvPr/>
        </p:nvSpPr>
        <p:spPr>
          <a:xfrm>
            <a:off x="7863840" y="4005072"/>
            <a:ext cx="3675888" cy="1975104"/>
          </a:xfrm>
          <a:prstGeom prst="rect">
            <a:avLst/>
          </a:prstGeom>
          <a:solidFill>
            <a:srgbClr val="F4F4F2"/>
          </a:solidFill>
          <a:ln w="9525">
            <a:solidFill>
              <a:srgbClr val="D0D0CE"/>
            </a:solidFill>
            <a:prstDash val="solid"/>
          </a:ln>
        </p:spPr>
      </p:sp>
      <p:sp>
        <p:nvSpPr>
          <p:cNvPr id="38" name="Text 36"/>
          <p:cNvSpPr txBox="1"/>
          <p:nvPr/>
        </p:nvSpPr>
        <p:spPr>
          <a:xfrm>
            <a:off x="8156448" y="4224528"/>
            <a:ext cx="3108960" cy="274320"/>
          </a:xfrm>
          <a:prstGeom prst="rect">
            <a:avLst/>
          </a:prstGeom>
          <a:noFill/>
          <a:ln/>
        </p:spPr>
        <p:txBody>
          <a:bodyPr wrap="square" lIns="0" tIns="0" rIns="0" bIns="0" rtlCol="0" anchor="ctr"/>
          <a:lstStyle/>
          <a:p>
            <a:pPr indent="0" marL="0">
              <a:buNone/>
            </a:pPr>
            <a:r>
              <a:rPr lang="en-US" sz="1250" b="1" dirty="0">
                <a:solidFill>
                  <a:srgbClr val="0F0F0F"/>
                </a:solidFill>
                <a:latin typeface="Arial" pitchFamily="34" charset="0"/>
                <a:ea typeface="Arial" pitchFamily="34" charset="-122"/>
                <a:cs typeface="Arial" pitchFamily="34" charset="-120"/>
              </a:rPr>
              <a:t>The point of the last line</a:t>
            </a:r>
            <a:endParaRPr lang="en-US" sz="1250" dirty="0"/>
          </a:p>
        </p:txBody>
      </p:sp>
      <p:sp>
        <p:nvSpPr>
          <p:cNvPr id="39" name="Text 37"/>
          <p:cNvSpPr txBox="1"/>
          <p:nvPr/>
        </p:nvSpPr>
        <p:spPr>
          <a:xfrm>
            <a:off x="8156448" y="4535424"/>
            <a:ext cx="3108960" cy="1316736"/>
          </a:xfrm>
          <a:prstGeom prst="rect">
            <a:avLst/>
          </a:prstGeom>
          <a:noFill/>
          <a:ln/>
        </p:spPr>
        <p:txBody>
          <a:bodyPr wrap="square" lIns="0" tIns="0" rIns="0" bIns="0" rtlCol="0" anchor="t"/>
          <a:lstStyle/>
          <a:p>
            <a:pPr indent="0" marL="0">
              <a:lnSpc>
                <a:spcPct val="122000"/>
              </a:lnSpc>
              <a:buNone/>
            </a:pPr>
            <a:r>
              <a:rPr lang="en-US" sz="1000" dirty="0">
                <a:solidFill>
                  <a:srgbClr val="53565A"/>
                </a:solidFill>
                <a:latin typeface="Arial" pitchFamily="34" charset="0"/>
                <a:ea typeface="Arial" pitchFamily="34" charset="-122"/>
                <a:cs typeface="Arial" pitchFamily="34" charset="-120"/>
              </a:rPr>
              <a:t>Five of these came from detection rules and were found because somebody already knew to look for them. The sixth came from the behavioural profiler, which had no rule for it and reported it because the destination did not behave like any other destination in the evidence.</a:t>
            </a:r>
            <a:endParaRPr lang="en-US" sz="1000" dirty="0"/>
          </a:p>
        </p:txBody>
      </p:sp>
      <p:sp>
        <p:nvSpPr>
          <p:cNvPr id="40" name="Text 38"/>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41" name="Text 39"/>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BEHIND EVERY HUNT</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The detection library is visible, not hidden</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Shape 3"/>
          <p:cNvSpPr/>
          <p:nvPr/>
        </p:nvSpPr>
        <p:spPr>
          <a:xfrm>
            <a:off x="626364" y="1924812"/>
            <a:ext cx="6323625" cy="3995928"/>
          </a:xfrm>
          <a:prstGeom prst="rect">
            <a:avLst/>
          </a:prstGeom>
          <a:solidFill>
            <a:srgbClr val="FFFFFF"/>
          </a:solidFill>
          <a:ln w="12700">
            <a:solidFill>
              <a:srgbClr val="D0D0CE"/>
            </a:solidFill>
            <a:prstDash val="solid"/>
          </a:ln>
        </p:spPr>
      </p:sp>
      <p:pic>
        <p:nvPicPr>
          <p:cNvPr id="6" name="Image 0" descr="img/06-rules.png">    </p:cNvPr>
          <p:cNvPicPr>
            <a:picLocks noChangeAspect="1"/>
          </p:cNvPicPr>
          <p:nvPr/>
        </p:nvPicPr>
        <p:blipFill>
          <a:blip r:embed="rId1"/>
          <a:stretch>
            <a:fillRect/>
          </a:stretch>
        </p:blipFill>
        <p:spPr>
          <a:xfrm>
            <a:off x="658368" y="1956816"/>
            <a:ext cx="6259617" cy="3931920"/>
          </a:xfrm>
          <a:prstGeom prst="rect">
            <a:avLst/>
          </a:prstGeom>
        </p:spPr>
      </p:pic>
      <p:sp>
        <p:nvSpPr>
          <p:cNvPr id="7" name="Shape 4"/>
          <p:cNvSpPr/>
          <p:nvPr/>
        </p:nvSpPr>
        <p:spPr>
          <a:xfrm>
            <a:off x="7247169" y="1956816"/>
            <a:ext cx="4286159" cy="3931920"/>
          </a:xfrm>
          <a:prstGeom prst="rect">
            <a:avLst/>
          </a:prstGeom>
          <a:solidFill>
            <a:srgbClr val="FFFFFF"/>
          </a:solidFill>
          <a:ln w="9525">
            <a:solidFill>
              <a:srgbClr val="D0D0CE"/>
            </a:solidFill>
            <a:prstDash val="solid"/>
          </a:ln>
        </p:spPr>
      </p:sp>
      <p:sp>
        <p:nvSpPr>
          <p:cNvPr id="8" name="Text 5"/>
          <p:cNvSpPr txBox="1"/>
          <p:nvPr/>
        </p:nvSpPr>
        <p:spPr>
          <a:xfrm>
            <a:off x="7521489" y="2176272"/>
            <a:ext cx="3737519" cy="310896"/>
          </a:xfrm>
          <a:prstGeom prst="rect">
            <a:avLst/>
          </a:prstGeom>
          <a:noFill/>
          <a:ln/>
        </p:spPr>
        <p:txBody>
          <a:bodyPr wrap="square" lIns="0" tIns="0" rIns="0" bIns="0" rtlCol="0" anchor="ctr"/>
          <a:lstStyle/>
          <a:p>
            <a:pPr indent="0" marL="0">
              <a:buNone/>
            </a:pPr>
            <a:r>
              <a:rPr lang="en-US" sz="1400" b="1" dirty="0">
                <a:solidFill>
                  <a:srgbClr val="0F0F0F"/>
                </a:solidFill>
                <a:latin typeface="Arial" pitchFamily="34" charset="0"/>
                <a:ea typeface="Arial" pitchFamily="34" charset="-122"/>
                <a:cs typeface="Arial" pitchFamily="34" charset="-120"/>
              </a:rPr>
              <a:t>Why this page exists</a:t>
            </a:r>
            <a:endParaRPr lang="en-US" sz="1400" dirty="0"/>
          </a:p>
        </p:txBody>
      </p:sp>
      <p:sp>
        <p:nvSpPr>
          <p:cNvPr id="9" name="Text 6"/>
          <p:cNvSpPr txBox="1"/>
          <p:nvPr/>
        </p:nvSpPr>
        <p:spPr>
          <a:xfrm>
            <a:off x="7521489" y="2578608"/>
            <a:ext cx="3737519" cy="3108960"/>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An analyst can see every rule the engine can apply, with its severity, style, category, ATT&amp;CK mapping and the telemetry it needs.</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136 detections, 96 techniques, 4 styles, 17 categories across the attack lifecycle.</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Searchable by rule, technique or category, so a coverage question has an answer rather than an opinion.</a:t>
            </a:r>
            <a:endParaRPr lang="en-US" sz="1040" dirty="0"/>
          </a:p>
          <a:p>
            <a:pPr marL="342900" indent="-342900">
              <a:lnSpc>
                <a:spcPct val="120000"/>
              </a:lnSpc>
              <a:spcAft>
                <a:spcPts val="900"/>
              </a:spcAft>
              <a:buSzPct val="100000"/>
              <a:buChar char="•"/>
            </a:pPr>
            <a:r>
              <a:rPr lang="en-US" sz="1040" dirty="0">
                <a:solidFill>
                  <a:srgbClr val="53565A"/>
                </a:solidFill>
                <a:latin typeface="Arial" pitchFamily="34" charset="0"/>
                <a:ea typeface="Arial" pitchFamily="34" charset="-122"/>
                <a:cs typeface="Arial" pitchFamily="34" charset="-120"/>
              </a:rPr>
              <a:t>Knowing what the library does not cover is as useful as knowing what it does, which is why an uncovered technique publishes as a named detection gap.</a:t>
            </a:r>
            <a:endParaRPr lang="en-US" sz="1040" dirty="0"/>
          </a:p>
        </p:txBody>
      </p:sp>
      <p:sp>
        <p:nvSpPr>
          <p:cNvPr id="10" name="Text 7"/>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11" name="Text 8"/>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7315200" cy="219456"/>
          </a:xfrm>
          <a:prstGeom prst="rect">
            <a:avLst/>
          </a:prstGeom>
          <a:noFill/>
          <a:ln/>
        </p:spPr>
        <p:txBody>
          <a:bodyPr wrap="square" lIns="0" tIns="0" rIns="0" bIns="0" rtlCol="0" anchor="ctr"/>
          <a:lstStyle/>
          <a:p>
            <a:pPr indent="0" marL="0">
              <a:buNone/>
            </a:pPr>
            <a:r>
              <a:rPr lang="en-US" sz="1050" b="1" spc="220" kern="0" dirty="0">
                <a:solidFill>
                  <a:srgbClr val="75787B"/>
                </a:solidFill>
                <a:latin typeface="Arial" pitchFamily="34" charset="0"/>
                <a:ea typeface="Arial" pitchFamily="34" charset="-122"/>
                <a:cs typeface="Arial" pitchFamily="34" charset="-120"/>
              </a:rPr>
              <a:t>ROADMAP</a:t>
            </a:r>
            <a:endParaRPr lang="en-US" sz="1050" dirty="0"/>
          </a:p>
        </p:txBody>
      </p:sp>
      <p:sp>
        <p:nvSpPr>
          <p:cNvPr id="3" name="Text 1"/>
          <p:cNvSpPr txBox="1"/>
          <p:nvPr/>
        </p:nvSpPr>
        <p:spPr>
          <a:xfrm>
            <a:off x="658368" y="749808"/>
            <a:ext cx="10326319" cy="658368"/>
          </a:xfrm>
          <a:prstGeom prst="rect">
            <a:avLst/>
          </a:prstGeom>
          <a:noFill/>
          <a:ln/>
        </p:spPr>
        <p:txBody>
          <a:bodyPr wrap="square" lIns="0" tIns="0" rIns="0" bIns="0" rtlCol="0" anchor="ctr"/>
          <a:lstStyle/>
          <a:p>
            <a:pPr indent="0" marL="0">
              <a:buNone/>
            </a:pPr>
            <a:r>
              <a:rPr lang="en-US" sz="3200" b="1" dirty="0">
                <a:solidFill>
                  <a:srgbClr val="0F0F0F"/>
                </a:solidFill>
                <a:latin typeface="Arial" pitchFamily="34" charset="0"/>
                <a:ea typeface="Arial" pitchFamily="34" charset="-122"/>
                <a:cs typeface="Arial" pitchFamily="34" charset="-120"/>
              </a:rPr>
              <a:t>In place, and what comes next</a:t>
            </a:r>
            <a:endParaRPr lang="en-US" sz="3200" dirty="0"/>
          </a:p>
        </p:txBody>
      </p:sp>
      <p:sp>
        <p:nvSpPr>
          <p:cNvPr id="4" name="Shape 2"/>
          <p:cNvSpPr/>
          <p:nvPr/>
        </p:nvSpPr>
        <p:spPr>
          <a:xfrm>
            <a:off x="11423599" y="512064"/>
            <a:ext cx="109728" cy="109728"/>
          </a:xfrm>
          <a:prstGeom prst="rect">
            <a:avLst/>
          </a:prstGeom>
          <a:solidFill>
            <a:srgbClr val="86BC25"/>
          </a:solidFill>
          <a:ln/>
        </p:spPr>
      </p:sp>
      <p:sp>
        <p:nvSpPr>
          <p:cNvPr id="5" name="Text 3"/>
          <p:cNvSpPr txBox="1"/>
          <p:nvPr/>
        </p:nvSpPr>
        <p:spPr>
          <a:xfrm>
            <a:off x="658368" y="2011680"/>
            <a:ext cx="5029200" cy="310896"/>
          </a:xfrm>
          <a:prstGeom prst="rect">
            <a:avLst/>
          </a:prstGeom>
          <a:noFill/>
          <a:ln/>
        </p:spPr>
        <p:txBody>
          <a:bodyPr wrap="square" lIns="0" tIns="0" rIns="0" bIns="0" rtlCol="0" anchor="ctr"/>
          <a:lstStyle/>
          <a:p>
            <a:pPr indent="0" marL="0">
              <a:buNone/>
            </a:pPr>
            <a:r>
              <a:rPr lang="en-US" sz="1600" b="1" dirty="0">
                <a:solidFill>
                  <a:srgbClr val="0F0F0F"/>
                </a:solidFill>
                <a:latin typeface="Arial" pitchFamily="34" charset="0"/>
                <a:ea typeface="Arial" pitchFamily="34" charset="-122"/>
                <a:cs typeface="Arial" pitchFamily="34" charset="-120"/>
              </a:rPr>
              <a:t>In place</a:t>
            </a:r>
            <a:endParaRPr lang="en-US" sz="1600" dirty="0"/>
          </a:p>
        </p:txBody>
      </p:sp>
      <p:sp>
        <p:nvSpPr>
          <p:cNvPr id="6" name="Shape 4"/>
          <p:cNvSpPr/>
          <p:nvPr/>
        </p:nvSpPr>
        <p:spPr>
          <a:xfrm>
            <a:off x="658368" y="2569464"/>
            <a:ext cx="91440" cy="91440"/>
          </a:xfrm>
          <a:prstGeom prst="rect">
            <a:avLst/>
          </a:prstGeom>
          <a:solidFill>
            <a:srgbClr val="86BC25"/>
          </a:solidFill>
          <a:ln/>
        </p:spPr>
      </p:sp>
      <p:sp>
        <p:nvSpPr>
          <p:cNvPr id="7" name="Text 5"/>
          <p:cNvSpPr txBox="1"/>
          <p:nvPr/>
        </p:nvSpPr>
        <p:spPr>
          <a:xfrm>
            <a:off x="877824" y="2487168"/>
            <a:ext cx="4846320" cy="256032"/>
          </a:xfrm>
          <a:prstGeom prst="rect">
            <a:avLst/>
          </a:prstGeom>
          <a:noFill/>
          <a:ln/>
        </p:spPr>
        <p:txBody>
          <a:bodyPr wrap="square" lIns="0" tIns="0" rIns="0" bIns="0" rtlCol="0" anchor="ctr"/>
          <a:lstStyle/>
          <a:p>
            <a:pPr indent="0" marL="0">
              <a:buNone/>
            </a:pPr>
            <a:r>
              <a:rPr lang="en-US" sz="1300" b="1" dirty="0">
                <a:solidFill>
                  <a:srgbClr val="0F0F0F"/>
                </a:solidFill>
                <a:latin typeface="Arial" pitchFamily="34" charset="0"/>
                <a:ea typeface="Arial" pitchFamily="34" charset="-122"/>
                <a:cs typeface="Arial" pitchFamily="34" charset="-120"/>
              </a:rPr>
              <a:t>Model selection</a:t>
            </a:r>
            <a:endParaRPr lang="en-US" sz="1300" dirty="0"/>
          </a:p>
        </p:txBody>
      </p:sp>
      <p:sp>
        <p:nvSpPr>
          <p:cNvPr id="8" name="Text 6"/>
          <p:cNvSpPr txBox="1"/>
          <p:nvPr/>
        </p:nvSpPr>
        <p:spPr>
          <a:xfrm>
            <a:off x="877824" y="2743200"/>
            <a:ext cx="4846320" cy="402336"/>
          </a:xfrm>
          <a:prstGeom prst="rect">
            <a:avLst/>
          </a:prstGeom>
          <a:noFill/>
          <a:ln/>
        </p:spPr>
        <p:txBody>
          <a:bodyPr wrap="square" lIns="0" tIns="0" rIns="0" bIns="0" rtlCol="0" anchor="t"/>
          <a:lstStyle/>
          <a:p>
            <a:pPr indent="0" marL="0">
              <a:lnSpc>
                <a:spcPct val="120000"/>
              </a:lnSpc>
              <a:buNone/>
            </a:pPr>
            <a:r>
              <a:rPr lang="en-US" sz="1050" dirty="0">
                <a:solidFill>
                  <a:srgbClr val="53565A"/>
                </a:solidFill>
                <a:latin typeface="Arial" pitchFamily="34" charset="0"/>
                <a:ea typeface="Arial" pitchFamily="34" charset="-122"/>
                <a:cs typeface="Arial" pitchFamily="34" charset="-120"/>
              </a:rPr>
              <a:t>The platform detects what the host can run, picks a model and reports it.</a:t>
            </a:r>
            <a:endParaRPr lang="en-US" sz="1050" dirty="0"/>
          </a:p>
        </p:txBody>
      </p:sp>
      <p:sp>
        <p:nvSpPr>
          <p:cNvPr id="9" name="Shape 7"/>
          <p:cNvSpPr/>
          <p:nvPr/>
        </p:nvSpPr>
        <p:spPr>
          <a:xfrm>
            <a:off x="658368" y="3282696"/>
            <a:ext cx="91440" cy="91440"/>
          </a:xfrm>
          <a:prstGeom prst="rect">
            <a:avLst/>
          </a:prstGeom>
          <a:solidFill>
            <a:srgbClr val="86BC25"/>
          </a:solidFill>
          <a:ln/>
        </p:spPr>
      </p:sp>
      <p:sp>
        <p:nvSpPr>
          <p:cNvPr id="10" name="Text 8"/>
          <p:cNvSpPr txBox="1"/>
          <p:nvPr/>
        </p:nvSpPr>
        <p:spPr>
          <a:xfrm>
            <a:off x="877824" y="3200400"/>
            <a:ext cx="4846320" cy="256032"/>
          </a:xfrm>
          <a:prstGeom prst="rect">
            <a:avLst/>
          </a:prstGeom>
          <a:noFill/>
          <a:ln/>
        </p:spPr>
        <p:txBody>
          <a:bodyPr wrap="square" lIns="0" tIns="0" rIns="0" bIns="0" rtlCol="0" anchor="ctr"/>
          <a:lstStyle/>
          <a:p>
            <a:pPr indent="0" marL="0">
              <a:buNone/>
            </a:pPr>
            <a:r>
              <a:rPr lang="en-US" sz="1300" b="1" dirty="0">
                <a:solidFill>
                  <a:srgbClr val="0F0F0F"/>
                </a:solidFill>
                <a:latin typeface="Arial" pitchFamily="34" charset="0"/>
                <a:ea typeface="Arial" pitchFamily="34" charset="-122"/>
                <a:cs typeface="Arial" pitchFamily="34" charset="-120"/>
              </a:rPr>
              <a:t>Behavioural profiling</a:t>
            </a:r>
            <a:endParaRPr lang="en-US" sz="1300" dirty="0"/>
          </a:p>
        </p:txBody>
      </p:sp>
      <p:sp>
        <p:nvSpPr>
          <p:cNvPr id="11" name="Text 9"/>
          <p:cNvSpPr txBox="1"/>
          <p:nvPr/>
        </p:nvSpPr>
        <p:spPr>
          <a:xfrm>
            <a:off x="877824" y="3456432"/>
            <a:ext cx="4846320" cy="402336"/>
          </a:xfrm>
          <a:prstGeom prst="rect">
            <a:avLst/>
          </a:prstGeom>
          <a:noFill/>
          <a:ln/>
        </p:spPr>
        <p:txBody>
          <a:bodyPr wrap="square" lIns="0" tIns="0" rIns="0" bIns="0" rtlCol="0" anchor="t"/>
          <a:lstStyle/>
          <a:p>
            <a:pPr indent="0" marL="0">
              <a:lnSpc>
                <a:spcPct val="120000"/>
              </a:lnSpc>
              <a:buNone/>
            </a:pPr>
            <a:r>
              <a:rPr lang="en-US" sz="1050" dirty="0">
                <a:solidFill>
                  <a:srgbClr val="53565A"/>
                </a:solidFill>
                <a:latin typeface="Arial" pitchFamily="34" charset="0"/>
                <a:ea typeface="Arial" pitchFamily="34" charset="-122"/>
                <a:cs typeface="Arial" pitchFamily="34" charset="-120"/>
              </a:rPr>
              <a:t>Peer group outliers and sequence surprise, with no model at all.</a:t>
            </a:r>
            <a:endParaRPr lang="en-US" sz="1050" dirty="0"/>
          </a:p>
        </p:txBody>
      </p:sp>
      <p:sp>
        <p:nvSpPr>
          <p:cNvPr id="12" name="Shape 10"/>
          <p:cNvSpPr/>
          <p:nvPr/>
        </p:nvSpPr>
        <p:spPr>
          <a:xfrm>
            <a:off x="658368" y="3995928"/>
            <a:ext cx="91440" cy="91440"/>
          </a:xfrm>
          <a:prstGeom prst="rect">
            <a:avLst/>
          </a:prstGeom>
          <a:solidFill>
            <a:srgbClr val="86BC25"/>
          </a:solidFill>
          <a:ln/>
        </p:spPr>
      </p:sp>
      <p:sp>
        <p:nvSpPr>
          <p:cNvPr id="13" name="Text 11"/>
          <p:cNvSpPr txBox="1"/>
          <p:nvPr/>
        </p:nvSpPr>
        <p:spPr>
          <a:xfrm>
            <a:off x="877824" y="3913632"/>
            <a:ext cx="4846320" cy="256032"/>
          </a:xfrm>
          <a:prstGeom prst="rect">
            <a:avLst/>
          </a:prstGeom>
          <a:noFill/>
          <a:ln/>
        </p:spPr>
        <p:txBody>
          <a:bodyPr wrap="square" lIns="0" tIns="0" rIns="0" bIns="0" rtlCol="0" anchor="ctr"/>
          <a:lstStyle/>
          <a:p>
            <a:pPr indent="0" marL="0">
              <a:buNone/>
            </a:pPr>
            <a:r>
              <a:rPr lang="en-US" sz="1300" b="1" dirty="0">
                <a:solidFill>
                  <a:srgbClr val="0F0F0F"/>
                </a:solidFill>
                <a:latin typeface="Arial" pitchFamily="34" charset="0"/>
                <a:ea typeface="Arial" pitchFamily="34" charset="-122"/>
                <a:cs typeface="Arial" pitchFamily="34" charset="-120"/>
              </a:rPr>
              <a:t>Generated hypotheses</a:t>
            </a:r>
            <a:endParaRPr lang="en-US" sz="1300" dirty="0"/>
          </a:p>
        </p:txBody>
      </p:sp>
      <p:sp>
        <p:nvSpPr>
          <p:cNvPr id="14" name="Text 12"/>
          <p:cNvSpPr txBox="1"/>
          <p:nvPr/>
        </p:nvSpPr>
        <p:spPr>
          <a:xfrm>
            <a:off x="877824" y="4169664"/>
            <a:ext cx="4846320" cy="402336"/>
          </a:xfrm>
          <a:prstGeom prst="rect">
            <a:avLst/>
          </a:prstGeom>
          <a:noFill/>
          <a:ln/>
        </p:spPr>
        <p:txBody>
          <a:bodyPr wrap="square" lIns="0" tIns="0" rIns="0" bIns="0" rtlCol="0" anchor="t"/>
          <a:lstStyle/>
          <a:p>
            <a:pPr indent="0" marL="0">
              <a:lnSpc>
                <a:spcPct val="120000"/>
              </a:lnSpc>
              <a:buNone/>
            </a:pPr>
            <a:r>
              <a:rPr lang="en-US" sz="1050" dirty="0">
                <a:solidFill>
                  <a:srgbClr val="53565A"/>
                </a:solidFill>
                <a:latin typeface="Arial" pitchFamily="34" charset="0"/>
                <a:ea typeface="Arial" pitchFamily="34" charset="-122"/>
                <a:cs typeface="Arial" pitchFamily="34" charset="-120"/>
              </a:rPr>
              <a:t>Validated against ATT&amp;CK, held in a review queue until an analyst accepts them.</a:t>
            </a:r>
            <a:endParaRPr lang="en-US" sz="1050" dirty="0"/>
          </a:p>
        </p:txBody>
      </p:sp>
      <p:sp>
        <p:nvSpPr>
          <p:cNvPr id="15" name="Shape 13"/>
          <p:cNvSpPr/>
          <p:nvPr/>
        </p:nvSpPr>
        <p:spPr>
          <a:xfrm>
            <a:off x="658368" y="4709160"/>
            <a:ext cx="91440" cy="91440"/>
          </a:xfrm>
          <a:prstGeom prst="rect">
            <a:avLst/>
          </a:prstGeom>
          <a:solidFill>
            <a:srgbClr val="86BC25"/>
          </a:solidFill>
          <a:ln/>
        </p:spPr>
      </p:sp>
      <p:sp>
        <p:nvSpPr>
          <p:cNvPr id="16" name="Text 14"/>
          <p:cNvSpPr txBox="1"/>
          <p:nvPr/>
        </p:nvSpPr>
        <p:spPr>
          <a:xfrm>
            <a:off x="877824" y="4626864"/>
            <a:ext cx="4846320" cy="256032"/>
          </a:xfrm>
          <a:prstGeom prst="rect">
            <a:avLst/>
          </a:prstGeom>
          <a:noFill/>
          <a:ln/>
        </p:spPr>
        <p:txBody>
          <a:bodyPr wrap="square" lIns="0" tIns="0" rIns="0" bIns="0" rtlCol="0" anchor="ctr"/>
          <a:lstStyle/>
          <a:p>
            <a:pPr indent="0" marL="0">
              <a:buNone/>
            </a:pPr>
            <a:r>
              <a:rPr lang="en-US" sz="1300" b="1" dirty="0">
                <a:solidFill>
                  <a:srgbClr val="0F0F0F"/>
                </a:solidFill>
                <a:latin typeface="Arial" pitchFamily="34" charset="0"/>
                <a:ea typeface="Arial" pitchFamily="34" charset="-122"/>
                <a:cs typeface="Arial" pitchFamily="34" charset="-120"/>
              </a:rPr>
              <a:t>The weekly collector</a:t>
            </a:r>
            <a:endParaRPr lang="en-US" sz="1300" dirty="0"/>
          </a:p>
        </p:txBody>
      </p:sp>
      <p:sp>
        <p:nvSpPr>
          <p:cNvPr id="17" name="Text 15"/>
          <p:cNvSpPr txBox="1"/>
          <p:nvPr/>
        </p:nvSpPr>
        <p:spPr>
          <a:xfrm>
            <a:off x="877824" y="4882896"/>
            <a:ext cx="4846320" cy="402336"/>
          </a:xfrm>
          <a:prstGeom prst="rect">
            <a:avLst/>
          </a:prstGeom>
          <a:noFill/>
          <a:ln/>
        </p:spPr>
        <p:txBody>
          <a:bodyPr wrap="square" lIns="0" tIns="0" rIns="0" bIns="0" rtlCol="0" anchor="t"/>
          <a:lstStyle/>
          <a:p>
            <a:pPr indent="0" marL="0">
              <a:lnSpc>
                <a:spcPct val="120000"/>
              </a:lnSpc>
              <a:buNone/>
            </a:pPr>
            <a:r>
              <a:rPr lang="en-US" sz="1050" dirty="0">
                <a:solidFill>
                  <a:srgbClr val="53565A"/>
                </a:solidFill>
                <a:latin typeface="Arial" pitchFamily="34" charset="0"/>
                <a:ea typeface="Arial" pitchFamily="34" charset="-122"/>
                <a:cs typeface="Arial" pitchFamily="34" charset="-120"/>
              </a:rPr>
              <a:t>Reads vendor reporting, advisories and research feeds on its own.</a:t>
            </a:r>
            <a:endParaRPr lang="en-US" sz="1050" dirty="0"/>
          </a:p>
        </p:txBody>
      </p:sp>
      <p:sp>
        <p:nvSpPr>
          <p:cNvPr id="18" name="Shape 16"/>
          <p:cNvSpPr/>
          <p:nvPr/>
        </p:nvSpPr>
        <p:spPr>
          <a:xfrm>
            <a:off x="658368" y="5422392"/>
            <a:ext cx="91440" cy="91440"/>
          </a:xfrm>
          <a:prstGeom prst="rect">
            <a:avLst/>
          </a:prstGeom>
          <a:solidFill>
            <a:srgbClr val="86BC25"/>
          </a:solidFill>
          <a:ln/>
        </p:spPr>
      </p:sp>
      <p:sp>
        <p:nvSpPr>
          <p:cNvPr id="19" name="Text 17"/>
          <p:cNvSpPr txBox="1"/>
          <p:nvPr/>
        </p:nvSpPr>
        <p:spPr>
          <a:xfrm>
            <a:off x="877824" y="5340096"/>
            <a:ext cx="4846320" cy="256032"/>
          </a:xfrm>
          <a:prstGeom prst="rect">
            <a:avLst/>
          </a:prstGeom>
          <a:noFill/>
          <a:ln/>
        </p:spPr>
        <p:txBody>
          <a:bodyPr wrap="square" lIns="0" tIns="0" rIns="0" bIns="0" rtlCol="0" anchor="ctr"/>
          <a:lstStyle/>
          <a:p>
            <a:pPr indent="0" marL="0">
              <a:buNone/>
            </a:pPr>
            <a:r>
              <a:rPr lang="en-US" sz="1300" b="1" dirty="0">
                <a:solidFill>
                  <a:srgbClr val="0F0F0F"/>
                </a:solidFill>
                <a:latin typeface="Arial" pitchFamily="34" charset="0"/>
                <a:ea typeface="Arial" pitchFamily="34" charset="-122"/>
                <a:cs typeface="Arial" pitchFamily="34" charset="-120"/>
              </a:rPr>
              <a:t>Local adjudication</a:t>
            </a:r>
            <a:endParaRPr lang="en-US" sz="1300" dirty="0"/>
          </a:p>
        </p:txBody>
      </p:sp>
      <p:sp>
        <p:nvSpPr>
          <p:cNvPr id="20" name="Text 18"/>
          <p:cNvSpPr txBox="1"/>
          <p:nvPr/>
        </p:nvSpPr>
        <p:spPr>
          <a:xfrm>
            <a:off x="877824" y="5596128"/>
            <a:ext cx="4846320" cy="402336"/>
          </a:xfrm>
          <a:prstGeom prst="rect">
            <a:avLst/>
          </a:prstGeom>
          <a:noFill/>
          <a:ln/>
        </p:spPr>
        <p:txBody>
          <a:bodyPr wrap="square" lIns="0" tIns="0" rIns="0" bIns="0" rtlCol="0" anchor="t"/>
          <a:lstStyle/>
          <a:p>
            <a:pPr indent="0" marL="0">
              <a:lnSpc>
                <a:spcPct val="120000"/>
              </a:lnSpc>
              <a:buNone/>
            </a:pPr>
            <a:r>
              <a:rPr lang="en-US" sz="1050" dirty="0">
                <a:solidFill>
                  <a:srgbClr val="53565A"/>
                </a:solidFill>
                <a:latin typeface="Arial" pitchFamily="34" charset="0"/>
                <a:ea typeface="Arial" pitchFamily="34" charset="-122"/>
                <a:cs typeface="Arial" pitchFamily="34" charset="-120"/>
              </a:rPr>
              <a:t>A local model judges each behavioural candidate and cites evidence by identifier.</a:t>
            </a:r>
            <a:endParaRPr lang="en-US" sz="1050" dirty="0"/>
          </a:p>
        </p:txBody>
      </p:sp>
      <p:sp>
        <p:nvSpPr>
          <p:cNvPr id="21" name="Shape 19"/>
          <p:cNvSpPr/>
          <p:nvPr/>
        </p:nvSpPr>
        <p:spPr>
          <a:xfrm>
            <a:off x="6345936" y="2011680"/>
            <a:ext cx="5193792" cy="3803904"/>
          </a:xfrm>
          <a:prstGeom prst="rect">
            <a:avLst/>
          </a:prstGeom>
          <a:solidFill>
            <a:srgbClr val="F4F4F2"/>
          </a:solidFill>
          <a:ln w="9525">
            <a:solidFill>
              <a:srgbClr val="D0D0CE"/>
            </a:solidFill>
            <a:prstDash val="solid"/>
          </a:ln>
        </p:spPr>
      </p:sp>
      <p:sp>
        <p:nvSpPr>
          <p:cNvPr id="22" name="Text 20"/>
          <p:cNvSpPr txBox="1"/>
          <p:nvPr/>
        </p:nvSpPr>
        <p:spPr>
          <a:xfrm>
            <a:off x="6656832" y="2231136"/>
            <a:ext cx="4572000" cy="310896"/>
          </a:xfrm>
          <a:prstGeom prst="rect">
            <a:avLst/>
          </a:prstGeom>
          <a:noFill/>
          <a:ln/>
        </p:spPr>
        <p:txBody>
          <a:bodyPr wrap="square" lIns="0" tIns="0" rIns="0" bIns="0" rtlCol="0" anchor="ctr"/>
          <a:lstStyle/>
          <a:p>
            <a:pPr indent="0" marL="0">
              <a:buNone/>
            </a:pPr>
            <a:r>
              <a:rPr lang="en-US" sz="1600" b="1" dirty="0">
                <a:solidFill>
                  <a:srgbClr val="0F0F0F"/>
                </a:solidFill>
                <a:latin typeface="Arial" pitchFamily="34" charset="0"/>
                <a:ea typeface="Arial" pitchFamily="34" charset="-122"/>
                <a:cs typeface="Arial" pitchFamily="34" charset="-120"/>
              </a:rPr>
              <a:t>Designed, not yet implemented</a:t>
            </a:r>
            <a:endParaRPr lang="en-US" sz="1600" dirty="0"/>
          </a:p>
        </p:txBody>
      </p:sp>
      <p:sp>
        <p:nvSpPr>
          <p:cNvPr id="23" name="Shape 21"/>
          <p:cNvSpPr/>
          <p:nvPr/>
        </p:nvSpPr>
        <p:spPr>
          <a:xfrm>
            <a:off x="6656832" y="2807208"/>
            <a:ext cx="91440" cy="91440"/>
          </a:xfrm>
          <a:prstGeom prst="rect">
            <a:avLst/>
          </a:prstGeom>
          <a:solidFill>
            <a:srgbClr val="75787B"/>
          </a:solidFill>
          <a:ln/>
        </p:spPr>
      </p:sp>
      <p:sp>
        <p:nvSpPr>
          <p:cNvPr id="24" name="Text 22"/>
          <p:cNvSpPr txBox="1"/>
          <p:nvPr/>
        </p:nvSpPr>
        <p:spPr>
          <a:xfrm>
            <a:off x="6876288" y="2724912"/>
            <a:ext cx="4389120" cy="256032"/>
          </a:xfrm>
          <a:prstGeom prst="rect">
            <a:avLst/>
          </a:prstGeom>
          <a:noFill/>
          <a:ln/>
        </p:spPr>
        <p:txBody>
          <a:bodyPr wrap="square" lIns="0" tIns="0" rIns="0" bIns="0" rtlCol="0" anchor="ctr"/>
          <a:lstStyle/>
          <a:p>
            <a:pPr indent="0" marL="0">
              <a:buNone/>
            </a:pPr>
            <a:r>
              <a:rPr lang="en-US" sz="1300" b="1" dirty="0">
                <a:solidFill>
                  <a:srgbClr val="0F0F0F"/>
                </a:solidFill>
                <a:latin typeface="Arial" pitchFamily="34" charset="0"/>
                <a:ea typeface="Arial" pitchFamily="34" charset="-122"/>
                <a:cs typeface="Arial" pitchFamily="34" charset="-120"/>
              </a:rPr>
              <a:t>Learned parsers</a:t>
            </a:r>
            <a:endParaRPr lang="en-US" sz="1300" dirty="0"/>
          </a:p>
        </p:txBody>
      </p:sp>
      <p:sp>
        <p:nvSpPr>
          <p:cNvPr id="25" name="Text 23"/>
          <p:cNvSpPr txBox="1"/>
          <p:nvPr/>
        </p:nvSpPr>
        <p:spPr>
          <a:xfrm>
            <a:off x="6876288" y="2999232"/>
            <a:ext cx="4389120" cy="877824"/>
          </a:xfrm>
          <a:prstGeom prst="rect">
            <a:avLst/>
          </a:prstGeom>
          <a:noFill/>
          <a:ln/>
        </p:spPr>
        <p:txBody>
          <a:bodyPr wrap="square" lIns="0" tIns="0" rIns="0" bIns="0" rtlCol="0" anchor="t"/>
          <a:lstStyle/>
          <a:p>
            <a:pPr indent="0" marL="0">
              <a:lnSpc>
                <a:spcPct val="125000"/>
              </a:lnSpc>
              <a:buNone/>
            </a:pPr>
            <a:r>
              <a:rPr lang="en-US" sz="1050" dirty="0">
                <a:solidFill>
                  <a:srgbClr val="53565A"/>
                </a:solidFill>
                <a:latin typeface="Arial" pitchFamily="34" charset="0"/>
                <a:ea typeface="Arial" pitchFamily="34" charset="-122"/>
                <a:cs typeface="Arial" pitchFamily="34" charset="-120"/>
              </a:rPr>
              <a:t>For formats the engine has never seen: the model proposes a field extraction specification, which is then verified by execution against a held out sample rather than trusted.</a:t>
            </a:r>
            <a:endParaRPr lang="en-US" sz="1050" dirty="0"/>
          </a:p>
        </p:txBody>
      </p:sp>
      <p:sp>
        <p:nvSpPr>
          <p:cNvPr id="26" name="Shape 24"/>
          <p:cNvSpPr/>
          <p:nvPr/>
        </p:nvSpPr>
        <p:spPr>
          <a:xfrm>
            <a:off x="6656832" y="4032504"/>
            <a:ext cx="91440" cy="91440"/>
          </a:xfrm>
          <a:prstGeom prst="rect">
            <a:avLst/>
          </a:prstGeom>
          <a:solidFill>
            <a:srgbClr val="75787B"/>
          </a:solidFill>
          <a:ln/>
        </p:spPr>
      </p:sp>
      <p:sp>
        <p:nvSpPr>
          <p:cNvPr id="27" name="Text 25"/>
          <p:cNvSpPr txBox="1"/>
          <p:nvPr/>
        </p:nvSpPr>
        <p:spPr>
          <a:xfrm>
            <a:off x="6876288" y="3950208"/>
            <a:ext cx="4389120" cy="256032"/>
          </a:xfrm>
          <a:prstGeom prst="rect">
            <a:avLst/>
          </a:prstGeom>
          <a:noFill/>
          <a:ln/>
        </p:spPr>
        <p:txBody>
          <a:bodyPr wrap="square" lIns="0" tIns="0" rIns="0" bIns="0" rtlCol="0" anchor="ctr"/>
          <a:lstStyle/>
          <a:p>
            <a:pPr indent="0" marL="0">
              <a:buNone/>
            </a:pPr>
            <a:r>
              <a:rPr lang="en-US" sz="1300" b="1" dirty="0">
                <a:solidFill>
                  <a:srgbClr val="0F0F0F"/>
                </a:solidFill>
                <a:latin typeface="Arial" pitchFamily="34" charset="0"/>
                <a:ea typeface="Arial" pitchFamily="34" charset="-122"/>
                <a:cs typeface="Arial" pitchFamily="34" charset="-120"/>
              </a:rPr>
              <a:t>The attack story</a:t>
            </a:r>
            <a:endParaRPr lang="en-US" sz="1300" dirty="0"/>
          </a:p>
        </p:txBody>
      </p:sp>
      <p:sp>
        <p:nvSpPr>
          <p:cNvPr id="28" name="Text 26"/>
          <p:cNvSpPr txBox="1"/>
          <p:nvPr/>
        </p:nvSpPr>
        <p:spPr>
          <a:xfrm>
            <a:off x="6876288" y="4224528"/>
            <a:ext cx="4389120" cy="877824"/>
          </a:xfrm>
          <a:prstGeom prst="rect">
            <a:avLst/>
          </a:prstGeom>
          <a:noFill/>
          <a:ln/>
        </p:spPr>
        <p:txBody>
          <a:bodyPr wrap="square" lIns="0" tIns="0" rIns="0" bIns="0" rtlCol="0" anchor="t"/>
          <a:lstStyle/>
          <a:p>
            <a:pPr indent="0" marL="0">
              <a:lnSpc>
                <a:spcPct val="125000"/>
              </a:lnSpc>
              <a:buNone/>
            </a:pPr>
            <a:r>
              <a:rPr lang="en-US" sz="1050" dirty="0">
                <a:solidFill>
                  <a:srgbClr val="53565A"/>
                </a:solidFill>
                <a:latin typeface="Arial" pitchFamily="34" charset="0"/>
                <a:ea typeface="Arial" pitchFamily="34" charset="-122"/>
                <a:cs typeface="Arial" pitchFamily="34" charset="-120"/>
              </a:rPr>
              <a:t>An ordered kill chain narrative in the executive summary, built only from observations that exist and checked by identifier.</a:t>
            </a:r>
            <a:endParaRPr lang="en-US" sz="1050" dirty="0"/>
          </a:p>
        </p:txBody>
      </p:sp>
      <p:sp>
        <p:nvSpPr>
          <p:cNvPr id="29" name="Text 27"/>
          <p:cNvSpPr txBox="1"/>
          <p:nvPr/>
        </p:nvSpPr>
        <p:spPr>
          <a:xfrm>
            <a:off x="6656832" y="5230368"/>
            <a:ext cx="4572000" cy="457200"/>
          </a:xfrm>
          <a:prstGeom prst="rect">
            <a:avLst/>
          </a:prstGeom>
          <a:noFill/>
          <a:ln/>
        </p:spPr>
        <p:txBody>
          <a:bodyPr wrap="square" lIns="0" tIns="0" rIns="0" bIns="0" rtlCol="0" anchor="t"/>
          <a:lstStyle/>
          <a:p>
            <a:pPr indent="0" marL="0">
              <a:lnSpc>
                <a:spcPct val="120000"/>
              </a:lnSpc>
              <a:buNone/>
            </a:pPr>
            <a:r>
              <a:rPr lang="en-US" sz="1050" i="1" dirty="0">
                <a:solidFill>
                  <a:srgbClr val="75787B"/>
                </a:solidFill>
                <a:latin typeface="Arial" pitchFamily="34" charset="0"/>
                <a:ea typeface="Arial" pitchFamily="34" charset="-122"/>
                <a:cs typeface="Arial" pitchFamily="34" charset="-120"/>
              </a:rPr>
              <a:t>The whole model layer is optional at every step. With no model server installed, the platform behaves exactly as it does today.</a:t>
            </a:r>
            <a:endParaRPr lang="en-US" sz="1050" dirty="0"/>
          </a:p>
        </p:txBody>
      </p:sp>
      <p:sp>
        <p:nvSpPr>
          <p:cNvPr id="30" name="Text 28"/>
          <p:cNvSpPr txBox="1"/>
          <p:nvPr/>
        </p:nvSpPr>
        <p:spPr>
          <a:xfrm>
            <a:off x="658368" y="6345936"/>
            <a:ext cx="2926080" cy="237744"/>
          </a:xfrm>
          <a:prstGeom prst="rect">
            <a:avLst/>
          </a:prstGeom>
          <a:noFill/>
          <a:ln/>
        </p:spPr>
        <p:txBody>
          <a:bodyPr wrap="square" lIns="0" tIns="0" rIns="0" bIns="0" rtlCol="0" anchor="ctr"/>
          <a:lstStyle/>
          <a:p>
            <a:pPr indent="0" marL="0">
              <a:buNone/>
            </a:pPr>
            <a:r>
              <a:rPr lang="en-US" sz="900" dirty="0">
                <a:solidFill>
                  <a:srgbClr val="75787B"/>
                </a:solidFill>
                <a:latin typeface="Arial" pitchFamily="34" charset="0"/>
                <a:ea typeface="Arial" pitchFamily="34" charset="-122"/>
                <a:cs typeface="Arial" pitchFamily="34" charset="-120"/>
              </a:rPr>
              <a:t>Threat Hunting Factory</a:t>
            </a:r>
            <a:endParaRPr lang="en-US" sz="900" dirty="0"/>
          </a:p>
        </p:txBody>
      </p:sp>
      <p:sp>
        <p:nvSpPr>
          <p:cNvPr id="31" name="Text 29"/>
          <p:cNvSpPr txBox="1"/>
          <p:nvPr/>
        </p:nvSpPr>
        <p:spPr>
          <a:xfrm>
            <a:off x="10710367" y="6345936"/>
            <a:ext cx="822960" cy="237744"/>
          </a:xfrm>
          <a:prstGeom prst="rect">
            <a:avLst/>
          </a:prstGeom>
          <a:noFill/>
          <a:ln/>
        </p:spPr>
        <p:txBody>
          <a:bodyPr wrap="square" lIns="0" tIns="0" rIns="0" bIns="0" rtlCol="0" anchor="ctr"/>
          <a:lstStyle/>
          <a:p>
            <a:pPr algn="r" indent="0" marL="0">
              <a:buNone/>
            </a:pPr>
            <a:r>
              <a:rPr lang="en-US" sz="900" dirty="0">
                <a:solidFill>
                  <a:srgbClr val="75787B"/>
                </a:solidFill>
                <a:latin typeface="Arial" pitchFamily="34" charset="0"/>
                <a:ea typeface="Arial" pitchFamily="34" charset="-122"/>
                <a:cs typeface="Arial"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58368" y="1554480"/>
            <a:ext cx="969264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Findings are derived only from the evidence supplied</a:t>
            </a:r>
            <a:endParaRPr lang="en-US" sz="2800" dirty="0"/>
          </a:p>
        </p:txBody>
      </p:sp>
      <p:sp>
        <p:nvSpPr>
          <p:cNvPr id="3" name="Shape 1"/>
          <p:cNvSpPr/>
          <p:nvPr/>
        </p:nvSpPr>
        <p:spPr>
          <a:xfrm>
            <a:off x="676656" y="2212848"/>
            <a:ext cx="128016" cy="128016"/>
          </a:xfrm>
          <a:prstGeom prst="rect">
            <a:avLst/>
          </a:prstGeom>
          <a:solidFill>
            <a:srgbClr val="86BC25"/>
          </a:solidFill>
          <a:ln/>
        </p:spPr>
      </p:sp>
      <p:sp>
        <p:nvSpPr>
          <p:cNvPr id="4" name="Text 2"/>
          <p:cNvSpPr txBox="1"/>
          <p:nvPr/>
        </p:nvSpPr>
        <p:spPr>
          <a:xfrm>
            <a:off x="658368" y="2542032"/>
            <a:ext cx="9326880" cy="1005840"/>
          </a:xfrm>
          <a:prstGeom prst="rect">
            <a:avLst/>
          </a:prstGeom>
          <a:noFill/>
          <a:ln/>
        </p:spPr>
        <p:txBody>
          <a:bodyPr wrap="square" lIns="0" tIns="0" rIns="0" bIns="0" rtlCol="0" anchor="t"/>
          <a:lstStyle/>
          <a:p>
            <a:pPr indent="0" marL="0">
              <a:lnSpc>
                <a:spcPct val="135000"/>
              </a:lnSpc>
              <a:buNone/>
            </a:pPr>
            <a:r>
              <a:rPr lang="en-US" sz="1400" dirty="0">
                <a:solidFill>
                  <a:srgbClr val="B8B8B6"/>
                </a:solidFill>
                <a:latin typeface="Arial" pitchFamily="34" charset="0"/>
                <a:ea typeface="Arial" pitchFamily="34" charset="-122"/>
                <a:cs typeface="Arial" pitchFamily="34" charset="-120"/>
              </a:rPr>
              <a:t>The absence of an observation is not proof that the activity did not occur. The relevant telemetry may not have been collected, may have rotated before collection, or may fall outside the period covered by the archive. Every observation should be validated against the source system before an operational decision is taken.</a:t>
            </a:r>
            <a:endParaRPr lang="en-US" sz="1400" dirty="0"/>
          </a:p>
        </p:txBody>
      </p:sp>
      <p:sp>
        <p:nvSpPr>
          <p:cNvPr id="5" name="Shape 3"/>
          <p:cNvSpPr/>
          <p:nvPr/>
        </p:nvSpPr>
        <p:spPr>
          <a:xfrm>
            <a:off x="658368" y="3840480"/>
            <a:ext cx="10874959" cy="0"/>
          </a:xfrm>
          <a:prstGeom prst="line">
            <a:avLst/>
          </a:prstGeom>
          <a:noFill/>
          <a:ln w="9525">
            <a:solidFill>
              <a:srgbClr val="3A3A3A"/>
            </a:solidFill>
            <a:prstDash val="solid"/>
          </a:ln>
        </p:spPr>
      </p:sp>
      <p:sp>
        <p:nvSpPr>
          <p:cNvPr id="6" name="Shape 4"/>
          <p:cNvSpPr/>
          <p:nvPr/>
        </p:nvSpPr>
        <p:spPr>
          <a:xfrm>
            <a:off x="658368" y="4224528"/>
            <a:ext cx="91440" cy="91440"/>
          </a:xfrm>
          <a:prstGeom prst="rect">
            <a:avLst/>
          </a:prstGeom>
          <a:solidFill>
            <a:srgbClr val="86BC25"/>
          </a:solidFill>
          <a:ln/>
        </p:spPr>
      </p:sp>
      <p:sp>
        <p:nvSpPr>
          <p:cNvPr id="7" name="Text 5"/>
          <p:cNvSpPr txBox="1"/>
          <p:nvPr/>
        </p:nvSpPr>
        <p:spPr>
          <a:xfrm>
            <a:off x="658368" y="4425696"/>
            <a:ext cx="2615184"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 hunt is a question</a:t>
            </a:r>
            <a:endParaRPr lang="en-US" sz="1400" dirty="0"/>
          </a:p>
        </p:txBody>
      </p:sp>
      <p:sp>
        <p:nvSpPr>
          <p:cNvPr id="8" name="Text 6"/>
          <p:cNvSpPr txBox="1"/>
          <p:nvPr/>
        </p:nvSpPr>
        <p:spPr>
          <a:xfrm>
            <a:off x="658368" y="4754880"/>
            <a:ext cx="2615184" cy="822960"/>
          </a:xfrm>
          <a:prstGeom prst="rect">
            <a:avLst/>
          </a:prstGeom>
          <a:noFill/>
          <a:ln/>
        </p:spPr>
        <p:txBody>
          <a:bodyPr wrap="square" lIns="0" tIns="0" rIns="0" bIns="0" rtlCol="0" anchor="t"/>
          <a:lstStyle/>
          <a:p>
            <a:pPr indent="0" marL="0">
              <a:lnSpc>
                <a:spcPct val="125000"/>
              </a:lnSpc>
              <a:buNone/>
            </a:pPr>
            <a:r>
              <a:rPr lang="en-US" sz="1100" dirty="0">
                <a:solidFill>
                  <a:srgbClr val="A8A8A6"/>
                </a:solidFill>
                <a:latin typeface="Arial" pitchFamily="34" charset="0"/>
                <a:ea typeface="Arial" pitchFamily="34" charset="-122"/>
                <a:cs typeface="Arial" pitchFamily="34" charset="-120"/>
              </a:rPr>
              <a:t>Stated, tested against evidence, and reproducible byte for byte.</a:t>
            </a:r>
            <a:endParaRPr lang="en-US" sz="1100" dirty="0"/>
          </a:p>
        </p:txBody>
      </p:sp>
      <p:sp>
        <p:nvSpPr>
          <p:cNvPr id="9" name="Shape 7"/>
          <p:cNvSpPr/>
          <p:nvPr/>
        </p:nvSpPr>
        <p:spPr>
          <a:xfrm>
            <a:off x="3456432" y="4224528"/>
            <a:ext cx="91440" cy="91440"/>
          </a:xfrm>
          <a:prstGeom prst="rect">
            <a:avLst/>
          </a:prstGeom>
          <a:solidFill>
            <a:srgbClr val="86BC25"/>
          </a:solidFill>
          <a:ln/>
        </p:spPr>
      </p:sp>
      <p:sp>
        <p:nvSpPr>
          <p:cNvPr id="10" name="Text 8"/>
          <p:cNvSpPr txBox="1"/>
          <p:nvPr/>
        </p:nvSpPr>
        <p:spPr>
          <a:xfrm>
            <a:off x="3456432" y="4425696"/>
            <a:ext cx="2615184"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The evidence is the report</a:t>
            </a:r>
            <a:endParaRPr lang="en-US" sz="1400" dirty="0"/>
          </a:p>
        </p:txBody>
      </p:sp>
      <p:sp>
        <p:nvSpPr>
          <p:cNvPr id="11" name="Text 9"/>
          <p:cNvSpPr txBox="1"/>
          <p:nvPr/>
        </p:nvSpPr>
        <p:spPr>
          <a:xfrm>
            <a:off x="3456432" y="4754880"/>
            <a:ext cx="2615184" cy="822960"/>
          </a:xfrm>
          <a:prstGeom prst="rect">
            <a:avLst/>
          </a:prstGeom>
          <a:noFill/>
          <a:ln/>
        </p:spPr>
        <p:txBody>
          <a:bodyPr wrap="square" lIns="0" tIns="0" rIns="0" bIns="0" rtlCol="0" anchor="t"/>
          <a:lstStyle/>
          <a:p>
            <a:pPr indent="0" marL="0">
              <a:lnSpc>
                <a:spcPct val="125000"/>
              </a:lnSpc>
              <a:buNone/>
            </a:pPr>
            <a:r>
              <a:rPr lang="en-US" sz="1100" dirty="0">
                <a:solidFill>
                  <a:srgbClr val="A8A8A6"/>
                </a:solidFill>
                <a:latin typeface="Arial" pitchFamily="34" charset="0"/>
                <a:ea typeface="Arial" pitchFamily="34" charset="-122"/>
                <a:cs typeface="Arial" pitchFamily="34" charset="-120"/>
              </a:rPr>
              <a:t>Every observation carries the log line it came from, not a summary of it.</a:t>
            </a:r>
            <a:endParaRPr lang="en-US" sz="1100" dirty="0"/>
          </a:p>
        </p:txBody>
      </p:sp>
      <p:sp>
        <p:nvSpPr>
          <p:cNvPr id="12" name="Shape 10"/>
          <p:cNvSpPr/>
          <p:nvPr/>
        </p:nvSpPr>
        <p:spPr>
          <a:xfrm>
            <a:off x="6254496" y="4224528"/>
            <a:ext cx="91440" cy="91440"/>
          </a:xfrm>
          <a:prstGeom prst="rect">
            <a:avLst/>
          </a:prstGeom>
          <a:solidFill>
            <a:srgbClr val="86BC25"/>
          </a:solidFill>
          <a:ln/>
        </p:spPr>
      </p:sp>
      <p:sp>
        <p:nvSpPr>
          <p:cNvPr id="13" name="Text 11"/>
          <p:cNvSpPr txBox="1"/>
          <p:nvPr/>
        </p:nvSpPr>
        <p:spPr>
          <a:xfrm>
            <a:off x="6254496" y="4425696"/>
            <a:ext cx="2615184"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The model never decides</a:t>
            </a:r>
            <a:endParaRPr lang="en-US" sz="1400" dirty="0"/>
          </a:p>
        </p:txBody>
      </p:sp>
      <p:sp>
        <p:nvSpPr>
          <p:cNvPr id="14" name="Text 12"/>
          <p:cNvSpPr txBox="1"/>
          <p:nvPr/>
        </p:nvSpPr>
        <p:spPr>
          <a:xfrm>
            <a:off x="6254496" y="4754880"/>
            <a:ext cx="2615184" cy="822960"/>
          </a:xfrm>
          <a:prstGeom prst="rect">
            <a:avLst/>
          </a:prstGeom>
          <a:noFill/>
          <a:ln/>
        </p:spPr>
        <p:txBody>
          <a:bodyPr wrap="square" lIns="0" tIns="0" rIns="0" bIns="0" rtlCol="0" anchor="t"/>
          <a:lstStyle/>
          <a:p>
            <a:pPr indent="0" marL="0">
              <a:lnSpc>
                <a:spcPct val="125000"/>
              </a:lnSpc>
              <a:buNone/>
            </a:pPr>
            <a:r>
              <a:rPr lang="en-US" sz="1100" dirty="0">
                <a:solidFill>
                  <a:srgbClr val="A8A8A6"/>
                </a:solidFill>
                <a:latin typeface="Arial" pitchFamily="34" charset="0"/>
                <a:ea typeface="Arial" pitchFamily="34" charset="-122"/>
                <a:cs typeface="Arial" pitchFamily="34" charset="-120"/>
              </a:rPr>
              <a:t>It proposes. The engine verifies. Validators sit between the two.</a:t>
            </a:r>
            <a:endParaRPr lang="en-US" sz="1100" dirty="0"/>
          </a:p>
        </p:txBody>
      </p:sp>
      <p:sp>
        <p:nvSpPr>
          <p:cNvPr id="15" name="Shape 13"/>
          <p:cNvSpPr/>
          <p:nvPr/>
        </p:nvSpPr>
        <p:spPr>
          <a:xfrm>
            <a:off x="9052560" y="4224528"/>
            <a:ext cx="91440" cy="91440"/>
          </a:xfrm>
          <a:prstGeom prst="rect">
            <a:avLst/>
          </a:prstGeom>
          <a:solidFill>
            <a:srgbClr val="86BC25"/>
          </a:solidFill>
          <a:ln/>
        </p:spPr>
      </p:sp>
      <p:sp>
        <p:nvSpPr>
          <p:cNvPr id="16" name="Text 14"/>
          <p:cNvSpPr txBox="1"/>
          <p:nvPr/>
        </p:nvSpPr>
        <p:spPr>
          <a:xfrm>
            <a:off x="9052560" y="4425696"/>
            <a:ext cx="2615184"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Nothing leaves the tenant</a:t>
            </a:r>
            <a:endParaRPr lang="en-US" sz="1400" dirty="0"/>
          </a:p>
        </p:txBody>
      </p:sp>
      <p:sp>
        <p:nvSpPr>
          <p:cNvPr id="17" name="Text 15"/>
          <p:cNvSpPr txBox="1"/>
          <p:nvPr/>
        </p:nvSpPr>
        <p:spPr>
          <a:xfrm>
            <a:off x="9052560" y="4754880"/>
            <a:ext cx="2615184" cy="822960"/>
          </a:xfrm>
          <a:prstGeom prst="rect">
            <a:avLst/>
          </a:prstGeom>
          <a:noFill/>
          <a:ln/>
        </p:spPr>
        <p:txBody>
          <a:bodyPr wrap="square" lIns="0" tIns="0" rIns="0" bIns="0" rtlCol="0" anchor="t"/>
          <a:lstStyle/>
          <a:p>
            <a:pPr indent="0" marL="0">
              <a:lnSpc>
                <a:spcPct val="125000"/>
              </a:lnSpc>
              <a:buNone/>
            </a:pPr>
            <a:r>
              <a:rPr lang="en-US" sz="1100" dirty="0">
                <a:solidFill>
                  <a:srgbClr val="A8A8A6"/>
                </a:solidFill>
                <a:latin typeface="Arial" pitchFamily="34" charset="0"/>
                <a:ea typeface="Arial" pitchFamily="34" charset="-122"/>
                <a:cs typeface="Arial" pitchFamily="34" charset="-120"/>
              </a:rPr>
              <a:t>All inference is local. Only the collector touches the internet, and only to read.</a:t>
            </a:r>
            <a:endParaRPr lang="en-US" sz="1100" dirty="0"/>
          </a:p>
        </p:txBody>
      </p:sp>
      <p:sp>
        <p:nvSpPr>
          <p:cNvPr id="18" name="Text 16"/>
          <p:cNvSpPr txBox="1"/>
          <p:nvPr/>
        </p:nvSpPr>
        <p:spPr>
          <a:xfrm>
            <a:off x="658368" y="5943600"/>
            <a:ext cx="45720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Threat Hunting Factory</a:t>
            </a:r>
            <a:endParaRPr lang="en-US" sz="1200" dirty="0"/>
          </a:p>
        </p:txBody>
      </p:sp>
      <p:sp>
        <p:nvSpPr>
          <p:cNvPr id="19" name="Text 17"/>
          <p:cNvSpPr txBox="1"/>
          <p:nvPr/>
        </p:nvSpPr>
        <p:spPr>
          <a:xfrm>
            <a:off x="5669280" y="5888736"/>
            <a:ext cx="5870448" cy="457200"/>
          </a:xfrm>
          <a:prstGeom prst="rect">
            <a:avLst/>
          </a:prstGeom>
          <a:noFill/>
          <a:ln/>
        </p:spPr>
        <p:txBody>
          <a:bodyPr wrap="square" lIns="0" tIns="0" rIns="0" bIns="0" rtlCol="0" anchor="ctr"/>
          <a:lstStyle/>
          <a:p>
            <a:pPr algn="r" indent="0" marL="0">
              <a:lnSpc>
                <a:spcPct val="115000"/>
              </a:lnSpc>
              <a:buNone/>
            </a:pPr>
            <a:r>
              <a:rPr lang="en-US" sz="850" dirty="0">
                <a:solidFill>
                  <a:srgbClr val="7A7A78"/>
                </a:solidFill>
                <a:latin typeface="Arial" pitchFamily="34" charset="0"/>
                <a:ea typeface="Arial" pitchFamily="34" charset="-122"/>
                <a:cs typeface="Arial" pitchFamily="34" charset="-120"/>
              </a:rPr>
              <a:t>The interface and the reports follow a Deloitte inspired palette. The product is not affiliated with, endorsed by, or produced by Deloitte, and uses no Deloitte trademark or logo.</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 Hunting Factory</dc:title>
  <dc:subject>PptxGenJS Presentation</dc:subject>
  <dc:creator>Threat Hunting Factory</dc:creator>
  <cp:lastModifiedBy>Threat Hunting Factory</cp:lastModifiedBy>
  <cp:revision>1</cp:revision>
  <dcterms:created xsi:type="dcterms:W3CDTF">2026-09-18T02:50:01Z</dcterms:created>
  <dcterms:modified xsi:type="dcterms:W3CDTF">2026-09-18T02:50:01Z</dcterms:modified>
</cp:coreProperties>
</file>